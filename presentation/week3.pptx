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Здравствуйте. Это третья неделя нашего антифрода.</a:t>
            </a:r>
          </a:p>
          <a:p/>
          <a:p>
            <a:r>
              <a:t>Две недели наша модель работала с таблицей целиком: на вход файл, на выход файл. В банке операции приходят по одной, и решение нужно сразу. Поэтому на этой неделе мы сделали из модели небольшой сервис.</a:t>
            </a:r>
          </a:p>
          <a:p/>
          <a:p>
            <a:r>
              <a:t>Система из трёх частей: сервис на FastAPI, интерфейс оператора и панель мониторинга. Интерфейс и панель общаются с моделью только через API сервиса.</a:t>
            </a:r>
          </a:p>
          <a:p/>
          <a:p>
            <a:r>
              <a:t>Три числа. Одна операция обрабатывается примерно за 0,2 секунды. Сервис считает ровно так же, как наш пакетный score.py — расхождение ноль. И в первой серии из 200 операций, которых модель не видела, все 13 мошеннических помечены, ложных тревог нет.</a:t>
            </a:r>
          </a:p>
          <a:p/>
          <a:p>
            <a:r>
              <a:t>Я расскажу про устройство сервиса, Лия — про путь одной операции и интерфейс, Шырайлым — про панель и наши решения. Потом покажем всё вживую.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Схема системы. Наверху две части, с которыми работает человек: интерфейс оператора и панель мониторинга. Обе на Streamlit.</a:t>
            </a:r>
          </a:p>
          <a:p/>
          <a:p>
            <a:r>
              <a:t>Они обращаются к сервису на FastAPI по HTTP — передают и получают JSON. У сервиса четыре маршрута: predict — оценить операцию, label — передать фактическую метку, metrics — данные для панели, health — проверить, что сервис жив.</a:t>
            </a:r>
          </a:p>
          <a:p/>
          <a:p>
            <a:r>
              <a:t>Внутри сервиса три вещи. Модель второй недели вместе с кодом признаков — тем же, что в score.py, загружается один раз при старте. История карт — словарь в памяти: для каждой карты её прошлые операции. И журнал в SQLite: каждый запрос с оценкой, решением, статусом и меткой.</a:t>
            </a:r>
          </a:p>
          <a:p/>
          <a:p>
            <a:r>
              <a:t>Главное правило: интерфейс и панель не трогают модель и журнал напрямую. Только через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Маршруты сервиса. Predict принимает одну операцию в формате строки датасета, без колонки is_fraud, и возвращает номер операции, оценку, решение «фрод — не фрод» и порог. Для оператора мы добавили группу риска из второй недели, денежную пользу проверки, причины и время ответа.</a:t>
            </a:r>
          </a:p>
          <a:p/>
          <a:p>
            <a:r>
              <a:t>Label принимает фактическую метку для уже оценённой операции. Metrics отдаёт всё для панели. Health говорит, что сервис жив и модель загружена. Дополнительно можно поменять порог без перезапуска.</a:t>
            </a:r>
          </a:p>
          <a:p/>
          <a:p>
            <a:r>
              <a:t>Ошибки. Если не хватает поля или вместо суммы текст, FastAPI сам отвечает кодом 422 — это работа pydantic. Мы перехватываем такой запрос и пишем его в журнал как ошибку, поэтому success rate на панели падает. Если упадёт сама модель — код 500 и тоже запись в журнал.</a:t>
            </a:r>
          </a:p>
          <a:p/>
          <a:p>
            <a:r>
              <a:t>Страницу /docs FastAPI строит сам из схем — на демонстрации мы на ней покажем ошибку.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Пройду по шагам, что происходит, когда оператор нажимает кнопку.</a:t>
            </a:r>
          </a:p>
          <a:p/>
          <a:p>
            <a:r>
              <a:t>Первое: интерфейс собирает из полей формы JSON — строку датасета, без колонки is_fraud. Второе: отправляет её в predict. Pydantic проверяет, что все поля на месте и типы правильные, иначе сразу 422.</a:t>
            </a:r>
          </a:p>
          <a:p/>
          <a:p>
            <a:r>
              <a:t>Третье: у нас признаки по истории карты — например, сколько часов назад была крупная покупка. Поэтому сервис берёт из памяти прошлые операции этой карты и дописывает к ним новую. Четвёртое: считает признаки тем же кодом, что score.py. Пятое: модель и калибровка дают вероятность.</a:t>
            </a:r>
          </a:p>
          <a:p/>
          <a:p>
            <a:r>
              <a:t>Шестое: если вероятность не меньше 0,5 — решение «фрод». Запрос пишется в журнал, а операция становится историей своей карты. Седьмое: ответ возвращается в интерфейс, примерно за 0,2 секунды. Если операция из holdout, интерфейс после ответа отправляет фактическую метку в label.</a:t>
            </a:r>
          </a:p>
          <a:p/>
          <a:p>
            <a:r>
              <a:t>Мы проверили, что сервис считает так же, как пакетный score.py: 300 операций, расхождение ноль.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Интерфейс оператора. Операцию можно ввести вручную или взять строку из отложенной выборки — по номеру или случайную. Значения можно поменять перед отправкой.</a:t>
            </a:r>
          </a:p>
          <a:p/>
          <a:p>
            <a:r>
              <a:t>Результат выделен цветом: красный — фрод, зелёный — не фрод. Рядом оценка, порог, группа риска и причины — например, «сумма дороже 98% покупок в этой категории».</a:t>
            </a:r>
          </a:p>
          <a:p/>
          <a:p>
            <a:r>
              <a:t>Для строки из holdout после ответа показывается настоящая метка и верно ли решение. Метка не уходит в predict — только после ответа, отдельно в label.</a:t>
            </a:r>
          </a:p>
          <a:p/>
          <a:p>
            <a:r>
              <a:t>Вкладка «Серия» подаёт следующие N строк по очереди с паузой — так на панели видно, как меняются показатели. И отдельная вкладка, чтобы специально отправить некорректный запрос.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Панель мониторинга. Она берёт данные только из маршрута metrics и обновляется сама каждые пять секунд.</a:t>
            </a:r>
          </a:p>
          <a:p/>
          <a:p>
            <a:r>
              <a:t>Наверху сводка: сколько запросов, success rate, fraud rate по модели и фактический. Ниже — точность, чувствительность, сколько денег фрода остановлено и пропущено, время ответа. Дальше графики во времени и таблица последних срабатываний с меткой.</a:t>
            </a:r>
          </a:p>
          <a:p/>
          <a:p>
            <a:r>
              <a:t>Определения. Success rate — доля запросов к predict, обработанных без ошибки. Это здоровье сервиса, а не качество модели: модель может ошибиться в ответе, но запрос всё равно успешный.</a:t>
            </a:r>
          </a:p>
          <a:p/>
          <a:p>
            <a:r>
              <a:t>Fraud rate по модели — доля операций, которые модель пометила как фрод. Он известен сразу, в момент операции. Фактический — доля настоящего фрода среди операций, для которых пришла метка. Он известен только потом, после проверки.</a:t>
            </a:r>
          </a:p>
          <a:p/>
          <a:p>
            <a:r>
              <a:t>Они различаются, потому что модель ошибается в обе стороны: ложные тревоги поднимают модельный, пропуски — фактический. В нашей первой серии они совпали — все 13 пойманы, ложных нет. Если поднять порог до 0,8, модель пропустит операцию с оценкой 0,7 — и они разойдутся.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Наши решения. Порог 0,5 по откалиброванной вероятности: если модель считает фрод вероятнее, чем нет, — фрод. На проверочном периоде это точность 98% и чувствительность 94%. Порог можно поменять без перезапуска.</a:t>
            </a:r>
          </a:p>
          <a:p/>
          <a:p>
            <a:r>
              <a:t>История карт — словарь в памяти, как и предлагает задание. Журнал — SQLite. Интерфейс и панель на Streamlit: мы пишем на Python, и не нужен JavaScript.</a:t>
            </a:r>
          </a:p>
          <a:p/>
          <a:p>
            <a:r>
              <a:t>Отдельно про holdout. Периода, который мы не использовали ни в обучении, ни в сравнении версий, у нас не осталось. По заданию его выдаёт преподаватель — мы его подставим одной командой. Пока показываем на 9 сутках декабря 2020 года, на которых модель не обучалась.</a:t>
            </a:r>
          </a:p>
          <a:p/>
          <a:p>
            <a:r>
              <a:t>Ограничения: одна операция — 0,2 секунды, потому что признаки пересчитываются по всей истории карты. После перезапуска операции сессии теряются. И лимит 0,3% проверок в день из прошлых недель в сервисе не применяется — здесь решение по порогу.</a:t>
            </a:r>
          </a:p>
          <a:p/>
          <a:p>
            <a:r>
              <a:t>Теперь покажем всё вживую.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xt"/>
          <p:cNvSpPr txBox="1"/>
          <p:nvPr/>
        </p:nvSpPr>
        <p:spPr>
          <a:xfrm>
            <a:off x="731520" y="56692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EB6C4"/>
                </a:solidFill>
                <a:latin typeface="Calibri"/>
              </a:rPr>
              <a:t>ПРОЕКТ «АНТИФРОД» · НЕДЕЛЯ 3 · КОМАНДА ИЗ ТРЁХ УЧАСТНИЦ</a:t>
            </a:r>
          </a:p>
        </p:txBody>
      </p:sp>
      <p:sp>
        <p:nvSpPr>
          <p:cNvPr id="3" name="txt"/>
          <p:cNvSpPr txBox="1"/>
          <p:nvPr/>
        </p:nvSpPr>
        <p:spPr>
          <a:xfrm>
            <a:off x="731520" y="1051560"/>
            <a:ext cx="6583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Антифрод в реальном времени</a:t>
            </a:r>
          </a:p>
        </p:txBody>
      </p:sp>
      <p:sp>
        <p:nvSpPr>
          <p:cNvPr id="4" name="txt"/>
          <p:cNvSpPr txBox="1"/>
          <p:nvPr/>
        </p:nvSpPr>
        <p:spPr>
          <a:xfrm>
            <a:off x="731520" y="2514600"/>
            <a:ext cx="6309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AEB6C4"/>
                </a:solidFill>
                <a:latin typeface="Calibri"/>
              </a:rPr>
              <a:t>Модель второй недели стала сервисом: операция приходит по одной, решение — сразу. Интерфейс оператора и панель мониторинга работают с моделью только через API.</a:t>
            </a:r>
          </a:p>
        </p:txBody>
      </p:sp>
      <p:sp>
        <p:nvSpPr>
          <p:cNvPr id="5" name="shp"/>
          <p:cNvSpPr/>
          <p:nvPr/>
        </p:nvSpPr>
        <p:spPr>
          <a:xfrm>
            <a:off x="731520" y="4343400"/>
            <a:ext cx="2057400" cy="1828800"/>
          </a:xfrm>
          <a:prstGeom prst="roundRect">
            <a:avLst>
              <a:gd name="adj" fmla="val 8000"/>
            </a:avLst>
          </a:prstGeom>
          <a:solidFill>
            <a:srgbClr val="1F2431"/>
          </a:solidFill>
          <a:ln>
            <a:noFill/>
          </a:ln>
          <a:effectLst>
            <a:outerShdw blurRad="228600" dist="76200" dir="5400000" algn="t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xt"/>
          <p:cNvSpPr txBox="1"/>
          <p:nvPr/>
        </p:nvSpPr>
        <p:spPr>
          <a:xfrm>
            <a:off x="914400" y="4453128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5FD0BC"/>
                </a:solidFill>
                <a:latin typeface="Cambria"/>
              </a:rPr>
              <a:t>≈ 0,2 с</a:t>
            </a:r>
          </a:p>
        </p:txBody>
      </p:sp>
      <p:sp>
        <p:nvSpPr>
          <p:cNvPr id="7" name="txt"/>
          <p:cNvSpPr txBox="1"/>
          <p:nvPr/>
        </p:nvSpPr>
        <p:spPr>
          <a:xfrm>
            <a:off x="914400" y="5120640"/>
            <a:ext cx="1737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EB6C4"/>
                </a:solidFill>
                <a:latin typeface="Calibri"/>
              </a:rPr>
              <a:t>ответ на одну операцию (медиана; p95 ≈ 0,3 с)</a:t>
            </a:r>
          </a:p>
        </p:txBody>
      </p:sp>
      <p:sp>
        <p:nvSpPr>
          <p:cNvPr id="8" name="shp"/>
          <p:cNvSpPr/>
          <p:nvPr/>
        </p:nvSpPr>
        <p:spPr>
          <a:xfrm>
            <a:off x="2971800" y="4343400"/>
            <a:ext cx="2057400" cy="1828800"/>
          </a:xfrm>
          <a:prstGeom prst="roundRect">
            <a:avLst>
              <a:gd name="adj" fmla="val 8000"/>
            </a:avLst>
          </a:prstGeom>
          <a:solidFill>
            <a:srgbClr val="1F2431"/>
          </a:solidFill>
          <a:ln>
            <a:noFill/>
          </a:ln>
          <a:effectLst>
            <a:outerShdw blurRad="228600" dist="76200" dir="5400000" algn="t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"/>
          <p:cNvSpPr txBox="1"/>
          <p:nvPr/>
        </p:nvSpPr>
        <p:spPr>
          <a:xfrm>
            <a:off x="3154680" y="4453128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0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3154680" y="5120640"/>
            <a:ext cx="1737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EB6C4"/>
                </a:solidFill>
                <a:latin typeface="Calibri"/>
              </a:rPr>
              <a:t>расхождение с пакетным score.py на 300 операциях</a:t>
            </a:r>
          </a:p>
        </p:txBody>
      </p:sp>
      <p:sp>
        <p:nvSpPr>
          <p:cNvPr id="11" name="shp"/>
          <p:cNvSpPr/>
          <p:nvPr/>
        </p:nvSpPr>
        <p:spPr>
          <a:xfrm>
            <a:off x="5212080" y="4343400"/>
            <a:ext cx="2057400" cy="1828800"/>
          </a:xfrm>
          <a:prstGeom prst="roundRect">
            <a:avLst>
              <a:gd name="adj" fmla="val 8000"/>
            </a:avLst>
          </a:prstGeom>
          <a:solidFill>
            <a:srgbClr val="1F2431"/>
          </a:solidFill>
          <a:ln>
            <a:noFill/>
          </a:ln>
          <a:effectLst>
            <a:outerShdw blurRad="228600" dist="76200" dir="5400000" algn="t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"/>
          <p:cNvSpPr txBox="1"/>
          <p:nvPr/>
        </p:nvSpPr>
        <p:spPr>
          <a:xfrm>
            <a:off x="5394960" y="4453128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13 из 13</a:t>
            </a:r>
          </a:p>
        </p:txBody>
      </p:sp>
      <p:sp>
        <p:nvSpPr>
          <p:cNvPr id="13" name="txt"/>
          <p:cNvSpPr txBox="1"/>
          <p:nvPr/>
        </p:nvSpPr>
        <p:spPr>
          <a:xfrm>
            <a:off x="5394960" y="5120640"/>
            <a:ext cx="1737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EB6C4"/>
                </a:solidFill>
                <a:latin typeface="Calibri"/>
              </a:rPr>
              <a:t>мошеннических в первой серии из 200 операций holdout помечены, ложных — 0</a:t>
            </a:r>
          </a:p>
        </p:txBody>
      </p:sp>
      <p:sp>
        <p:nvSpPr>
          <p:cNvPr id="14" name="shp"/>
          <p:cNvSpPr/>
          <p:nvPr/>
        </p:nvSpPr>
        <p:spPr>
          <a:xfrm>
            <a:off x="7635240" y="914400"/>
            <a:ext cx="3063240" cy="1920240"/>
          </a:xfrm>
          <a:prstGeom prst="roundRect">
            <a:avLst>
              <a:gd name="adj" fmla="val 9000"/>
            </a:avLst>
          </a:prstGeom>
          <a:solidFill>
            <a:srgbClr val="D6452F"/>
          </a:solidFill>
          <a:ln>
            <a:noFill/>
          </a:ln>
          <a:effectLst>
            <a:outerShdw blurRad="279400" dist="127000" dir="5400000" algn="t" rotWithShape="0">
              <a:srgbClr val="000000">
                <a:alpha val="55000"/>
              </a:srgbClr>
            </a:outerShdw>
          </a:effectLst>
          <a:scene3d>
            <a:camera prst="perspectiveFront" fov="2400000">
              <a:rot lat="19920000" lon="720000" rev="0"/>
            </a:camera>
            <a:lightRig rig="threePt" dir="t"/>
          </a:scene3d>
          <a:sp3d extrusionH="101600">
            <a:bevelT w="63500" h="25400" prst="softRound"/>
            <a:extrusionClr>
              <a:srgbClr val="80291C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73152" tIns="182880" bIns="0" wrap="square"/>
          <a:lstStyle/>
          <a:p>
            <a:pPr algn="l"/>
            <a:r>
              <a:rPr sz="1900" b="1">
                <a:solidFill>
                  <a:srgbClr val="FFFFFF"/>
                </a:solidFill>
                <a:latin typeface="Cambria"/>
              </a:rPr>
              <a:t>A  ·  сервис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«FastAPI и модель»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**** **** **** 4831</a:t>
            </a:r>
          </a:p>
        </p:txBody>
      </p:sp>
      <p:sp>
        <p:nvSpPr>
          <p:cNvPr id="15" name="shp"/>
          <p:cNvSpPr/>
          <p:nvPr/>
        </p:nvSpPr>
        <p:spPr>
          <a:xfrm>
            <a:off x="8183879" y="2103120"/>
            <a:ext cx="3063240" cy="1920240"/>
          </a:xfrm>
          <a:prstGeom prst="roundRect">
            <a:avLst>
              <a:gd name="adj" fmla="val 9000"/>
            </a:avLst>
          </a:prstGeom>
          <a:solidFill>
            <a:srgbClr val="E9A83B"/>
          </a:solidFill>
          <a:ln>
            <a:noFill/>
          </a:ln>
          <a:effectLst>
            <a:outerShdw blurRad="279400" dist="127000" dir="5400000" algn="t" rotWithShape="0">
              <a:srgbClr val="000000">
                <a:alpha val="55000"/>
              </a:srgbClr>
            </a:outerShdw>
          </a:effectLst>
          <a:scene3d>
            <a:camera prst="perspectiveFront" fov="2400000">
              <a:rot lat="20160000" lon="540000" rev="0"/>
            </a:camera>
            <a:lightRig rig="threePt" dir="t"/>
          </a:scene3d>
          <a:sp3d extrusionH="101600">
            <a:bevelT w="63500" h="25400" prst="softRound"/>
            <a:extrusionClr>
              <a:srgbClr val="8B642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73152" tIns="182880" bIns="0" wrap="square"/>
          <a:lstStyle/>
          <a:p>
            <a:pPr algn="l"/>
            <a:r>
              <a:rPr sz="1900" b="1">
                <a:solidFill>
                  <a:srgbClr val="FFFFFF"/>
                </a:solidFill>
                <a:latin typeface="Cambria"/>
              </a:rPr>
              <a:t>B  ·  интерфейс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«путь одной операции»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**** **** **** 4832</a:t>
            </a:r>
          </a:p>
        </p:txBody>
      </p:sp>
      <p:sp>
        <p:nvSpPr>
          <p:cNvPr id="16" name="shp"/>
          <p:cNvSpPr/>
          <p:nvPr/>
        </p:nvSpPr>
        <p:spPr>
          <a:xfrm>
            <a:off x="8732520" y="3291840"/>
            <a:ext cx="3063240" cy="1920240"/>
          </a:xfrm>
          <a:prstGeom prst="roundRect">
            <a:avLst>
              <a:gd name="adj" fmla="val 9000"/>
            </a:avLst>
          </a:prstGeom>
          <a:solidFill>
            <a:srgbClr val="1F8A7A"/>
          </a:solidFill>
          <a:ln>
            <a:noFill/>
          </a:ln>
          <a:effectLst>
            <a:outerShdw blurRad="279400" dist="127000" dir="5400000" algn="t" rotWithShape="0">
              <a:srgbClr val="000000">
                <a:alpha val="55000"/>
              </a:srgbClr>
            </a:outerShdw>
          </a:effectLst>
          <a:scene3d>
            <a:camera prst="perspectiveFront" fov="2400000">
              <a:rot lat="20400000" lon="360000" rev="0"/>
            </a:camera>
            <a:lightRig rig="threePt" dir="t"/>
          </a:scene3d>
          <a:sp3d extrusionH="101600">
            <a:bevelT w="63500" h="25400" prst="softRound"/>
            <a:extrusionClr>
              <a:srgbClr val="125249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73152" tIns="182880" bIns="0" wrap="square"/>
          <a:lstStyle/>
          <a:p>
            <a:pPr algn="l"/>
            <a:r>
              <a:rPr sz="1900" b="1">
                <a:solidFill>
                  <a:srgbClr val="FFFFFF"/>
                </a:solidFill>
                <a:latin typeface="Cambria"/>
              </a:rPr>
              <a:t>C  ·  мониторинг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«что видно на панели»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**** **** **** 4833</a:t>
            </a:r>
          </a:p>
        </p:txBody>
      </p:sp>
      <p:sp>
        <p:nvSpPr>
          <p:cNvPr id="17" name="who"/>
          <p:cNvSpPr txBox="1"/>
          <p:nvPr/>
        </p:nvSpPr>
        <p:spPr>
          <a:xfrm>
            <a:off x="9052560" y="64190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8F97A3"/>
                </a:solidFill>
                <a:latin typeface="Calibri"/>
              </a:rPr>
              <a:t>говорит: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A22"/>
                </a:solidFill>
                <a:latin typeface="Cambria"/>
              </a:rPr>
              <a:t>Схема системы: три части, связь только через API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Каждая часть запускается своей командой в своём окне терминала</a:t>
            </a:r>
          </a:p>
        </p:txBody>
      </p:sp>
      <p:sp>
        <p:nvSpPr>
          <p:cNvPr id="4" name="shp"/>
          <p:cNvSpPr/>
          <p:nvPr/>
        </p:nvSpPr>
        <p:spPr>
          <a:xfrm>
            <a:off x="548640" y="1554480"/>
            <a:ext cx="5394960" cy="1143000"/>
          </a:xfrm>
          <a:prstGeom prst="roundRect">
            <a:avLst>
              <a:gd name="adj" fmla="val 6000"/>
            </a:avLst>
          </a:prstGeom>
          <a:solidFill>
            <a:srgbClr val="FCF0DA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xt"/>
          <p:cNvSpPr txBox="1"/>
          <p:nvPr/>
        </p:nvSpPr>
        <p:spPr>
          <a:xfrm>
            <a:off x="713232" y="1664207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mbria"/>
              </a:rPr>
              <a:t>Интерфейс оператора · Streamlit :8501</a:t>
            </a:r>
          </a:p>
        </p:txBody>
      </p:sp>
      <p:sp>
        <p:nvSpPr>
          <p:cNvPr id="6" name="txt"/>
          <p:cNvSpPr txBox="1"/>
          <p:nvPr/>
        </p:nvSpPr>
        <p:spPr>
          <a:xfrm>
            <a:off x="713232" y="2057400"/>
            <a:ext cx="506577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ввод операции, строка из holdout, серия N операций, сверка с фактом</a:t>
            </a:r>
          </a:p>
        </p:txBody>
      </p:sp>
      <p:sp>
        <p:nvSpPr>
          <p:cNvPr id="7" name="shp"/>
          <p:cNvSpPr/>
          <p:nvPr/>
        </p:nvSpPr>
        <p:spPr>
          <a:xfrm>
            <a:off x="6217920" y="1554480"/>
            <a:ext cx="5394960" cy="1143000"/>
          </a:xfrm>
          <a:prstGeom prst="roundRect">
            <a:avLst>
              <a:gd name="adj" fmla="val 6000"/>
            </a:avLst>
          </a:prstGeom>
          <a:solidFill>
            <a:srgbClr val="DDF0EC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"/>
          <p:cNvSpPr txBox="1"/>
          <p:nvPr/>
        </p:nvSpPr>
        <p:spPr>
          <a:xfrm>
            <a:off x="6382512" y="1664207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mbria"/>
              </a:rPr>
              <a:t>Панель мониторинга · Streamlit :8502</a:t>
            </a:r>
          </a:p>
        </p:txBody>
      </p:sp>
      <p:sp>
        <p:nvSpPr>
          <p:cNvPr id="9" name="txt"/>
          <p:cNvSpPr txBox="1"/>
          <p:nvPr/>
        </p:nvSpPr>
        <p:spPr>
          <a:xfrm>
            <a:off x="6382512" y="2057400"/>
            <a:ext cx="506577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success rate, fraud rate, график, последние срабатывания; обновляется сама каждые 5 с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548640" y="276148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8F97A3"/>
                </a:solidFill>
                <a:latin typeface="Consolas"/>
              </a:rPr>
              <a:t>▼   HTTP · JSON   ▼</a:t>
            </a:r>
          </a:p>
        </p:txBody>
      </p:sp>
      <p:sp>
        <p:nvSpPr>
          <p:cNvPr id="11" name="shp"/>
          <p:cNvSpPr/>
          <p:nvPr/>
        </p:nvSpPr>
        <p:spPr>
          <a:xfrm>
            <a:off x="548640" y="3108960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14171F"/>
          </a:solidFill>
          <a:ln>
            <a:noFill/>
          </a:ln>
          <a:effectLst>
            <a:outerShdw blurRad="228600" dist="76200" dir="5400000" algn="t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"/>
          <p:cNvSpPr txBox="1"/>
          <p:nvPr/>
        </p:nvSpPr>
        <p:spPr>
          <a:xfrm>
            <a:off x="777240" y="320040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mbria"/>
              </a:rPr>
              <a:t>Сервис скоринга · FastAPI :8000</a:t>
            </a:r>
          </a:p>
        </p:txBody>
      </p:sp>
      <p:sp>
        <p:nvSpPr>
          <p:cNvPr id="13" name="txt"/>
          <p:cNvSpPr txBox="1"/>
          <p:nvPr/>
        </p:nvSpPr>
        <p:spPr>
          <a:xfrm>
            <a:off x="777240" y="3639312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EB6C4"/>
                </a:solidFill>
                <a:latin typeface="Calibri"/>
              </a:rPr>
              <a:t>проверка входа (pydantic) → признаки по истории карты → модель v2 → порог → журнал</a:t>
            </a:r>
          </a:p>
        </p:txBody>
      </p:sp>
      <p:sp>
        <p:nvSpPr>
          <p:cNvPr id="14" name="shp"/>
          <p:cNvSpPr/>
          <p:nvPr/>
        </p:nvSpPr>
        <p:spPr>
          <a:xfrm>
            <a:off x="7543800" y="3246120"/>
            <a:ext cx="1874519" cy="411480"/>
          </a:xfrm>
          <a:prstGeom prst="roundRect">
            <a:avLst>
              <a:gd name="adj" fmla="val 30000"/>
            </a:avLst>
          </a:prstGeom>
          <a:solidFill>
            <a:srgbClr val="1F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200" b="1">
                <a:solidFill>
                  <a:srgbClr val="5FD0BC"/>
                </a:solidFill>
                <a:latin typeface="Consolas"/>
              </a:rPr>
              <a:t>POST /predict</a:t>
            </a:r>
          </a:p>
        </p:txBody>
      </p:sp>
      <p:sp>
        <p:nvSpPr>
          <p:cNvPr id="15" name="shp"/>
          <p:cNvSpPr/>
          <p:nvPr/>
        </p:nvSpPr>
        <p:spPr>
          <a:xfrm>
            <a:off x="9555480" y="3246120"/>
            <a:ext cx="1874519" cy="411480"/>
          </a:xfrm>
          <a:prstGeom prst="roundRect">
            <a:avLst>
              <a:gd name="adj" fmla="val 30000"/>
            </a:avLst>
          </a:prstGeom>
          <a:solidFill>
            <a:srgbClr val="1F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200" b="1">
                <a:solidFill>
                  <a:srgbClr val="5FD0BC"/>
                </a:solidFill>
                <a:latin typeface="Consolas"/>
              </a:rPr>
              <a:t>POST /label</a:t>
            </a:r>
          </a:p>
        </p:txBody>
      </p:sp>
      <p:sp>
        <p:nvSpPr>
          <p:cNvPr id="16" name="shp"/>
          <p:cNvSpPr/>
          <p:nvPr/>
        </p:nvSpPr>
        <p:spPr>
          <a:xfrm>
            <a:off x="7543800" y="3794759"/>
            <a:ext cx="1874519" cy="411480"/>
          </a:xfrm>
          <a:prstGeom prst="roundRect">
            <a:avLst>
              <a:gd name="adj" fmla="val 30000"/>
            </a:avLst>
          </a:prstGeom>
          <a:solidFill>
            <a:srgbClr val="1F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200" b="1">
                <a:solidFill>
                  <a:srgbClr val="5FD0BC"/>
                </a:solidFill>
                <a:latin typeface="Consolas"/>
              </a:rPr>
              <a:t>GET /metrics</a:t>
            </a:r>
          </a:p>
        </p:txBody>
      </p:sp>
      <p:sp>
        <p:nvSpPr>
          <p:cNvPr id="17" name="shp"/>
          <p:cNvSpPr/>
          <p:nvPr/>
        </p:nvSpPr>
        <p:spPr>
          <a:xfrm>
            <a:off x="9555480" y="3794759"/>
            <a:ext cx="1874519" cy="411480"/>
          </a:xfrm>
          <a:prstGeom prst="roundRect">
            <a:avLst>
              <a:gd name="adj" fmla="val 30000"/>
            </a:avLst>
          </a:prstGeom>
          <a:solidFill>
            <a:srgbClr val="1F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200" b="1">
                <a:solidFill>
                  <a:srgbClr val="5FD0BC"/>
                </a:solidFill>
                <a:latin typeface="Consolas"/>
              </a:rPr>
              <a:t>GET /health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548640" y="44988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8F97A3"/>
                </a:solidFill>
                <a:latin typeface="Consolas"/>
              </a:rPr>
              <a:t>▼   внутри сервиса   ▼</a:t>
            </a:r>
          </a:p>
        </p:txBody>
      </p:sp>
      <p:sp>
        <p:nvSpPr>
          <p:cNvPr id="19" name="shp"/>
          <p:cNvSpPr/>
          <p:nvPr/>
        </p:nvSpPr>
        <p:spPr>
          <a:xfrm>
            <a:off x="548640" y="4846320"/>
            <a:ext cx="3566160" cy="1143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xt"/>
          <p:cNvSpPr txBox="1"/>
          <p:nvPr/>
        </p:nvSpPr>
        <p:spPr>
          <a:xfrm>
            <a:off x="713232" y="4956048"/>
            <a:ext cx="3236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61A22"/>
                </a:solidFill>
                <a:latin typeface="Cambria"/>
              </a:rPr>
              <a:t>Модель v2 + код score.py</a:t>
            </a:r>
          </a:p>
        </p:txBody>
      </p:sp>
      <p:sp>
        <p:nvSpPr>
          <p:cNvPr id="21" name="txt"/>
          <p:cNvSpPr txBox="1"/>
          <p:nvPr/>
        </p:nvSpPr>
        <p:spPr>
          <a:xfrm>
            <a:off x="713232" y="5349240"/>
            <a:ext cx="323697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Calibri"/>
              </a:rPr>
              <a:t>src.pipeline.compute, LightGBM, калибровка; загружается один раз при старте</a:t>
            </a:r>
          </a:p>
        </p:txBody>
      </p:sp>
      <p:sp>
        <p:nvSpPr>
          <p:cNvPr id="22" name="shp"/>
          <p:cNvSpPr/>
          <p:nvPr/>
        </p:nvSpPr>
        <p:spPr>
          <a:xfrm>
            <a:off x="4297680" y="4846320"/>
            <a:ext cx="3566160" cy="1143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xt"/>
          <p:cNvSpPr txBox="1"/>
          <p:nvPr/>
        </p:nvSpPr>
        <p:spPr>
          <a:xfrm>
            <a:off x="4462272" y="4956048"/>
            <a:ext cx="3236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61A22"/>
                </a:solidFill>
                <a:latin typeface="Cambria"/>
              </a:rPr>
              <a:t>История карт в памяти</a:t>
            </a:r>
          </a:p>
        </p:txBody>
      </p:sp>
      <p:sp>
        <p:nvSpPr>
          <p:cNvPr id="24" name="txt"/>
          <p:cNvSpPr txBox="1"/>
          <p:nvPr/>
        </p:nvSpPr>
        <p:spPr>
          <a:xfrm>
            <a:off x="4462272" y="5349240"/>
            <a:ext cx="323697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Calibri"/>
              </a:rPr>
              <a:t>{cc_num: операции}: 1,72 млн операций до 02.12.2020 22:00 + всё, что пришло в сервис</a:t>
            </a:r>
          </a:p>
        </p:txBody>
      </p:sp>
      <p:sp>
        <p:nvSpPr>
          <p:cNvPr id="25" name="shp"/>
          <p:cNvSpPr/>
          <p:nvPr/>
        </p:nvSpPr>
        <p:spPr>
          <a:xfrm>
            <a:off x="8046720" y="4846320"/>
            <a:ext cx="3566160" cy="1143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xt"/>
          <p:cNvSpPr txBox="1"/>
          <p:nvPr/>
        </p:nvSpPr>
        <p:spPr>
          <a:xfrm>
            <a:off x="8211312" y="4956048"/>
            <a:ext cx="3236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61A22"/>
                </a:solidFill>
                <a:latin typeface="Cambria"/>
              </a:rPr>
              <a:t>Журнал · SQLite</a:t>
            </a:r>
          </a:p>
        </p:txBody>
      </p:sp>
      <p:sp>
        <p:nvSpPr>
          <p:cNvPr id="27" name="txt"/>
          <p:cNvSpPr txBox="1"/>
          <p:nvPr/>
        </p:nvSpPr>
        <p:spPr>
          <a:xfrm>
            <a:off x="8211312" y="5349240"/>
            <a:ext cx="323697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Calibri"/>
              </a:rPr>
              <a:t>время, операция, оценка, решение, статус, код ошибки, метка</a:t>
            </a:r>
          </a:p>
        </p:txBody>
      </p:sp>
      <p:sp>
        <p:nvSpPr>
          <p:cNvPr id="28" name="shp"/>
          <p:cNvSpPr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solidFill>
            <a:srgbClr val="FB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xt"/>
          <p:cNvSpPr txBox="1"/>
          <p:nvPr/>
        </p:nvSpPr>
        <p:spPr>
          <a:xfrm>
            <a:off x="685800" y="61264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6452F"/>
                </a:solidFill>
                <a:latin typeface="Calibri"/>
              </a:rPr>
              <a:t>Интерфейс и панель не загружают модель и не читают журнал — только запросы к сервису</a:t>
            </a:r>
          </a:p>
        </p:txBody>
      </p:sp>
      <p:sp>
        <p:nvSpPr>
          <p:cNvPr id="30" name="src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BFCA"/>
                </a:solidFill>
                <a:latin typeface="Calibri"/>
              </a:rPr>
              <a:t>service/main.py · frontend/app.py · dashboard/app.py · README.md, раздел «Неделя 3»</a:t>
            </a:r>
          </a:p>
        </p:txBody>
      </p:sp>
      <p:sp>
        <p:nvSpPr>
          <p:cNvPr id="31" name="who"/>
          <p:cNvSpPr txBox="1"/>
          <p:nvPr/>
        </p:nvSpPr>
        <p:spPr>
          <a:xfrm>
            <a:off x="9052560" y="64190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B8BFCA"/>
                </a:solidFill>
                <a:latin typeface="Calibri"/>
              </a:rPr>
              <a:t>говорит: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A22"/>
                </a:solidFill>
                <a:latin typeface="Cambria"/>
              </a:rPr>
              <a:t>Сервис на FastAPI: маршруты и ошибки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Схемы запроса и ответа — pydantic; из них FastAPI сам строит страницу /docs</a:t>
            </a:r>
          </a:p>
        </p:txBody>
      </p:sp>
      <p:graphicFrame>
        <p:nvGraphicFramePr>
          <p:cNvPr id="4" name="tbl"/>
          <p:cNvGraphicFramePr>
            <a:graphicFrameLocks noGrp="1"/>
          </p:cNvGraphicFramePr>
          <p:nvPr/>
        </p:nvGraphicFramePr>
        <p:xfrm>
          <a:off x="548640" y="1554480"/>
          <a:ext cx="676656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240280"/>
                <a:gridCol w="292608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Маршрут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Что принимает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Что возвращает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8A7A"/>
                          </a:solidFill>
                          <a:latin typeface="Calibri"/>
                        </a:rPr>
                        <a:t>POST /predict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A22"/>
                          </a:solidFill>
                          <a:latin typeface="Calibri"/>
                        </a:rPr>
                        <a:t>строку датасета без is_fraud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A22"/>
                          </a:solidFill>
                          <a:latin typeface="Calibri"/>
                        </a:rPr>
                        <a:t>transaction_id, fraud_score, is_fraud_pred, threshold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8A7A"/>
                          </a:solidFill>
                          <a:latin typeface="Calibri"/>
                        </a:rPr>
                        <a:t>POST /label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A22"/>
                          </a:solidFill>
                          <a:latin typeface="Calibri"/>
                        </a:rPr>
                        <a:t>transaction_id, is_fraud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A22"/>
                          </a:solidFill>
                          <a:latin typeface="Calibri"/>
                        </a:rPr>
                        <a:t>подтверждение; 404 — нет такой операции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8A7A"/>
                          </a:solidFill>
                          <a:latin typeface="Calibri"/>
                        </a:rPr>
                        <a:t>GET /metrics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A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A22"/>
                          </a:solidFill>
                          <a:latin typeface="Calibri"/>
                        </a:rPr>
                        <a:t>сводка, ряды для графика, срабатывания, ошибки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8A7A"/>
                          </a:solidFill>
                          <a:latin typeface="Calibri"/>
                        </a:rPr>
                        <a:t>GET /health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A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A22"/>
                          </a:solidFill>
                          <a:latin typeface="Calibri"/>
                        </a:rPr>
                        <a:t>{"status": "ok"}, модель, порог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8F97A3"/>
                          </a:solidFill>
                          <a:latin typeface="Calibri"/>
                        </a:rPr>
                        <a:t>PUT /threshold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A22"/>
                          </a:solidFill>
                          <a:latin typeface="Calibri"/>
                        </a:rPr>
                        <a:t>новый порог (доп.)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A22"/>
                          </a:solidFill>
                          <a:latin typeface="Calibri"/>
                        </a:rPr>
                        <a:t>старый и новый порог — без перезапуска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xt"/>
          <p:cNvSpPr txBox="1"/>
          <p:nvPr/>
        </p:nvSpPr>
        <p:spPr>
          <a:xfrm>
            <a:off x="548640" y="457200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1A22"/>
                </a:solidFill>
                <a:latin typeface="Calibri"/>
              </a:rPr>
              <a:t>Ответ /predict (кроме обязательных полей — для оператора):</a:t>
            </a:r>
          </a:p>
        </p:txBody>
      </p:sp>
      <p:sp>
        <p:nvSpPr>
          <p:cNvPr id="6" name="txt"/>
          <p:cNvSpPr txBox="1"/>
          <p:nvPr/>
        </p:nvSpPr>
        <p:spPr>
          <a:xfrm>
            <a:off x="548640" y="4892040"/>
            <a:ext cx="6766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61A22"/>
                </a:solidFill>
                <a:latin typeface="Consolas"/>
              </a:rPr>
              <a:t>{"transaction_id": "085fa1a7-…", "fraud_score": 1.0, "is_fraud_pred": 1,
 "threshold": 0.5, "risk_level": "высокий", "expected_value": 306.81,
 "reasons": ["Сумма 304.81 у.е. — дороже 99% покупок в категории…"],
 "card_history": 659, "latency_ms": 164.6}</a:t>
            </a:r>
          </a:p>
        </p:txBody>
      </p:sp>
      <p:sp>
        <p:nvSpPr>
          <p:cNvPr id="7" name="shp"/>
          <p:cNvSpPr/>
          <p:nvPr/>
        </p:nvSpPr>
        <p:spPr>
          <a:xfrm>
            <a:off x="7589520" y="1554480"/>
            <a:ext cx="4023360" cy="2240280"/>
          </a:xfrm>
          <a:prstGeom prst="roundRect">
            <a:avLst>
              <a:gd name="adj" fmla="val 6000"/>
            </a:avLst>
          </a:prstGeom>
          <a:solidFill>
            <a:srgbClr val="FBE4E0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"/>
          <p:cNvSpPr txBox="1"/>
          <p:nvPr/>
        </p:nvSpPr>
        <p:spPr>
          <a:xfrm>
            <a:off x="7754112" y="1664207"/>
            <a:ext cx="3694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6452F"/>
                </a:solidFill>
                <a:latin typeface="Cambria"/>
              </a:rPr>
              <a:t>422 — некорректный вход</a:t>
            </a:r>
          </a:p>
        </p:txBody>
      </p:sp>
      <p:sp>
        <p:nvSpPr>
          <p:cNvPr id="9" name="txt"/>
          <p:cNvSpPr txBox="1"/>
          <p:nvPr/>
        </p:nvSpPr>
        <p:spPr>
          <a:xfrm>
            <a:off x="7754112" y="2057400"/>
            <a:ext cx="3694176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нет поля, текст вместо числа, неизвестная категория, сумма &lt; 0. FastAPI отклоняет сам; мы пишем запрос в журнал как ошибку — success rate на панели падает.</a:t>
            </a:r>
          </a:p>
        </p:txBody>
      </p:sp>
      <p:sp>
        <p:nvSpPr>
          <p:cNvPr id="10" name="shp"/>
          <p:cNvSpPr/>
          <p:nvPr/>
        </p:nvSpPr>
        <p:spPr>
          <a:xfrm>
            <a:off x="7589520" y="3977639"/>
            <a:ext cx="4023360" cy="132588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xt"/>
          <p:cNvSpPr txBox="1"/>
          <p:nvPr/>
        </p:nvSpPr>
        <p:spPr>
          <a:xfrm>
            <a:off x="7754112" y="4087368"/>
            <a:ext cx="3694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mbria"/>
              </a:rPr>
              <a:t>500 — упала модель</a:t>
            </a:r>
          </a:p>
        </p:txBody>
      </p:sp>
      <p:sp>
        <p:nvSpPr>
          <p:cNvPr id="12" name="txt"/>
          <p:cNvSpPr txBox="1"/>
          <p:nvPr/>
        </p:nvSpPr>
        <p:spPr>
          <a:xfrm>
            <a:off x="7754112" y="4480559"/>
            <a:ext cx="36941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запрос в журнал со статусом «ошибка», ответ 500.</a:t>
            </a:r>
          </a:p>
        </p:txBody>
      </p:sp>
      <p:sp>
        <p:nvSpPr>
          <p:cNvPr id="13" name="shp"/>
          <p:cNvSpPr/>
          <p:nvPr/>
        </p:nvSpPr>
        <p:spPr>
          <a:xfrm>
            <a:off x="7589520" y="5486400"/>
            <a:ext cx="4023360" cy="868680"/>
          </a:xfrm>
          <a:prstGeom prst="roundRect">
            <a:avLst>
              <a:gd name="adj" fmla="val 6000"/>
            </a:avLst>
          </a:prstGeom>
          <a:solidFill>
            <a:srgbClr val="DDF0EC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"/>
          <p:cNvSpPr txBox="1"/>
          <p:nvPr/>
        </p:nvSpPr>
        <p:spPr>
          <a:xfrm>
            <a:off x="7754112" y="5596128"/>
            <a:ext cx="3694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F8A7A"/>
                </a:solidFill>
                <a:latin typeface="Cambria"/>
              </a:rPr>
              <a:t>/docs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754112" y="5989320"/>
            <a:ext cx="36941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Calibri"/>
              </a:rPr>
              <a:t>каждый маршрут можно вызвать вручную</a:t>
            </a:r>
          </a:p>
        </p:txBody>
      </p:sp>
      <p:sp>
        <p:nvSpPr>
          <p:cNvPr id="16" name="src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BFCA"/>
                </a:solidFill>
                <a:latin typeface="Calibri"/>
              </a:rPr>
              <a:t>service/main.py · tests/test_service.py (5 тестов: health, predict+label, 422 в журнале, 404, порог)</a:t>
            </a:r>
          </a:p>
        </p:txBody>
      </p:sp>
      <p:sp>
        <p:nvSpPr>
          <p:cNvPr id="17" name="who"/>
          <p:cNvSpPr txBox="1"/>
          <p:nvPr/>
        </p:nvSpPr>
        <p:spPr>
          <a:xfrm>
            <a:off x="9052560" y="64190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B8BFCA"/>
                </a:solidFill>
                <a:latin typeface="Calibri"/>
              </a:rPr>
              <a:t>говорит: 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A22"/>
                </a:solidFill>
                <a:latin typeface="Cambria"/>
              </a:rPr>
              <a:t>Путь одной операции: от кнопки до решения ≈ 0,2 с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Тот же код признаков и модели, что в score.py — переписывать ничего не пришлось</a:t>
            </a:r>
          </a:p>
        </p:txBody>
      </p:sp>
      <p:sp>
        <p:nvSpPr>
          <p:cNvPr id="4" name="shp"/>
          <p:cNvSpPr/>
          <p:nvPr/>
        </p:nvSpPr>
        <p:spPr>
          <a:xfrm>
            <a:off x="1005840" y="1600200"/>
            <a:ext cx="548640" cy="548640"/>
          </a:xfrm>
          <a:prstGeom prst="ellipse">
            <a:avLst/>
          </a:prstGeom>
          <a:solidFill>
            <a:srgbClr val="E9A83B"/>
          </a:solidFill>
          <a:ln>
            <a:noFill/>
          </a:ln>
          <a:effectLst>
            <a:outerShdw blurRad="127000" dist="50800" dir="5400000" algn="t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274320" h="274320" prst="circ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xt"/>
          <p:cNvSpPr txBox="1"/>
          <p:nvPr/>
        </p:nvSpPr>
        <p:spPr>
          <a:xfrm>
            <a:off x="1005840" y="169164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shp"/>
          <p:cNvSpPr/>
          <p:nvPr/>
        </p:nvSpPr>
        <p:spPr>
          <a:xfrm>
            <a:off x="1691640" y="1764792"/>
            <a:ext cx="365760" cy="219456"/>
          </a:xfrm>
          <a:prstGeom prst="rightArrow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hp"/>
          <p:cNvSpPr/>
          <p:nvPr/>
        </p:nvSpPr>
        <p:spPr>
          <a:xfrm>
            <a:off x="548640" y="2331720"/>
            <a:ext cx="1463040" cy="18288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"/>
          <p:cNvSpPr txBox="1"/>
          <p:nvPr/>
        </p:nvSpPr>
        <p:spPr>
          <a:xfrm>
            <a:off x="640080" y="24231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61A22"/>
                </a:solidFill>
                <a:latin typeface="Cambria"/>
              </a:rPr>
              <a:t>Кнопка</a:t>
            </a:r>
          </a:p>
        </p:txBody>
      </p:sp>
      <p:sp>
        <p:nvSpPr>
          <p:cNvPr id="9" name="txt"/>
          <p:cNvSpPr txBox="1"/>
          <p:nvPr/>
        </p:nvSpPr>
        <p:spPr>
          <a:xfrm>
            <a:off x="640080" y="28346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472"/>
                </a:solidFill>
                <a:latin typeface="Calibri"/>
              </a:rPr>
              <a:t>интерфейс собирает JSON строки датасета без is_fraud</a:t>
            </a:r>
          </a:p>
        </p:txBody>
      </p:sp>
      <p:sp>
        <p:nvSpPr>
          <p:cNvPr id="10" name="shp"/>
          <p:cNvSpPr/>
          <p:nvPr/>
        </p:nvSpPr>
        <p:spPr>
          <a:xfrm>
            <a:off x="2606040" y="1600200"/>
            <a:ext cx="548640" cy="548640"/>
          </a:xfrm>
          <a:prstGeom prst="ellipse">
            <a:avLst/>
          </a:prstGeom>
          <a:solidFill>
            <a:srgbClr val="E9A83B"/>
          </a:solidFill>
          <a:ln>
            <a:noFill/>
          </a:ln>
          <a:effectLst>
            <a:outerShdw blurRad="127000" dist="50800" dir="5400000" algn="t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274320" h="274320" prst="circ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xt"/>
          <p:cNvSpPr txBox="1"/>
          <p:nvPr/>
        </p:nvSpPr>
        <p:spPr>
          <a:xfrm>
            <a:off x="2606040" y="169164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shp"/>
          <p:cNvSpPr/>
          <p:nvPr/>
        </p:nvSpPr>
        <p:spPr>
          <a:xfrm>
            <a:off x="3291840" y="1764792"/>
            <a:ext cx="365760" cy="219456"/>
          </a:xfrm>
          <a:prstGeom prst="rightArrow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hp"/>
          <p:cNvSpPr/>
          <p:nvPr/>
        </p:nvSpPr>
        <p:spPr>
          <a:xfrm>
            <a:off x="2148840" y="2331720"/>
            <a:ext cx="1463040" cy="18288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"/>
          <p:cNvSpPr txBox="1"/>
          <p:nvPr/>
        </p:nvSpPr>
        <p:spPr>
          <a:xfrm>
            <a:off x="2240280" y="24231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61A22"/>
                </a:solidFill>
                <a:latin typeface="Cambria"/>
              </a:rPr>
              <a:t>Проверка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2240280" y="28346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472"/>
                </a:solidFill>
                <a:latin typeface="Calibri"/>
              </a:rPr>
              <a:t>POST /predict; pydantic проверяет поля и типы, иначе 422</a:t>
            </a:r>
          </a:p>
        </p:txBody>
      </p:sp>
      <p:sp>
        <p:nvSpPr>
          <p:cNvPr id="16" name="shp"/>
          <p:cNvSpPr/>
          <p:nvPr/>
        </p:nvSpPr>
        <p:spPr>
          <a:xfrm>
            <a:off x="4206240" y="1600200"/>
            <a:ext cx="548640" cy="548640"/>
          </a:xfrm>
          <a:prstGeom prst="ellipse">
            <a:avLst/>
          </a:prstGeom>
          <a:solidFill>
            <a:srgbClr val="1F8A7A"/>
          </a:solidFill>
          <a:ln>
            <a:noFill/>
          </a:ln>
          <a:effectLst>
            <a:outerShdw blurRad="127000" dist="50800" dir="5400000" algn="t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274320" h="274320" prst="circ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xt"/>
          <p:cNvSpPr txBox="1"/>
          <p:nvPr/>
        </p:nvSpPr>
        <p:spPr>
          <a:xfrm>
            <a:off x="4206240" y="169164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shp"/>
          <p:cNvSpPr/>
          <p:nvPr/>
        </p:nvSpPr>
        <p:spPr>
          <a:xfrm>
            <a:off x="4892040" y="1764792"/>
            <a:ext cx="365760" cy="219456"/>
          </a:xfrm>
          <a:prstGeom prst="rightArrow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hp"/>
          <p:cNvSpPr/>
          <p:nvPr/>
        </p:nvSpPr>
        <p:spPr>
          <a:xfrm>
            <a:off x="3749039" y="2331720"/>
            <a:ext cx="1463040" cy="18288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xt"/>
          <p:cNvSpPr txBox="1"/>
          <p:nvPr/>
        </p:nvSpPr>
        <p:spPr>
          <a:xfrm>
            <a:off x="3840479" y="24231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61A22"/>
                </a:solidFill>
                <a:latin typeface="Cambria"/>
              </a:rPr>
              <a:t>История карты</a:t>
            </a:r>
          </a:p>
        </p:txBody>
      </p:sp>
      <p:sp>
        <p:nvSpPr>
          <p:cNvPr id="21" name="txt"/>
          <p:cNvSpPr txBox="1"/>
          <p:nvPr/>
        </p:nvSpPr>
        <p:spPr>
          <a:xfrm>
            <a:off x="3840479" y="28346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472"/>
                </a:solidFill>
                <a:latin typeface="Calibri"/>
              </a:rPr>
              <a:t>из памяти — прошлые операции этой карты + новая</a:t>
            </a:r>
          </a:p>
        </p:txBody>
      </p:sp>
      <p:sp>
        <p:nvSpPr>
          <p:cNvPr id="22" name="shp"/>
          <p:cNvSpPr/>
          <p:nvPr/>
        </p:nvSpPr>
        <p:spPr>
          <a:xfrm>
            <a:off x="5806440" y="1600200"/>
            <a:ext cx="548640" cy="548640"/>
          </a:xfrm>
          <a:prstGeom prst="ellipse">
            <a:avLst/>
          </a:prstGeom>
          <a:solidFill>
            <a:srgbClr val="1F8A7A"/>
          </a:solidFill>
          <a:ln>
            <a:noFill/>
          </a:ln>
          <a:effectLst>
            <a:outerShdw blurRad="127000" dist="50800" dir="5400000" algn="t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274320" h="274320" prst="circ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xt"/>
          <p:cNvSpPr txBox="1"/>
          <p:nvPr/>
        </p:nvSpPr>
        <p:spPr>
          <a:xfrm>
            <a:off x="5806440" y="169164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shp"/>
          <p:cNvSpPr/>
          <p:nvPr/>
        </p:nvSpPr>
        <p:spPr>
          <a:xfrm>
            <a:off x="6492240" y="1764792"/>
            <a:ext cx="365760" cy="219456"/>
          </a:xfrm>
          <a:prstGeom prst="rightArrow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hp"/>
          <p:cNvSpPr/>
          <p:nvPr/>
        </p:nvSpPr>
        <p:spPr>
          <a:xfrm>
            <a:off x="5349240" y="2331720"/>
            <a:ext cx="1463040" cy="18288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xt"/>
          <p:cNvSpPr txBox="1"/>
          <p:nvPr/>
        </p:nvSpPr>
        <p:spPr>
          <a:xfrm>
            <a:off x="5440679" y="24231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61A22"/>
                </a:solidFill>
                <a:latin typeface="Cambria"/>
              </a:rPr>
              <a:t>Признаки</a:t>
            </a:r>
          </a:p>
        </p:txBody>
      </p:sp>
      <p:sp>
        <p:nvSpPr>
          <p:cNvPr id="27" name="txt"/>
          <p:cNvSpPr txBox="1"/>
          <p:nvPr/>
        </p:nvSpPr>
        <p:spPr>
          <a:xfrm>
            <a:off x="5440679" y="28346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472"/>
                </a:solidFill>
                <a:latin typeface="Calibri"/>
              </a:rPr>
              <a:t>src.pipeline.compute: 35 признаков блоков base, a, b, c, e</a:t>
            </a:r>
          </a:p>
        </p:txBody>
      </p:sp>
      <p:sp>
        <p:nvSpPr>
          <p:cNvPr id="28" name="shp"/>
          <p:cNvSpPr/>
          <p:nvPr/>
        </p:nvSpPr>
        <p:spPr>
          <a:xfrm>
            <a:off x="7406640" y="1600200"/>
            <a:ext cx="548640" cy="548640"/>
          </a:xfrm>
          <a:prstGeom prst="ellipse">
            <a:avLst/>
          </a:prstGeom>
          <a:solidFill>
            <a:srgbClr val="1F8A7A"/>
          </a:solidFill>
          <a:ln>
            <a:noFill/>
          </a:ln>
          <a:effectLst>
            <a:outerShdw blurRad="127000" dist="50800" dir="5400000" algn="t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274320" h="274320" prst="circ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xt"/>
          <p:cNvSpPr txBox="1"/>
          <p:nvPr/>
        </p:nvSpPr>
        <p:spPr>
          <a:xfrm>
            <a:off x="7406640" y="169164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0" name="shp"/>
          <p:cNvSpPr/>
          <p:nvPr/>
        </p:nvSpPr>
        <p:spPr>
          <a:xfrm>
            <a:off x="8092440" y="1764792"/>
            <a:ext cx="365760" cy="219456"/>
          </a:xfrm>
          <a:prstGeom prst="rightArrow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hp"/>
          <p:cNvSpPr/>
          <p:nvPr/>
        </p:nvSpPr>
        <p:spPr>
          <a:xfrm>
            <a:off x="6949440" y="2331720"/>
            <a:ext cx="1463040" cy="18288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xt"/>
          <p:cNvSpPr txBox="1"/>
          <p:nvPr/>
        </p:nvSpPr>
        <p:spPr>
          <a:xfrm>
            <a:off x="7040879" y="24231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61A22"/>
                </a:solidFill>
                <a:latin typeface="Cambria"/>
              </a:rPr>
              <a:t>Модель</a:t>
            </a:r>
          </a:p>
        </p:txBody>
      </p:sp>
      <p:sp>
        <p:nvSpPr>
          <p:cNvPr id="33" name="txt"/>
          <p:cNvSpPr txBox="1"/>
          <p:nvPr/>
        </p:nvSpPr>
        <p:spPr>
          <a:xfrm>
            <a:off x="7040879" y="28346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472"/>
                </a:solidFill>
                <a:latin typeface="Calibri"/>
              </a:rPr>
              <a:t>LightGBM → калибровка → вероятность p</a:t>
            </a:r>
          </a:p>
        </p:txBody>
      </p:sp>
      <p:sp>
        <p:nvSpPr>
          <p:cNvPr id="34" name="shp"/>
          <p:cNvSpPr/>
          <p:nvPr/>
        </p:nvSpPr>
        <p:spPr>
          <a:xfrm>
            <a:off x="9006840" y="1600200"/>
            <a:ext cx="548640" cy="548640"/>
          </a:xfrm>
          <a:prstGeom prst="ellipse">
            <a:avLst/>
          </a:prstGeom>
          <a:solidFill>
            <a:srgbClr val="D6452F"/>
          </a:solidFill>
          <a:ln>
            <a:noFill/>
          </a:ln>
          <a:effectLst>
            <a:outerShdw blurRad="127000" dist="50800" dir="5400000" algn="t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274320" h="274320" prst="circ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xt"/>
          <p:cNvSpPr txBox="1"/>
          <p:nvPr/>
        </p:nvSpPr>
        <p:spPr>
          <a:xfrm>
            <a:off x="9006840" y="169164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shp"/>
          <p:cNvSpPr/>
          <p:nvPr/>
        </p:nvSpPr>
        <p:spPr>
          <a:xfrm>
            <a:off x="9692640" y="1764792"/>
            <a:ext cx="365760" cy="219456"/>
          </a:xfrm>
          <a:prstGeom prst="rightArrow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hp"/>
          <p:cNvSpPr/>
          <p:nvPr/>
        </p:nvSpPr>
        <p:spPr>
          <a:xfrm>
            <a:off x="8549640" y="2331720"/>
            <a:ext cx="1463040" cy="18288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xt"/>
          <p:cNvSpPr txBox="1"/>
          <p:nvPr/>
        </p:nvSpPr>
        <p:spPr>
          <a:xfrm>
            <a:off x="8641080" y="24231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61A22"/>
                </a:solidFill>
                <a:latin typeface="Cambria"/>
              </a:rPr>
              <a:t>Решение</a:t>
            </a:r>
          </a:p>
        </p:txBody>
      </p:sp>
      <p:sp>
        <p:nvSpPr>
          <p:cNvPr id="39" name="txt"/>
          <p:cNvSpPr txBox="1"/>
          <p:nvPr/>
        </p:nvSpPr>
        <p:spPr>
          <a:xfrm>
            <a:off x="8641080" y="28346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472"/>
                </a:solidFill>
                <a:latin typeface="Calibri"/>
              </a:rPr>
              <a:t>p ≥ 0,5 → «фрод»; запись в журнал; операция — в историю карты</a:t>
            </a:r>
          </a:p>
        </p:txBody>
      </p:sp>
      <p:sp>
        <p:nvSpPr>
          <p:cNvPr id="40" name="shp"/>
          <p:cNvSpPr/>
          <p:nvPr/>
        </p:nvSpPr>
        <p:spPr>
          <a:xfrm>
            <a:off x="10607040" y="1600200"/>
            <a:ext cx="548640" cy="548640"/>
          </a:xfrm>
          <a:prstGeom prst="ellipse">
            <a:avLst/>
          </a:prstGeom>
          <a:solidFill>
            <a:srgbClr val="D6452F"/>
          </a:solidFill>
          <a:ln>
            <a:noFill/>
          </a:ln>
          <a:effectLst>
            <a:outerShdw blurRad="127000" dist="50800" dir="5400000" algn="t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274320" h="274320" prst="circ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xt"/>
          <p:cNvSpPr txBox="1"/>
          <p:nvPr/>
        </p:nvSpPr>
        <p:spPr>
          <a:xfrm>
            <a:off x="10607040" y="169164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42" name="shp"/>
          <p:cNvSpPr/>
          <p:nvPr/>
        </p:nvSpPr>
        <p:spPr>
          <a:xfrm>
            <a:off x="10149840" y="2331720"/>
            <a:ext cx="1463040" cy="18288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xt"/>
          <p:cNvSpPr txBox="1"/>
          <p:nvPr/>
        </p:nvSpPr>
        <p:spPr>
          <a:xfrm>
            <a:off x="10241280" y="24231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61A22"/>
                </a:solidFill>
                <a:latin typeface="Cambria"/>
              </a:rPr>
              <a:t>Ответ и метка</a:t>
            </a:r>
          </a:p>
        </p:txBody>
      </p:sp>
      <p:sp>
        <p:nvSpPr>
          <p:cNvPr id="44" name="txt"/>
          <p:cNvSpPr txBox="1"/>
          <p:nvPr/>
        </p:nvSpPr>
        <p:spPr>
          <a:xfrm>
            <a:off x="10241280" y="28346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472"/>
                </a:solidFill>
                <a:latin typeface="Calibri"/>
              </a:rPr>
              <a:t>оценка, решение, причины; потом метка → POST /label</a:t>
            </a:r>
          </a:p>
        </p:txBody>
      </p:sp>
      <p:sp>
        <p:nvSpPr>
          <p:cNvPr id="45" name="shp"/>
          <p:cNvSpPr/>
          <p:nvPr/>
        </p:nvSpPr>
        <p:spPr>
          <a:xfrm>
            <a:off x="548640" y="443484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DDF0EC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xt"/>
          <p:cNvSpPr txBox="1"/>
          <p:nvPr/>
        </p:nvSpPr>
        <p:spPr>
          <a:xfrm>
            <a:off x="713232" y="4544568"/>
            <a:ext cx="51572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8A7A"/>
                </a:solidFill>
                <a:latin typeface="Cambria"/>
              </a:rPr>
              <a:t>Почему FastAPI между интерфейсом и моделью</a:t>
            </a:r>
          </a:p>
        </p:txBody>
      </p:sp>
      <p:sp>
        <p:nvSpPr>
          <p:cNvPr id="47" name="txt"/>
          <p:cNvSpPr txBox="1"/>
          <p:nvPr/>
        </p:nvSpPr>
        <p:spPr>
          <a:xfrm>
            <a:off x="713232" y="4937759"/>
            <a:ext cx="51572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модель и история карт загружаются один раз, а не в каждом окне; одна точка проверки входа и один журнал; интерфейс, панель и replay.py работают одинаково; интерфейс можно заменить, не трогая модель.</a:t>
            </a:r>
          </a:p>
        </p:txBody>
      </p:sp>
      <p:sp>
        <p:nvSpPr>
          <p:cNvPr id="48" name="shp"/>
          <p:cNvSpPr/>
          <p:nvPr/>
        </p:nvSpPr>
        <p:spPr>
          <a:xfrm>
            <a:off x="6217920" y="44348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xt"/>
          <p:cNvSpPr txBox="1"/>
          <p:nvPr/>
        </p:nvSpPr>
        <p:spPr>
          <a:xfrm>
            <a:off x="6382512" y="4544568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mbria"/>
              </a:rPr>
              <a:t>Проверка: сервис = score.py</a:t>
            </a:r>
          </a:p>
        </p:txBody>
      </p:sp>
      <p:sp>
        <p:nvSpPr>
          <p:cNvPr id="50" name="txt"/>
          <p:cNvSpPr txBox="1"/>
          <p:nvPr/>
        </p:nvSpPr>
        <p:spPr>
          <a:xfrm>
            <a:off x="6382512" y="4937759"/>
            <a:ext cx="506577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300 операций holdout по одной через сервис и пакетом через score_frame с той же историей — расхождение вероятностей 0, группы риска совпали на 100%. Команда: python -m service.check_batch.</a:t>
            </a:r>
          </a:p>
        </p:txBody>
      </p:sp>
      <p:sp>
        <p:nvSpPr>
          <p:cNvPr id="51" name="src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BFCA"/>
                </a:solidFill>
                <a:latin typeface="Calibri"/>
              </a:rPr>
              <a:t>service/scoring.py · service/check_batch.py</a:t>
            </a:r>
          </a:p>
        </p:txBody>
      </p:sp>
      <p:sp>
        <p:nvSpPr>
          <p:cNvPr id="52" name="who"/>
          <p:cNvSpPr txBox="1"/>
          <p:nvPr/>
        </p:nvSpPr>
        <p:spPr>
          <a:xfrm>
            <a:off x="9052560" y="64190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B8BFCA"/>
                </a:solidFill>
                <a:latin typeface="Calibri"/>
              </a:rPr>
              <a:t>говорит: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A22"/>
                </a:solidFill>
                <a:latin typeface="Cambria"/>
              </a:rPr>
              <a:t>Интерфейс оператора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Streamlit · http://localhost:8501 · вкладки: одна операция, серия, некорректный запрос</a:t>
            </a:r>
          </a:p>
        </p:txBody>
      </p:sp>
      <p:pic>
        <p:nvPicPr>
          <p:cNvPr id="4" name="Picture 3" descr="op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6309360" cy="4313542"/>
          </a:xfrm>
          <a:prstGeom prst="rect">
            <a:avLst/>
          </a:prstGeom>
          <a:ln w="12700">
            <a:solidFill>
              <a:srgbClr val="B8BFCA"/>
            </a:solidFill>
          </a:ln>
        </p:spPr>
      </p:pic>
      <p:sp>
        <p:nvSpPr>
          <p:cNvPr id="5" name="shp"/>
          <p:cNvSpPr/>
          <p:nvPr/>
        </p:nvSpPr>
        <p:spPr>
          <a:xfrm>
            <a:off x="7132320" y="1618488"/>
            <a:ext cx="256032" cy="256032"/>
          </a:xfrm>
          <a:prstGeom prst="ellipse">
            <a:avLst/>
          </a:prstGeom>
          <a:solidFill>
            <a:srgbClr val="E9A83B"/>
          </a:solidFill>
          <a:ln>
            <a:noFill/>
          </a:ln>
          <a:effectLst>
            <a:outerShdw blurRad="127000" dist="50800" dir="5400000" algn="t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128016" h="128016" prst="circ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xt"/>
          <p:cNvSpPr txBox="1"/>
          <p:nvPr/>
        </p:nvSpPr>
        <p:spPr>
          <a:xfrm>
            <a:off x="7543800" y="15544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A22"/>
                </a:solidFill>
                <a:latin typeface="Cambria"/>
              </a:rPr>
              <a:t>Ввод операции</a:t>
            </a:r>
          </a:p>
        </p:txBody>
      </p:sp>
      <p:sp>
        <p:nvSpPr>
          <p:cNvPr id="7" name="txt"/>
          <p:cNvSpPr txBox="1"/>
          <p:nvPr/>
        </p:nvSpPr>
        <p:spPr>
          <a:xfrm>
            <a:off x="7543800" y="1874519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форма с полями датасета; значения можно поменять</a:t>
            </a:r>
          </a:p>
        </p:txBody>
      </p:sp>
      <p:sp>
        <p:nvSpPr>
          <p:cNvPr id="8" name="shp"/>
          <p:cNvSpPr/>
          <p:nvPr/>
        </p:nvSpPr>
        <p:spPr>
          <a:xfrm>
            <a:off x="7132320" y="2395727"/>
            <a:ext cx="256032" cy="256032"/>
          </a:xfrm>
          <a:prstGeom prst="ellipse">
            <a:avLst/>
          </a:prstGeom>
          <a:solidFill>
            <a:srgbClr val="E9A83B"/>
          </a:solidFill>
          <a:ln>
            <a:noFill/>
          </a:ln>
          <a:effectLst>
            <a:outerShdw blurRad="127000" dist="50800" dir="5400000" algn="t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128016" h="128016" prst="circ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"/>
          <p:cNvSpPr txBox="1"/>
          <p:nvPr/>
        </p:nvSpPr>
        <p:spPr>
          <a:xfrm>
            <a:off x="7543800" y="23317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A22"/>
                </a:solidFill>
                <a:latin typeface="Cambria"/>
              </a:rPr>
              <a:t>Строка из holdout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7543800" y="26517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по номеру, случайная, случайная честная или мошенническая</a:t>
            </a:r>
          </a:p>
        </p:txBody>
      </p:sp>
      <p:sp>
        <p:nvSpPr>
          <p:cNvPr id="11" name="shp"/>
          <p:cNvSpPr/>
          <p:nvPr/>
        </p:nvSpPr>
        <p:spPr>
          <a:xfrm>
            <a:off x="7132320" y="3172968"/>
            <a:ext cx="256032" cy="256032"/>
          </a:xfrm>
          <a:prstGeom prst="ellipse">
            <a:avLst/>
          </a:prstGeom>
          <a:solidFill>
            <a:srgbClr val="E9A83B"/>
          </a:solidFill>
          <a:ln>
            <a:noFill/>
          </a:ln>
          <a:effectLst>
            <a:outerShdw blurRad="127000" dist="50800" dir="5400000" algn="t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128016" h="128016" prst="circ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"/>
          <p:cNvSpPr txBox="1"/>
          <p:nvPr/>
        </p:nvSpPr>
        <p:spPr>
          <a:xfrm>
            <a:off x="7543800" y="31089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A22"/>
                </a:solidFill>
                <a:latin typeface="Cambria"/>
              </a:rPr>
              <a:t>Результат</a:t>
            </a:r>
          </a:p>
        </p:txBody>
      </p:sp>
      <p:sp>
        <p:nvSpPr>
          <p:cNvPr id="13" name="txt"/>
          <p:cNvSpPr txBox="1"/>
          <p:nvPr/>
        </p:nvSpPr>
        <p:spPr>
          <a:xfrm>
            <a:off x="7543800" y="34290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«ФРОД / НЕ ФРОД» цветом, оценка, порог, группа риска, причины</a:t>
            </a:r>
          </a:p>
        </p:txBody>
      </p:sp>
      <p:sp>
        <p:nvSpPr>
          <p:cNvPr id="14" name="shp"/>
          <p:cNvSpPr/>
          <p:nvPr/>
        </p:nvSpPr>
        <p:spPr>
          <a:xfrm>
            <a:off x="7132320" y="3950208"/>
            <a:ext cx="256032" cy="256032"/>
          </a:xfrm>
          <a:prstGeom prst="ellipse">
            <a:avLst/>
          </a:prstGeom>
          <a:solidFill>
            <a:srgbClr val="E9A83B"/>
          </a:solidFill>
          <a:ln>
            <a:noFill/>
          </a:ln>
          <a:effectLst>
            <a:outerShdw blurRad="127000" dist="50800" dir="5400000" algn="t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128016" h="128016" prst="circ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"/>
          <p:cNvSpPr txBox="1"/>
          <p:nvPr/>
        </p:nvSpPr>
        <p:spPr>
          <a:xfrm>
            <a:off x="7543800" y="38862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A22"/>
                </a:solidFill>
                <a:latin typeface="Cambria"/>
              </a:rPr>
              <a:t>Сверка с фактом</a:t>
            </a:r>
          </a:p>
        </p:txBody>
      </p:sp>
      <p:sp>
        <p:nvSpPr>
          <p:cNvPr id="16" name="txt"/>
          <p:cNvSpPr txBox="1"/>
          <p:nvPr/>
        </p:nvSpPr>
        <p:spPr>
          <a:xfrm>
            <a:off x="7543800" y="42062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после ответа — настоящая метка и верно ли решение; метка → /label</a:t>
            </a:r>
          </a:p>
        </p:txBody>
      </p:sp>
      <p:sp>
        <p:nvSpPr>
          <p:cNvPr id="17" name="shp"/>
          <p:cNvSpPr/>
          <p:nvPr/>
        </p:nvSpPr>
        <p:spPr>
          <a:xfrm>
            <a:off x="7132320" y="4727448"/>
            <a:ext cx="256032" cy="256032"/>
          </a:xfrm>
          <a:prstGeom prst="ellipse">
            <a:avLst/>
          </a:prstGeom>
          <a:solidFill>
            <a:srgbClr val="E9A83B"/>
          </a:solidFill>
          <a:ln>
            <a:noFill/>
          </a:ln>
          <a:effectLst>
            <a:outerShdw blurRad="127000" dist="50800" dir="5400000" algn="t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128016" h="128016" prst="circ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xt"/>
          <p:cNvSpPr txBox="1"/>
          <p:nvPr/>
        </p:nvSpPr>
        <p:spPr>
          <a:xfrm>
            <a:off x="7543800" y="46634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A22"/>
                </a:solidFill>
                <a:latin typeface="Cambria"/>
              </a:rPr>
              <a:t>Серия операций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7543800" y="4983479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следующие N строк holdout по очереди, с паузой; счётчики пойманных и ложных</a:t>
            </a:r>
          </a:p>
        </p:txBody>
      </p:sp>
      <p:sp>
        <p:nvSpPr>
          <p:cNvPr id="20" name="shp"/>
          <p:cNvSpPr/>
          <p:nvPr/>
        </p:nvSpPr>
        <p:spPr>
          <a:xfrm>
            <a:off x="7132320" y="5504688"/>
            <a:ext cx="256032" cy="256032"/>
          </a:xfrm>
          <a:prstGeom prst="ellipse">
            <a:avLst/>
          </a:prstGeom>
          <a:solidFill>
            <a:srgbClr val="E9A83B"/>
          </a:solidFill>
          <a:ln>
            <a:noFill/>
          </a:ln>
          <a:effectLst>
            <a:outerShdw blurRad="127000" dist="50800" dir="5400000" algn="t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128016" h="128016" prst="circ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xt"/>
          <p:cNvSpPr txBox="1"/>
          <p:nvPr/>
        </p:nvSpPr>
        <p:spPr>
          <a:xfrm>
            <a:off x="7543800" y="54406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A22"/>
                </a:solidFill>
                <a:latin typeface="Cambria"/>
              </a:rPr>
              <a:t>Некорректный запрос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7543800" y="57607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текст вместо суммы, нет поля, неизвестная категория → 422</a:t>
            </a:r>
          </a:p>
        </p:txBody>
      </p:sp>
      <p:sp>
        <p:nvSpPr>
          <p:cNvPr id="23" name="src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BFCA"/>
                </a:solidFill>
                <a:latin typeface="Calibri"/>
              </a:rPr>
              <a:t>frontend/app.py · replay.py (та же серия из терминала)</a:t>
            </a:r>
          </a:p>
        </p:txBody>
      </p:sp>
      <p:sp>
        <p:nvSpPr>
          <p:cNvPr id="24" name="who"/>
          <p:cNvSpPr txBox="1"/>
          <p:nvPr/>
        </p:nvSpPr>
        <p:spPr>
          <a:xfrm>
            <a:off x="9052560" y="64190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B8BFCA"/>
                </a:solidFill>
                <a:latin typeface="Calibri"/>
              </a:rPr>
              <a:t>говорит: 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A22"/>
                </a:solidFill>
                <a:latin typeface="Cambria"/>
              </a:rPr>
              <a:t>Панель мониторинга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Streamlit · http://localhost:8502 · данные только из GET /metrics, обновление каждые 5 с</a:t>
            </a:r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6035040" cy="4033624"/>
          </a:xfrm>
          <a:prstGeom prst="rect">
            <a:avLst/>
          </a:prstGeom>
          <a:ln w="12700">
            <a:solidFill>
              <a:srgbClr val="B8BFCA"/>
            </a:solidFill>
          </a:ln>
        </p:spPr>
      </p:pic>
      <p:graphicFrame>
        <p:nvGraphicFramePr>
          <p:cNvPr id="5" name="tbl"/>
          <p:cNvGraphicFramePr>
            <a:graphicFrameLocks noGrp="1"/>
          </p:cNvGraphicFramePr>
          <p:nvPr/>
        </p:nvGraphicFramePr>
        <p:xfrm>
          <a:off x="6812280" y="150876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286000"/>
                <a:gridCol w="10972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Показатель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Как считаем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Когда известен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Success 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без ошибки / все запросы к /predict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сразу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Fraud rate, модель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is_fraud_pred = 1 / успешные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сразу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Fraud rate, факт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is_fraud = 1 / с меткой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позже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p"/>
          <p:cNvSpPr/>
          <p:nvPr/>
        </p:nvSpPr>
        <p:spPr>
          <a:xfrm>
            <a:off x="6812280" y="3520440"/>
            <a:ext cx="4846320" cy="1691640"/>
          </a:xfrm>
          <a:prstGeom prst="roundRect">
            <a:avLst>
              <a:gd name="adj" fmla="val 6000"/>
            </a:avLst>
          </a:prstGeom>
          <a:solidFill>
            <a:srgbClr val="FCF0DA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"/>
          <p:cNvSpPr txBox="1"/>
          <p:nvPr/>
        </p:nvSpPr>
        <p:spPr>
          <a:xfrm>
            <a:off x="6976872" y="3630168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A22"/>
                </a:solidFill>
                <a:latin typeface="Cambria"/>
              </a:rPr>
              <a:t>Почему два fraud rate различаются</a:t>
            </a:r>
          </a:p>
        </p:txBody>
      </p:sp>
      <p:sp>
        <p:nvSpPr>
          <p:cNvPr id="8" name="txt"/>
          <p:cNvSpPr txBox="1"/>
          <p:nvPr/>
        </p:nvSpPr>
        <p:spPr>
          <a:xfrm>
            <a:off x="6976872" y="4023360"/>
            <a:ext cx="451713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ложные тревоги (FP) поднимают модельный, пропуски (FN) — фактический; метки приходят позже и не для всех. В первой серии они совпали: 13 из 13, ложных 0. При пороге 0,8 модель пропускает операцию с p = 0,70.</a:t>
            </a:r>
          </a:p>
        </p:txBody>
      </p:sp>
      <p:sp>
        <p:nvSpPr>
          <p:cNvPr id="9" name="shp"/>
          <p:cNvSpPr/>
          <p:nvPr/>
        </p:nvSpPr>
        <p:spPr>
          <a:xfrm>
            <a:off x="6812280" y="5349240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DDF0EC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"/>
          <p:cNvSpPr txBox="1"/>
          <p:nvPr/>
        </p:nvSpPr>
        <p:spPr>
          <a:xfrm>
            <a:off x="6976872" y="5458968"/>
            <a:ext cx="4517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8A7A"/>
                </a:solidFill>
                <a:latin typeface="Cambria"/>
              </a:rPr>
              <a:t>Success rate ≠ качество модели</a:t>
            </a:r>
          </a:p>
        </p:txBody>
      </p:sp>
      <p:sp>
        <p:nvSpPr>
          <p:cNvPr id="11" name="txt"/>
          <p:cNvSpPr txBox="1"/>
          <p:nvPr/>
        </p:nvSpPr>
        <p:spPr>
          <a:xfrm>
            <a:off x="6976872" y="5852159"/>
            <a:ext cx="4517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472"/>
                </a:solidFill>
                <a:latin typeface="Calibri"/>
              </a:rPr>
              <a:t>это здоровье сервиса; качество — точность и чувствительность по меткам</a:t>
            </a:r>
          </a:p>
        </p:txBody>
      </p:sp>
      <p:sp>
        <p:nvSpPr>
          <p:cNvPr id="12" name="src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BFCA"/>
                </a:solidFill>
                <a:latin typeface="Calibri"/>
              </a:rPr>
              <a:t>dashboard/app.py · service/journal.py (compute_metrics)</a:t>
            </a:r>
          </a:p>
        </p:txBody>
      </p:sp>
      <p:sp>
        <p:nvSpPr>
          <p:cNvPr id="13" name="who"/>
          <p:cNvSpPr txBox="1"/>
          <p:nvPr/>
        </p:nvSpPr>
        <p:spPr>
          <a:xfrm>
            <a:off x="9052560" y="64190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B8BFCA"/>
                </a:solidFill>
                <a:latin typeface="Calibri"/>
              </a:rPr>
              <a:t>говорит: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Принятые решения и известные ограничения</a:t>
            </a:r>
          </a:p>
        </p:txBody>
      </p:sp>
      <p:sp>
        <p:nvSpPr>
          <p:cNvPr id="3" name="txt"/>
          <p:cNvSpPr txBox="1"/>
          <p:nvPr/>
        </p:nvSpPr>
        <p:spPr>
          <a:xfrm>
            <a:off x="6400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FD0BC"/>
                </a:solidFill>
                <a:latin typeface="Cambria"/>
              </a:rPr>
              <a:t>Решения</a:t>
            </a:r>
          </a:p>
        </p:txBody>
      </p:sp>
      <p:sp>
        <p:nvSpPr>
          <p:cNvPr id="4" name="txt"/>
          <p:cNvSpPr txBox="1"/>
          <p:nvPr/>
        </p:nvSpPr>
        <p:spPr>
          <a:xfrm>
            <a:off x="640080" y="164592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Порог 0,5. </a:t>
            </a:r>
            <a:r>
              <a:rPr sz="1300" b="0">
                <a:solidFill>
                  <a:srgbClr val="AEB6C4"/>
                </a:solidFill>
                <a:latin typeface="Calibri"/>
              </a:rPr>
              <a:t>по калиброванной вероятности: «фрод вероятнее, чем нет». На valid точность 98,3%, чувствительность 94,1%. Меняется без перезапуска</a:t>
            </a:r>
          </a:p>
        </p:txBody>
      </p:sp>
      <p:sp>
        <p:nvSpPr>
          <p:cNvPr id="5" name="txt"/>
          <p:cNvSpPr txBox="1"/>
          <p:nvPr/>
        </p:nvSpPr>
        <p:spPr>
          <a:xfrm>
            <a:off x="640080" y="242316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История — словарь в памяти. </a:t>
            </a:r>
            <a:r>
              <a:rPr sz="1300" b="0">
                <a:solidFill>
                  <a:srgbClr val="AEB6C4"/>
                </a:solidFill>
                <a:latin typeface="Calibri"/>
              </a:rPr>
              <a:t>стартовая — 1,72 млн операций без меток; новые дописываются к своей карте</a:t>
            </a:r>
          </a:p>
        </p:txBody>
      </p:sp>
      <p:sp>
        <p:nvSpPr>
          <p:cNvPr id="6" name="txt"/>
          <p:cNvSpPr txBox="1"/>
          <p:nvPr/>
        </p:nvSpPr>
        <p:spPr>
          <a:xfrm>
            <a:off x="640080" y="320040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Журнал — SQLite. </a:t>
            </a:r>
            <a:r>
              <a:rPr sz="1300" b="0">
                <a:solidFill>
                  <a:srgbClr val="AEB6C4"/>
                </a:solidFill>
                <a:latin typeface="Calibri"/>
              </a:rPr>
              <a:t>переживает перезапуск; панель считает по текущей сессии</a:t>
            </a:r>
          </a:p>
        </p:txBody>
      </p:sp>
      <p:sp>
        <p:nvSpPr>
          <p:cNvPr id="7" name="txt"/>
          <p:cNvSpPr txBox="1"/>
          <p:nvPr/>
        </p:nvSpPr>
        <p:spPr>
          <a:xfrm>
            <a:off x="640080" y="3977639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Streamlit. </a:t>
            </a:r>
            <a:r>
              <a:rPr sz="1300" b="0">
                <a:solidFill>
                  <a:srgbClr val="AEB6C4"/>
                </a:solidFill>
                <a:latin typeface="Calibri"/>
              </a:rPr>
              <a:t>команда пишет на Python; без JavaScript и CORS; автообновление — st.fragment</a:t>
            </a:r>
          </a:p>
        </p:txBody>
      </p:sp>
      <p:sp>
        <p:nvSpPr>
          <p:cNvPr id="8" name="txt"/>
          <p:cNvSpPr txBox="1"/>
          <p:nvPr/>
        </p:nvSpPr>
        <p:spPr>
          <a:xfrm>
            <a:off x="640080" y="475488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Holdout от преподавателя. </a:t>
            </a:r>
            <a:r>
              <a:rPr sz="1300" b="0">
                <a:solidFill>
                  <a:srgbClr val="AEB6C4"/>
                </a:solidFill>
                <a:latin typeface="Calibri"/>
              </a:rPr>
              <a:t>своего неиспользованного периода нет; пока — 02.12–11.12.2020 из fraudTest, 38 981 операция, 131 фрод</a:t>
            </a:r>
          </a:p>
        </p:txBody>
      </p:sp>
      <p:sp>
        <p:nvSpPr>
          <p:cNvPr id="9" name="txt"/>
          <p:cNvSpPr txBox="1"/>
          <p:nvPr/>
        </p:nvSpPr>
        <p:spPr>
          <a:xfrm>
            <a:off x="6949440" y="1188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9A83B"/>
                </a:solidFill>
                <a:latin typeface="Cambria"/>
              </a:rPr>
              <a:t>Ограничения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6949440" y="164592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≈ 0,2 с на операцию. </a:t>
            </a:r>
            <a:r>
              <a:rPr sz="1300" b="0">
                <a:solidFill>
                  <a:srgbClr val="AEB6C4"/>
                </a:solidFill>
                <a:latin typeface="Calibri"/>
              </a:rPr>
              <a:t>признаки пересчитываются по всей истории карты</a:t>
            </a:r>
          </a:p>
        </p:txBody>
      </p:sp>
      <p:sp>
        <p:nvSpPr>
          <p:cNvPr id="11" name="txt"/>
          <p:cNvSpPr txBox="1"/>
          <p:nvPr/>
        </p:nvSpPr>
        <p:spPr>
          <a:xfrm>
            <a:off x="6949440" y="251460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После перезапуска. </a:t>
            </a:r>
            <a:r>
              <a:rPr sz="1300" b="0">
                <a:solidFill>
                  <a:srgbClr val="AEB6C4"/>
                </a:solidFill>
                <a:latin typeface="Calibri"/>
              </a:rPr>
              <a:t>операции сессии в истории теряются</a:t>
            </a:r>
          </a:p>
        </p:txBody>
      </p:sp>
      <p:sp>
        <p:nvSpPr>
          <p:cNvPr id="12" name="txt"/>
          <p:cNvSpPr txBox="1"/>
          <p:nvPr/>
        </p:nvSpPr>
        <p:spPr>
          <a:xfrm>
            <a:off x="6949440" y="338328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Одна копия сервиса. </a:t>
            </a:r>
            <a:r>
              <a:rPr sz="1300" b="0">
                <a:solidFill>
                  <a:srgbClr val="AEB6C4"/>
                </a:solidFill>
                <a:latin typeface="Calibri"/>
              </a:rPr>
              <a:t>история не общая между процессами</a:t>
            </a:r>
          </a:p>
        </p:txBody>
      </p:sp>
      <p:sp>
        <p:nvSpPr>
          <p:cNvPr id="13" name="txt"/>
          <p:cNvSpPr txBox="1"/>
          <p:nvPr/>
        </p:nvSpPr>
        <p:spPr>
          <a:xfrm>
            <a:off x="6949440" y="4251959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Лимит 0,3% в день. </a:t>
            </a:r>
            <a:r>
              <a:rPr sz="1300" b="0">
                <a:solidFill>
                  <a:srgbClr val="AEB6C4"/>
                </a:solidFill>
                <a:latin typeface="Calibri"/>
              </a:rPr>
              <a:t>в сервисе не применяется: решение по порогу, очередь аналитиков — отдельно</a:t>
            </a:r>
          </a:p>
        </p:txBody>
      </p:sp>
      <p:sp>
        <p:nvSpPr>
          <p:cNvPr id="14" name="shp"/>
          <p:cNvSpPr/>
          <p:nvPr/>
        </p:nvSpPr>
        <p:spPr>
          <a:xfrm>
            <a:off x="640080" y="5623560"/>
            <a:ext cx="10972800" cy="685800"/>
          </a:xfrm>
          <a:prstGeom prst="roundRect">
            <a:avLst>
              <a:gd name="adj" fmla="val 20000"/>
            </a:avLst>
          </a:prstGeom>
          <a:solidFill>
            <a:srgbClr val="1F2431"/>
          </a:solidFill>
          <a:ln>
            <a:noFill/>
          </a:ln>
          <a:effectLst>
            <a:outerShdw blurRad="228600" dist="76200" dir="5400000" algn="t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"/>
          <p:cNvSpPr txBox="1"/>
          <p:nvPr/>
        </p:nvSpPr>
        <p:spPr>
          <a:xfrm>
            <a:off x="868680" y="573328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5FD0BC"/>
                </a:solidFill>
                <a:latin typeface="Calibri"/>
              </a:rPr>
              <a:t>Демонстрация: </a:t>
            </a:r>
            <a:r>
              <a:rPr sz="1500" b="0">
                <a:solidFill>
                  <a:srgbClr val="FFFFFF"/>
                </a:solidFill>
                <a:latin typeface="Calibri"/>
              </a:rPr>
              <a:t>запуск и /docs → честная операция → мошенническая → серия 200 → ошибка → итог</a:t>
            </a:r>
          </a:p>
        </p:txBody>
      </p:sp>
      <p:sp>
        <p:nvSpPr>
          <p:cNvPr id="16" name="who"/>
          <p:cNvSpPr txBox="1"/>
          <p:nvPr/>
        </p:nvSpPr>
        <p:spPr>
          <a:xfrm>
            <a:off x="9052560" y="64190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8F97A3"/>
                </a:solidFill>
                <a:latin typeface="Calibri"/>
              </a:rPr>
              <a:t>говорит: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