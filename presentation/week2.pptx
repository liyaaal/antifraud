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чувствительность, деньги</c:v>
                </c:pt>
              </c:strCache>
            </c:strRef>
          </c:tx>
          <c:spPr>
            <a:ln w="31750">
              <a:solidFill>
                <a:srgbClr val="1F8A7A"/>
              </a:solidFill>
            </a:ln>
          </c:spPr>
          <c:marker>
            <c:spPr>
              <a:solidFill>
                <a:srgbClr val="1F8A7A"/>
              </a:solidFill>
              <a:ln>
                <a:solidFill>
                  <a:srgbClr val="1F8A7A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0,1%</c:v>
                </c:pt>
                <c:pt idx="1">
                  <c:v>0,2%</c:v>
                </c:pt>
                <c:pt idx="2">
                  <c:v>0,3%</c:v>
                </c:pt>
                <c:pt idx="3">
                  <c:v>0,5%</c:v>
                </c:pt>
                <c:pt idx="4">
                  <c:v>0,75%</c:v>
                </c:pt>
                <c:pt idx="5">
                  <c:v>1%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0.31</c:v>
                </c:pt>
                <c:pt idx="1">
                  <c:v>0.57</c:v>
                </c:pt>
                <c:pt idx="2">
                  <c:v>0.74</c:v>
                </c:pt>
                <c:pt idx="3">
                  <c:v>0.9</c:v>
                </c:pt>
                <c:pt idx="4">
                  <c:v>0.97</c:v>
                </c:pt>
                <c:pt idx="5">
                  <c:v>0.99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чувствительность, штуки</c:v>
                </c:pt>
              </c:strCache>
            </c:strRef>
          </c:tx>
          <c:spPr>
            <a:ln w="31750">
              <a:solidFill>
                <a:srgbClr val="8F97A3"/>
              </a:solidFill>
            </a:ln>
          </c:spPr>
          <c:marker>
            <c:spPr>
              <a:solidFill>
                <a:srgbClr val="8F97A3"/>
              </a:solidFill>
              <a:ln>
                <a:solidFill>
                  <a:srgbClr val="8F97A3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0,1%</c:v>
                </c:pt>
                <c:pt idx="1">
                  <c:v>0,2%</c:v>
                </c:pt>
                <c:pt idx="2">
                  <c:v>0,3%</c:v>
                </c:pt>
                <c:pt idx="3">
                  <c:v>0,5%</c:v>
                </c:pt>
                <c:pt idx="4">
                  <c:v>0,75%</c:v>
                </c:pt>
                <c:pt idx="5">
                  <c:v>1%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0.17</c:v>
                </c:pt>
                <c:pt idx="1">
                  <c:v>0.36</c:v>
                </c:pt>
                <c:pt idx="2">
                  <c:v>0.51</c:v>
                </c:pt>
                <c:pt idx="3">
                  <c:v>0.71</c:v>
                </c:pt>
                <c:pt idx="4">
                  <c:v>0.83</c:v>
                </c:pt>
                <c:pt idx="5">
                  <c:v>0.89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F3F5F8"/>
              </a:solidFill>
            </a:ln>
          </c:spPr>
        </c:majorGridlines>
        <c:numFmt formatCode="0%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знач.</c:v>
                </c:pt>
              </c:strCache>
            </c:strRef>
          </c:tx>
          <c:dPt>
            <c:idx val="0"/>
            <c:spPr>
              <a:solidFill>
                <a:srgbClr val="1F8A7A"/>
              </a:solidFill>
            </c:spPr>
          </c:dPt>
          <c:dPt>
            <c:idx val="1"/>
            <c:spPr>
              <a:solidFill>
                <a:srgbClr val="B8BFCA"/>
              </a:solidFill>
            </c:spPr>
          </c:dPt>
          <c:dPt>
            <c:idx val="2"/>
            <c:spPr>
              <a:solidFill>
                <a:srgbClr val="E9A83B"/>
              </a:solidFill>
            </c:spPr>
          </c:dPt>
          <c:dPt>
            <c:idx val="3"/>
            <c:spPr>
              <a:solidFill>
                <a:srgbClr val="D6452F"/>
              </a:solidFill>
            </c:spPr>
          </c:dPt>
          <c:dPt>
            <c:idx val="4"/>
            <c:spPr>
              <a:solidFill>
                <a:srgbClr val="D6452F"/>
              </a:solidFill>
            </c:spPr>
          </c:dPt>
          <c:cat>
            <c:strRef>
              <c:f>Sheet1!$A$2:$A$6</c:f>
              <c:strCache>
                <c:ptCount val="5"/>
                <c:pt idx="0">
                  <c:v>как есть</c:v>
                </c:pt>
                <c:pt idx="1">
                  <c:v>нет истории карт</c:v>
                </c:pt>
                <c:pt idx="2">
                  <c:v>суммы × 1,5</c:v>
                </c:pt>
                <c:pt idx="3">
                  <c:v>нет поля category</c:v>
                </c:pt>
                <c:pt idx="4">
                  <c:v>время сдвинуто на +3 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</c:v>
                </c:pt>
                <c:pt idx="1">
                  <c:v>0.972</c:v>
                </c:pt>
                <c:pt idx="2">
                  <c:v>0.951</c:v>
                </c:pt>
                <c:pt idx="3">
                  <c:v>0.866</c:v>
                </c:pt>
                <c:pt idx="4">
                  <c:v>0.851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400" b="1">
                  <a:solidFill>
                    <a:srgbClr val="161A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161A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Это вторая итерация нашего антифрода.</a:t>
            </a:r>
          </a:p>
          <a:p/>
          <a:p>
            <a:r>
              <a:t>На первой неделе мы построили систему, которая каждый день выбирает 0,3% операций для проверки аналитиками. На этой неделе задача была другая: не переписать, а понять, где и почему система ошибается, и доработать её.</a:t>
            </a:r>
          </a:p>
          <a:p/>
          <a:p>
            <a:r>
              <a:t>Три главных результата. Первое: в данных один устойчивый сценарий мошенничества — захват карты на двое суток, 976 таких эпизодов. Второе: модель его почти всегда узнаёт — 98% денег, которые мы упустили, модель узнала, но им не хватило места в лимите проверок. Третье: версия 2 на новом периоде, который никто не видел, дала плюс 3 462 у.е., и разница между нашей оценкой и реальным прогоном сократилась до нуля.</a:t>
            </a:r>
          </a:p>
          <a:p/>
          <a:p>
            <a:r>
              <a:t>Я расскажу про паттерны, Лия — про ошибки и новые признаки, Шырайлым — про деньги, выбор рабочей точки и ответы на ваши замечания.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первой неделе мы шли от гипотез к данным. Сейчас наоборот — от данных к паттерну. И главное, что мы поменяли: смотрим не на одну операцию, а на эпизод — все мошеннические операции одной карты подряд.</a:t>
            </a:r>
          </a:p>
          <a:p/>
          <a:p>
            <a:r>
              <a:t>Оказалось, что в данных один устойчивый сценарий. Мы назвали его «двухсуточный захват карты». Начинается ночью: две-четыре покупки продуктов в магазине примерно по 300 и мелочь на заправке. Вечером того же дня, в 22–23 часа, — дорогие покупки онлайн и в магазинах, по 800–1300. На вторые сутки всё повторяется. Заканчивается вечером вторых суток. Всего около 10 операций за 45 часов.</a:t>
            </a:r>
          </a:p>
          <a:p/>
          <a:p>
            <a:r>
              <a:t>Самая сильная примета: в 99,9% эпизодов внутри нет ни одной операции самого держателя — карта полностью у мошенника. После эпизода держатель возвращается к обычным покупкам.</a:t>
            </a:r>
          </a:p>
          <a:p/>
          <a:p>
            <a:r>
              <a:t>Паттерн устойчивый: одна и та же форма в каждом квартале и на новых данных, и почти каждая карта проходит через него один раз. Вывод для аналитика: подтвердили одну операцию — блокируйте карту.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карта паттернов. Сценарий один, но его фазы модель ловит по-разному.</a:t>
            </a:r>
          </a:p>
          <a:p/>
          <a:p>
            <a:r>
              <a:t>Вечерняя волна крупных покупок — ловится уверенно: модель узнаёт 98% операций, до аналитика доходит 70% денег, на новом периоде — 80%.</a:t>
            </a:r>
          </a:p>
          <a:p/>
          <a:p>
            <a:r>
              <a:t>Ночная волна — продукты по 300. Модель узнаёт её почти всю, 99%, но до аналитика доходит меньше половины денег. Почему — сейчас расскажет Лия.</a:t>
            </a:r>
          </a:p>
          <a:p/>
          <a:p>
            <a:r>
              <a:t>Мелкие операции до 100 у.е. мы сознательно не покрываем: это 22% операций, но меньше 1% денег.</a:t>
            </a:r>
          </a:p>
          <a:p/>
          <a:p>
            <a:r>
              <a:t>P2 — тот же захват, но на новой карте без истории. Тут мы нашли артефакт данных: каждая новая карта в этих данных начинается с мошенничества. Об этом — в оценке решения.</a:t>
            </a:r>
          </a:p>
          <a:p/>
          <a:p>
            <a:r>
              <a:t>Слева — семь гипотез, которые мы проверили на данных и не подтвердили: например, волны атак — старты эпизодов случайны, как у независимых событий. Справа — как мы проверили, что волны — это фазы одного сценария: они встречаются в одних и тех же эпизодах.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разобрали каждую упущенную операцию по причине. Это главный вывод недели.</a:t>
            </a:r>
          </a:p>
          <a:p/>
          <a:p>
            <a:r>
              <a:t>Из 343 тысяч упущенных денег 98% — это операции, которые модель узнала, обычно с вероятностью 1. Им просто не хватило места: аналитики проверяют 0,3% операций, а мошенничества в день бывает в несколько раз больше. Модель не узнала только 1,7% денег.</a:t>
            </a:r>
          </a:p>
          <a:p/>
          <a:p>
            <a:r>
              <a:t>Средняя метрика это скрывала. Разрез по нагрузке дня показывает: в дни, когда мошенничества не больше лимита, мы останавливаем 99% денег. В дни, когда его больше чем в два раза, — только половину, и там 93% всех потерь. То есть решение отказывает не на «сложных» операциях, а в «тяжёлые» дни.</a:t>
            </a:r>
          </a:p>
          <a:p/>
          <a:p>
            <a:r>
              <a:t>Самая дорогая единичная ошибка — покупка на 1 124 у.е. Модель была уверена, но в тот день 22 мошеннические операции на 4 места. Мы признали это ограничением лимита, а не ошибкой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ТЗ требовало посмотреть ошибки построчно, вместе с историей клиента. Вот четыре вещи, которых не было в средних цифрах.</a:t>
            </a:r>
          </a:p>
          <a:p/>
          <a:p>
            <a:r>
              <a:t>Первое. Самые дорогие пропуски — не ошибки. Модель уверена на 100%, просто мест нет. И почти всегда из того же эпизода уже проверена другая операция — то есть в реальном банке карту бы уже заблокировали.</a:t>
            </a:r>
          </a:p>
          <a:p/>
          <a:p>
            <a:r>
              <a:t>Второе. Есть операции эпизода, которые выглядят как обычная жизнь: товары для дома на 220 днём, кафе на 140. Среди тысяч похожих операций фрода ноль. Отличить их можно только по окружению — что было до них на этой карте.</a:t>
            </a:r>
          </a:p>
          <a:p/>
          <a:p>
            <a:r>
              <a:t>Третье. Ложные срабатывания — это устойчивый тип честного клиента: крупная покупка онлайн ночью. Вероятность около 0,3, но сумма 1 000, поэтому проверять её выгодно. Это осознанная ставка, а не сбой.</a:t>
            </a:r>
          </a:p>
          <a:p/>
          <a:p>
            <a:r>
              <a:t>Четвёртое. Мы заметили пустые истории и нашли артефакт: в этих данных все новые карты начинаются с мошенничества.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Новые признаки мы делали только после разбора, и адресно — под паттерн. Блок E смотрит на окно 48 часов, ровно по длине эпизода. Окно сессий из моей первой недели тут не подходит: между ночной и вечерней волной пауза до 20 часов, и сессия рвёт эпизод пополам.</a:t>
            </a:r>
          </a:p>
          <a:p/>
          <a:p>
            <a:r>
              <a:t>Из восьми признаков, добавляя по одному на valid, оставили три: сколько часов назад была крупная операция, и пропали ли обычные покупки клиента. Остальные дали минус или ноль.</a:t>
            </a:r>
          </a:p>
          <a:p/>
          <a:p>
            <a:r>
              <a:t>Контроль регрессий — справа. На valid плюс 784, на holdout минус 2 103, на новом периоде плюс 3 462. Все интервалы около нуля — честно: это небольшое улучшение.</a:t>
            </a:r>
          </a:p>
          <a:p/>
          <a:p>
            <a:r>
              <a:t>Что стало лучше: вечерняя волна и декабрь. Что хуже: честные клиенты, которые делают несколько крупных покупок подряд, — их стали задерживать чуть чаще. Механизм мы проверили построчно: v2 перестала дёргать одиночные покупки и стала чаще дёргать покупки, сделанные через несколько часов после другой крупной.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Моя часть — деньги и выбор рабочей точки.</a:t>
            </a:r>
          </a:p>
          <a:p/>
          <a:p>
            <a:r>
              <a:t>Чувствительность — сколько мошенничества ловим. Специфичность — сколько честных не трогаем. Мы показываем их не одной точкой, а для каждого уровня лимита. Сейчас лимит 0,3%: 6–7 проверок в день, ловим 74% денег, около 27 честных клиентов в месяц получают звонок.</a:t>
            </a:r>
          </a:p>
          <a:p/>
          <a:p>
            <a:r>
              <a:t>Если поднять до 0,5% — ловим 90% денег, звонков 42 в месяц. При 0,75% — 97%. Одна проверка стоит банку 3 у.е., а дополнительная проверка спасает от 150 до 340. Значит, ограничение — люди, а не деньги. Наша рекомендация — 0,5–0,75%. Но решает не модель, а руководитель мониторинга вместе с риск-менеджментом, по этой таблице.</a:t>
            </a:r>
          </a:p>
          <a:p/>
          <a:p>
            <a:r>
              <a:t>Про специфичность 99,7%. Мошенничества меньше 1%, и мы проверяем не больше 0,3% операций. Поэтому даже если все проверки окажутся честными клиентами, специфичность всё равно не меньше 99,7%. Это пол, который даёт сам лимит, а не качество модели. Говорить заказчику надо штуки: 0,9 честного клиента в сутки и точность 86%.</a:t>
            </a:r>
          </a:p>
          <a:p/>
          <a:p>
            <a:r>
              <a:t>И чувствительность в штуках тоже упирается в лимит: больше 54% поймать нельзя физически, у нас 51%.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сравнение. Обе версии мы прогнали одним и тем же score.py на новом периоде — с конца июня по декабрь 2020. Его не видели ни в первой приёмке, ни при разработке v2.</a:t>
            </a:r>
          </a:p>
          <a:p/>
          <a:p>
            <a:r>
              <a:t>Версия 2 спасла 833 947 у.е. против 830 484 у версии 1, это плюс 3 462. Доля от лучшего возможного выросла с 97,6 до 98%. За счёт чего: признак «крупная операция была недавно» помогает выбирать продолжение эпизода в вечерней волне.</a:t>
            </a:r>
          </a:p>
          <a:p/>
          <a:p>
            <a:r>
              <a:t>Что стало хуже: точность чуть упала — на 7 честных клиентов за полгода. Мы показали выше, почему.</a:t>
            </a:r>
          </a:p>
          <a:p/>
          <a:p>
            <a:r>
              <a:t>Отдельный показатель из ТЗ — расхождение между нашей оценкой и реальным прогоном. У v1 на новом периоде доля от лучшего была на 1,1 пункта ниже, чем мы обещали. У v2 — ровно столько, сколько обещали. Разница сократилась до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прошлой защите вы дали нам замечания. Я расскажу, что мы с ними сделали.</a:t>
            </a:r>
          </a:p>
          <a:p/>
          <a:p>
            <a:r>
              <a:t>Первое — вы просили делить операции на «точно мошенник», «среднее» и «не мошенник» и чтобы программа сама показывала, сколько мошенников куда попало. Теперь так и есть. Слева — то, что программа печатает после запуска на новых данных. Высокий риск — вероятность от 0,9, там 99% действительно мошенники. Средний — от 0,1 до 0,9. Низкий — меньше 0,1. Из 2 145 мошенников 88% попали в высокий риск, 9% — в средний и только 3% — в низкий.</a:t>
            </a:r>
          </a:p>
          <a:p/>
          <a:p>
            <a:r>
              <a:t>Второе — из скольких рисковых мы помечаем. Рисковых около 13 в день, а проверить можно шесть-семь. Модель помечает рисковыми 97% мошенников, но к аналитику доходит только половина — мест не хватает. Поэтому внутри рисковых мы выбираем по деньгам.</a:t>
            </a:r>
          </a:p>
          <a:p/>
          <a:p>
            <a:r>
              <a:t>Третье — про «7 аналитиков». Это была наша неточная формулировка. Правильно — 7 проверок в день, а не 7 человек. По заданию проверять можно 0,3% операций, а в день их около 2 500.</a:t>
            </a:r>
          </a:p>
          <a:p/>
          <a:p>
            <a:r>
              <a:t>Четвёртое — откуда 328 тысяч. Это потолок: столько спас бы провидец, который заранее знает всех мошенников, при том же лимите. Мы спасли 323 тысячи — это 98,65% от потолка. Внизу формула, по которой мы выбираем операцию: вероятность умножить на сумму плюс 5, минус 3 за проверку, минус 25 за риск задержать честного.</a:t>
            </a:r>
          </a:p>
          <a:p/>
          <a:p>
            <a:r>
              <a:t>Пятое — метрика PR и баланс. Мошенничества меньше полпроцента, поэтому точность в целом ничего не говорит. PR-AUC у нас 0,97, у случайной модели — 0,004.</a:t>
            </a:r>
          </a:p>
          <a:p/>
          <a:p>
            <a:r>
              <a:t>И последнее — почему не логистическая регрессия. Она складывает признаки по одному и не видит сочетаний вроде «ночью И продукты И около 300». На тех же признаках она хуже на 26 тысяч.</a:t>
            </a:r>
          </a:p>
          <a:p/>
          <a:p>
            <a:r>
              <a:t>Одно уточнение: группа — это подпись для людей. Отправку решают деньги: покупка на 1 000 из средней группы важнее покупки на 20 из высокой.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инженера, который будет сопровождать решение, мы написали отдельный документ. Каждое ограничение в нём измерено, а не предположено.</a:t>
            </a:r>
          </a:p>
          <a:p/>
          <a:p>
            <a:r>
              <a:t>Мы ломали входные данные и смотрели, что будет. Первым решение откажет при сдвиге времени: если в выгрузке другой часовой пояс на 3 часа, теряем 13 пунктов и ложных тревог втрое больше — потому что весь паттерн держится на ночи и позднем вечере. Второе — если пропадёт поле категории. Смена масштаба сумм и отсутствие истории карт бьют слабее.</a:t>
            </a:r>
          </a:p>
          <a:p/>
          <a:p>
            <a:r>
              <a:t>Если мошенничества станет втрое больше, модель менять не надо — нужен лимит около 1%. Новых честных клиентов модель не считает мошенниками автоматически, но отправляет к аналитику в 2,4 раза чаще.</a:t>
            </a:r>
          </a:p>
          <a:p/>
          <a:p>
            <a:r>
              <a:t>И что сломается, если автора нет месяц: история карт перестанет пополняться, калибровка устареет, а в декабре вырастут ложные тревоги.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Подводим итог.</a:t>
            </a:r>
          </a:p>
          <a:p/>
          <a:p>
            <a:r>
              <a:t>Первое — структура мошенничества: один устойчивый сценарий, двухсуточный захват карты. Мы знаем, какая его часть ловится, какая нет и почему.</a:t>
            </a:r>
          </a:p>
          <a:p/>
          <a:p>
            <a:r>
              <a:t>Второе — ошибки: почти все потери — это лимит проверок, а не модель. Решение отказывает в тяжёлые дни и при сдвиге времени.</a:t>
            </a:r>
          </a:p>
          <a:p/>
          <a:p>
            <a:r>
              <a:t>Третье — v2: небольшое, но объяснённое улучшение и сократившееся до нуля расхождение с нашей оценкой.</a:t>
            </a:r>
          </a:p>
          <a:p/>
          <a:p>
            <a:r>
              <a:t>Банку мы предлагаем два рычага, для которых не нужна новая модель. Блокировать карту после первой подтверждённой операции — та же модель тогда спасла бы 1,07 миллиона вместо 830 тысяч. И поднять лимит до 0,5–0,75%.</a:t>
            </a:r>
          </a:p>
          <a:p/>
          <a:p>
            <a:r>
              <a:t>По замечаниям: все девять разобраны. Группы риска теперь печатает сама программа. Не согласились в одном: группа — это подпись, а решение об отправке по-прежнему принимается по деньгам.</a:t>
            </a:r>
          </a:p>
          <a:p/>
          <a:p>
            <a:r>
              <a:t>Если бы начинали заново — начали бы с эпизодов и потолка, а не с признаков. Спасибо,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xt"/>
          <p:cNvSpPr txBox="1"/>
          <p:nvPr/>
        </p:nvSpPr>
        <p:spPr>
          <a:xfrm>
            <a:off x="731520" y="56692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EB6C4"/>
                </a:solidFill>
                <a:latin typeface="Calibri"/>
              </a:rPr>
              <a:t>ПРОЕКТ «АНТИФРОД» · НЕДЕЛЯ 2 · КОМАНДА ИЗ ТРЁХ УЧАСТНИЦ</a:t>
            </a:r>
          </a:p>
        </p:txBody>
      </p:sp>
      <p:sp>
        <p:nvSpPr>
          <p:cNvPr id="3" name="txt"/>
          <p:cNvSpPr txBox="1"/>
          <p:nvPr/>
        </p:nvSpPr>
        <p:spPr>
          <a:xfrm>
            <a:off x="731520" y="1051560"/>
            <a:ext cx="6583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Модель узнаёт мошенничество почти всегда. Деньги теряются в лимите проверок</a:t>
            </a:r>
          </a:p>
        </p:txBody>
      </p:sp>
      <p:sp>
        <p:nvSpPr>
          <p:cNvPr id="4" name="txt"/>
          <p:cNvSpPr txBox="1"/>
          <p:nvPr/>
        </p:nvSpPr>
        <p:spPr>
          <a:xfrm>
            <a:off x="731520" y="342900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EB6C4"/>
                </a:solidFill>
                <a:latin typeface="Calibri"/>
              </a:rPr>
              <a:t>Мы разобрали мошенничество не по операциям, а по эпизодам, нашли, где и почему решение ошибается, и сделали v2 — без переписывания.</a:t>
            </a:r>
          </a:p>
        </p:txBody>
      </p:sp>
      <p:sp>
        <p:nvSpPr>
          <p:cNvPr id="5" name="shp"/>
          <p:cNvSpPr/>
          <p:nvPr/>
        </p:nvSpPr>
        <p:spPr>
          <a:xfrm>
            <a:off x="731520" y="457200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"/>
          <p:cNvSpPr txBox="1"/>
          <p:nvPr/>
        </p:nvSpPr>
        <p:spPr>
          <a:xfrm>
            <a:off x="914400" y="46817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FD0BC"/>
                </a:solidFill>
                <a:latin typeface="Cambria"/>
              </a:rPr>
              <a:t>976</a:t>
            </a:r>
          </a:p>
        </p:txBody>
      </p:sp>
      <p:sp>
        <p:nvSpPr>
          <p:cNvPr id="7" name="txt"/>
          <p:cNvSpPr txBox="1"/>
          <p:nvPr/>
        </p:nvSpPr>
        <p:spPr>
          <a:xfrm>
            <a:off x="914400" y="534924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EB6C4"/>
                </a:solidFill>
                <a:latin typeface="Calibri"/>
              </a:rPr>
              <a:t>эпизодов: один сценарий «захват карты на двое суток»</a:t>
            </a:r>
          </a:p>
        </p:txBody>
      </p:sp>
      <p:sp>
        <p:nvSpPr>
          <p:cNvPr id="8" name="shp"/>
          <p:cNvSpPr/>
          <p:nvPr/>
        </p:nvSpPr>
        <p:spPr>
          <a:xfrm>
            <a:off x="2971800" y="457200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"/>
          <p:cNvSpPr txBox="1"/>
          <p:nvPr/>
        </p:nvSpPr>
        <p:spPr>
          <a:xfrm>
            <a:off x="3154680" y="46817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98%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3154680" y="534924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EB6C4"/>
                </a:solidFill>
                <a:latin typeface="Calibri"/>
              </a:rPr>
              <a:t>упущенных денег модель узнала, но они не влезли в лимит 0,3%</a:t>
            </a:r>
          </a:p>
        </p:txBody>
      </p:sp>
      <p:sp>
        <p:nvSpPr>
          <p:cNvPr id="11" name="shp"/>
          <p:cNvSpPr/>
          <p:nvPr/>
        </p:nvSpPr>
        <p:spPr>
          <a:xfrm>
            <a:off x="5212080" y="457200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"/>
          <p:cNvSpPr txBox="1"/>
          <p:nvPr/>
        </p:nvSpPr>
        <p:spPr>
          <a:xfrm>
            <a:off x="5394960" y="46817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+3 462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5394960" y="534924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EB6C4"/>
                </a:solidFill>
                <a:latin typeface="Calibri"/>
              </a:rPr>
              <a:t>у.е. у v2 на новом периоде; расхождение с оценкой 1,1 → 0,0 п.п.</a:t>
            </a:r>
          </a:p>
        </p:txBody>
      </p:sp>
      <p:sp>
        <p:nvSpPr>
          <p:cNvPr id="14" name="shp"/>
          <p:cNvSpPr/>
          <p:nvPr/>
        </p:nvSpPr>
        <p:spPr>
          <a:xfrm>
            <a:off x="7635240" y="91440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D6452F"/>
          </a:solidFill>
          <a:ln>
            <a:noFill/>
          </a:ln>
          <a:effectLst>
            <a:outerShdw blurRad="279400" dist="127000" dir="5400000" algn="t" rotWithShape="0">
              <a:srgbClr val="000000">
                <a:alpha val="55000"/>
              </a:srgbClr>
            </a:outerShdw>
          </a:effectLst>
          <a:scene3d>
            <a:camera prst="perspectiveFront" fov="2400000">
              <a:rot lat="19920000" lon="720000" rev="0"/>
            </a:camera>
            <a:lightRig rig="threePt" dir="t"/>
          </a:scene3d>
          <a:sp3d extrusionH="101600">
            <a:bevelT w="63500" h="25400" prst="softRound"/>
            <a:extrusionClr>
              <a:srgbClr val="80291C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73152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A  ·  паттерны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«как устроен эпизод»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4821</a:t>
            </a:r>
          </a:p>
        </p:txBody>
      </p:sp>
      <p:sp>
        <p:nvSpPr>
          <p:cNvPr id="15" name="shp"/>
          <p:cNvSpPr/>
          <p:nvPr/>
        </p:nvSpPr>
        <p:spPr>
          <a:xfrm>
            <a:off x="8183879" y="210312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E9A83B"/>
          </a:solidFill>
          <a:ln>
            <a:noFill/>
          </a:ln>
          <a:effectLst>
            <a:outerShdw blurRad="279400" dist="127000" dir="5400000" algn="t" rotWithShape="0">
              <a:srgbClr val="000000">
                <a:alpha val="55000"/>
              </a:srgbClr>
            </a:outerShdw>
          </a:effectLst>
          <a:scene3d>
            <a:camera prst="perspectiveFront" fov="2400000">
              <a:rot lat="20160000" lon="540000" rev="0"/>
            </a:camera>
            <a:lightRig rig="threePt" dir="t"/>
          </a:scene3d>
          <a:sp3d extrusionH="101600">
            <a:bevelT w="63500" h="25400" prst="softRound"/>
            <a:extrusionClr>
              <a:srgbClr val="8B642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73152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B  ·  ошибки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«почему пропустили»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4822</a:t>
            </a:r>
          </a:p>
        </p:txBody>
      </p:sp>
      <p:sp>
        <p:nvSpPr>
          <p:cNvPr id="16" name="shp"/>
          <p:cNvSpPr/>
          <p:nvPr/>
        </p:nvSpPr>
        <p:spPr>
          <a:xfrm>
            <a:off x="8732520" y="329184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1F8A7A"/>
          </a:solidFill>
          <a:ln>
            <a:noFill/>
          </a:ln>
          <a:effectLst>
            <a:outerShdw blurRad="279400" dist="127000" dir="5400000" algn="t" rotWithShape="0">
              <a:srgbClr val="000000">
                <a:alpha val="55000"/>
              </a:srgbClr>
            </a:outerShdw>
          </a:effectLst>
          <a:scene3d>
            <a:camera prst="perspectiveFront" fov="2400000">
              <a:rot lat="20400000" lon="360000" rev="0"/>
            </a:camera>
            <a:lightRig rig="threePt" dir="t"/>
          </a:scene3d>
          <a:sp3d extrusionH="101600">
            <a:bevelT w="63500" h="25400" prst="softRound"/>
            <a:extrusionClr>
              <a:srgbClr val="125249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73152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C  ·  деньги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«какую точку выбрать»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4823</a:t>
            </a:r>
          </a:p>
        </p:txBody>
      </p:sp>
      <p:sp>
        <p:nvSpPr>
          <p:cNvPr id="17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F97A3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Мошенничество — это эпизод, а не операция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Сценарий P1 «двухсуточный захват карты» — так его передали бы аналитику</a:t>
            </a:r>
          </a:p>
        </p:txBody>
      </p:sp>
      <p:sp>
        <p:nvSpPr>
          <p:cNvPr id="4" name="shp"/>
          <p:cNvSpPr/>
          <p:nvPr/>
        </p:nvSpPr>
        <p:spPr>
          <a:xfrm>
            <a:off x="640080" y="3063240"/>
            <a:ext cx="10881360" cy="45720"/>
          </a:xfrm>
          <a:prstGeom prst="rect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p"/>
          <p:cNvSpPr/>
          <p:nvPr/>
        </p:nvSpPr>
        <p:spPr>
          <a:xfrm>
            <a:off x="64008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"/>
          <p:cNvSpPr txBox="1"/>
          <p:nvPr/>
        </p:nvSpPr>
        <p:spPr>
          <a:xfrm>
            <a:off x="777240" y="1783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A83B"/>
                </a:solidFill>
                <a:latin typeface="Calibri"/>
              </a:rPr>
              <a:t>Ночь 1 · 00–03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77240" y="2130552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A22"/>
                </a:solidFill>
                <a:latin typeface="Calibri"/>
              </a:rPr>
              <a:t>продукты в магазине ≈ 300 (2–4 раза)
+ АЗС, продукты онлайн ≈ 10</a:t>
            </a:r>
          </a:p>
        </p:txBody>
      </p:sp>
      <p:sp>
        <p:nvSpPr>
          <p:cNvPr id="8" name="shp"/>
          <p:cNvSpPr/>
          <p:nvPr/>
        </p:nvSpPr>
        <p:spPr>
          <a:xfrm>
            <a:off x="1783080" y="2962656"/>
            <a:ext cx="228600" cy="228600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14300" h="11430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p"/>
          <p:cNvSpPr/>
          <p:nvPr/>
        </p:nvSpPr>
        <p:spPr>
          <a:xfrm>
            <a:off x="342900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BE4E0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"/>
          <p:cNvSpPr txBox="1"/>
          <p:nvPr/>
        </p:nvSpPr>
        <p:spPr>
          <a:xfrm>
            <a:off x="3566160" y="1783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6452F"/>
                </a:solidFill>
                <a:latin typeface="Calibri"/>
              </a:rPr>
              <a:t>Вечер 1 · 22–23</a:t>
            </a:r>
          </a:p>
        </p:txBody>
      </p:sp>
      <p:sp>
        <p:nvSpPr>
          <p:cNvPr id="11" name="txt"/>
          <p:cNvSpPr txBox="1"/>
          <p:nvPr/>
        </p:nvSpPr>
        <p:spPr>
          <a:xfrm>
            <a:off x="3566160" y="2130552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A22"/>
                </a:solidFill>
                <a:latin typeface="Calibri"/>
              </a:rPr>
              <a:t>покупки онлайн ≈ 1 000, в магазине ≈ 880,
«разное онлайн» ≈ 800, развлечения ≈ 500</a:t>
            </a:r>
          </a:p>
        </p:txBody>
      </p:sp>
      <p:sp>
        <p:nvSpPr>
          <p:cNvPr id="12" name="shp"/>
          <p:cNvSpPr/>
          <p:nvPr/>
        </p:nvSpPr>
        <p:spPr>
          <a:xfrm>
            <a:off x="4572000" y="2962656"/>
            <a:ext cx="228600" cy="228600"/>
          </a:xfrm>
          <a:prstGeom prst="ellipse">
            <a:avLst/>
          </a:prstGeom>
          <a:solidFill>
            <a:srgbClr val="D6452F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14300" h="11430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hp"/>
          <p:cNvSpPr/>
          <p:nvPr/>
        </p:nvSpPr>
        <p:spPr>
          <a:xfrm>
            <a:off x="621792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"/>
          <p:cNvSpPr txBox="1"/>
          <p:nvPr/>
        </p:nvSpPr>
        <p:spPr>
          <a:xfrm>
            <a:off x="6355080" y="1783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A83B"/>
                </a:solidFill>
                <a:latin typeface="Calibri"/>
              </a:rPr>
              <a:t>Ночь 2 · 00–03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6355080" y="2130552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A22"/>
                </a:solidFill>
                <a:latin typeface="Calibri"/>
              </a:rPr>
              <a:t>снова продукты ≈ 300
+ мелочь ≈ 10–20</a:t>
            </a:r>
          </a:p>
        </p:txBody>
      </p:sp>
      <p:sp>
        <p:nvSpPr>
          <p:cNvPr id="16" name="shp"/>
          <p:cNvSpPr/>
          <p:nvPr/>
        </p:nvSpPr>
        <p:spPr>
          <a:xfrm>
            <a:off x="7360920" y="2962656"/>
            <a:ext cx="228600" cy="228600"/>
          </a:xfrm>
          <a:prstGeom prst="ellipse">
            <a:avLst/>
          </a:prstGeom>
          <a:solidFill>
            <a:srgbClr val="E9A83B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14300" h="11430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hp"/>
          <p:cNvSpPr/>
          <p:nvPr/>
        </p:nvSpPr>
        <p:spPr>
          <a:xfrm>
            <a:off x="900684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BE4E0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"/>
          <p:cNvSpPr txBox="1"/>
          <p:nvPr/>
        </p:nvSpPr>
        <p:spPr>
          <a:xfrm>
            <a:off x="9144000" y="1783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6452F"/>
                </a:solidFill>
                <a:latin typeface="Calibri"/>
              </a:rPr>
              <a:t>Вечер 2 · 22–23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9144000" y="2130552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A22"/>
                </a:solidFill>
                <a:latin typeface="Calibri"/>
              </a:rPr>
              <a:t>снова крупные покупки ≈ 800–1 300
→ конец эпизода</a:t>
            </a:r>
          </a:p>
        </p:txBody>
      </p:sp>
      <p:sp>
        <p:nvSpPr>
          <p:cNvPr id="20" name="shp"/>
          <p:cNvSpPr/>
          <p:nvPr/>
        </p:nvSpPr>
        <p:spPr>
          <a:xfrm>
            <a:off x="10149840" y="2962656"/>
            <a:ext cx="228600" cy="228600"/>
          </a:xfrm>
          <a:prstGeom prst="ellipse">
            <a:avLst/>
          </a:prstGeom>
          <a:solidFill>
            <a:srgbClr val="D6452F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114300" h="11430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xt"/>
          <p:cNvSpPr txBox="1"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B6472"/>
                </a:solidFill>
                <a:latin typeface="Calibri"/>
              </a:rPr>
              <a:t>Начало: </a:t>
            </a:r>
            <a:r>
              <a:rPr sz="1300" b="0">
                <a:solidFill>
                  <a:srgbClr val="5B6472"/>
                </a:solidFill>
                <a:latin typeface="Calibri"/>
              </a:rPr>
              <a:t>в 77% эпизодов — ночью, покупкой продуктов ≈ 300 или АЗС.   </a:t>
            </a:r>
            <a:r>
              <a:rPr sz="1300" b="1">
                <a:solidFill>
                  <a:srgbClr val="5B6472"/>
                </a:solidFill>
                <a:latin typeface="Calibri"/>
              </a:rPr>
              <a:t>Конец: </a:t>
            </a:r>
            <a:r>
              <a:rPr sz="1300" b="0">
                <a:solidFill>
                  <a:srgbClr val="5B6472"/>
                </a:solidFill>
                <a:latin typeface="Calibri"/>
              </a:rPr>
              <a:t>в 93% — вечером вторых суток.   </a:t>
            </a:r>
            <a:r>
              <a:rPr sz="1300" b="1">
                <a:solidFill>
                  <a:srgbClr val="5B6472"/>
                </a:solidFill>
                <a:latin typeface="Calibri"/>
              </a:rPr>
              <a:t>Длительность: </a:t>
            </a:r>
            <a:r>
              <a:rPr sz="1300" b="0">
                <a:solidFill>
                  <a:srgbClr val="5B6472"/>
                </a:solidFill>
                <a:latin typeface="Calibri"/>
              </a:rPr>
              <a:t>медиана 45 ч, ≈ 10 операций</a:t>
            </a:r>
          </a:p>
        </p:txBody>
      </p:sp>
      <p:sp>
        <p:nvSpPr>
          <p:cNvPr id="22" name="shp"/>
          <p:cNvSpPr/>
          <p:nvPr/>
        </p:nvSpPr>
        <p:spPr>
          <a:xfrm>
            <a:off x="640080" y="3840480"/>
            <a:ext cx="3474720" cy="13258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xt"/>
          <p:cNvSpPr txBox="1"/>
          <p:nvPr/>
        </p:nvSpPr>
        <p:spPr>
          <a:xfrm>
            <a:off x="822959" y="39319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8A7A"/>
                </a:solidFill>
                <a:latin typeface="Cambria"/>
              </a:rPr>
              <a:t>99,9%</a:t>
            </a:r>
          </a:p>
        </p:txBody>
      </p:sp>
      <p:sp>
        <p:nvSpPr>
          <p:cNvPr id="24" name="txt"/>
          <p:cNvSpPr txBox="1"/>
          <p:nvPr/>
        </p:nvSpPr>
        <p:spPr>
          <a:xfrm>
            <a:off x="822959" y="44348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эпизодов: ни одной операции самого держателя внутри — карта целиком у мошенника</a:t>
            </a:r>
          </a:p>
        </p:txBody>
      </p:sp>
      <p:sp>
        <p:nvSpPr>
          <p:cNvPr id="25" name="shp"/>
          <p:cNvSpPr/>
          <p:nvPr/>
        </p:nvSpPr>
        <p:spPr>
          <a:xfrm>
            <a:off x="4343400" y="3840480"/>
            <a:ext cx="3474720" cy="13258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xt"/>
          <p:cNvSpPr txBox="1"/>
          <p:nvPr/>
        </p:nvSpPr>
        <p:spPr>
          <a:xfrm>
            <a:off x="4526280" y="39319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Cambria"/>
              </a:rPr>
              <a:t>976 из 999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4526280" y="44348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карт прошли через такой эпизод ровно один раз за 2 года</a:t>
            </a:r>
          </a:p>
        </p:txBody>
      </p:sp>
      <p:sp>
        <p:nvSpPr>
          <p:cNvPr id="28" name="shp"/>
          <p:cNvSpPr/>
          <p:nvPr/>
        </p:nvSpPr>
        <p:spPr>
          <a:xfrm>
            <a:off x="8046719" y="3840480"/>
            <a:ext cx="3474720" cy="13258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xt"/>
          <p:cNvSpPr txBox="1"/>
          <p:nvPr/>
        </p:nvSpPr>
        <p:spPr>
          <a:xfrm>
            <a:off x="8229599" y="39319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A22"/>
                </a:solidFill>
                <a:latin typeface="Cambria"/>
              </a:rPr>
              <a:t>каждый квартал</a:t>
            </a:r>
          </a:p>
        </p:txBody>
      </p:sp>
      <p:sp>
        <p:nvSpPr>
          <p:cNvPr id="30" name="txt"/>
          <p:cNvSpPr txBox="1"/>
          <p:nvPr/>
        </p:nvSpPr>
        <p:spPr>
          <a:xfrm>
            <a:off x="8229599" y="44348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одинаковая форма: 10 операций, ≈ 5 200 у.е., обе волны в 89–96%</a:t>
            </a:r>
          </a:p>
        </p:txBody>
      </p:sp>
      <p:sp>
        <p:nvSpPr>
          <p:cNvPr id="31" name="shp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xt"/>
          <p:cNvSpPr txBox="1"/>
          <p:nvPr/>
        </p:nvSpPr>
        <p:spPr>
          <a:xfrm>
            <a:off x="868680" y="545896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8A7A"/>
                </a:solidFill>
                <a:latin typeface="Calibri"/>
              </a:rPr>
              <a:t>Для аналитика: </a:t>
            </a:r>
            <a:r>
              <a:rPr sz="1500" b="0">
                <a:solidFill>
                  <a:srgbClr val="161A22"/>
                </a:solidFill>
                <a:latin typeface="Calibri"/>
              </a:rPr>
              <a:t>подтвердили одну операцию эпизода — всё, что пройдёт по карте в ближайшие двое суток, тоже мошенничество. Карту нужно блокировать, а не ждать следующих операций.</a:t>
            </a:r>
          </a:p>
        </p:txBody>
      </p:sp>
      <p:sp>
        <p:nvSpPr>
          <p:cNvPr id="33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reports/week2/2_pattern_map.md · эпизод = операции фрода одной карты с паузами &lt; 48 ч (макс. пауза в данных 43 ч)</a:t>
            </a:r>
          </a:p>
        </p:txBody>
      </p:sp>
      <p:sp>
        <p:nvSpPr>
          <p:cNvPr id="34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Карта паттернов: что модель ловит, а что нет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Детекция v1 на valid + holdout → на новом периоде (fraudTest)</a:t>
            </a:r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548640" y="160020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97280"/>
                <a:gridCol w="1371600"/>
                <a:gridCol w="1508760"/>
                <a:gridCol w="169164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Паттерн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Операций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Сумма, у.е.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Модель узнаёт
(p ≥ 0,5)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Отправлено
аналитику, деньги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Итог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P1·в  Вечерняя волна крупных покупок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3 749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2 960 802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98% → 96%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70% → 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8A7A"/>
                          </a:solidFill>
                          <a:latin typeface="Calibri"/>
                        </a:rPr>
                        <a:t>ловится уверенно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P1·н  Ночная волна: продукты ≈ 300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2 105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1 000 441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99% → 98%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44% → 57%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D6452F"/>
                          </a:solidFill>
                          <a:latin typeface="Calibri"/>
                        </a:rPr>
                        <a:t>узнаёт, но не влезает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P1·м  Мелкие сопутствующие &lt; 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1 652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26 846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80% → 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5% → 15%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8F97A3"/>
                          </a:solidFill>
                          <a:latin typeface="Calibri"/>
                        </a:rPr>
                        <a:t>не покрываем сознательно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P2  Тот же захват на новой карте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841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499 421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97% → 97%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75% → 72%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A83B"/>
                          </a:solidFill>
                          <a:latin typeface="Calibri"/>
                        </a:rPr>
                        <a:t>ловится (артефакт)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xt"/>
          <p:cNvSpPr txBox="1"/>
          <p:nvPr/>
        </p:nvSpPr>
        <p:spPr>
          <a:xfrm>
            <a:off x="548640" y="43434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mbria"/>
              </a:rPr>
              <a:t>Проверили и не подтвердили — 7 гипотез</a:t>
            </a:r>
          </a:p>
        </p:txBody>
      </p:sp>
      <p:sp>
        <p:nvSpPr>
          <p:cNvPr id="6" name="txt"/>
          <p:cNvSpPr txBox="1"/>
          <p:nvPr/>
        </p:nvSpPr>
        <p:spPr>
          <a:xfrm>
            <a:off x="548640" y="4754880"/>
            <a:ext cx="5669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✕  тестовое мелкое списание перед крупным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✕  волна атак на много карт сразу (дисперсия/среднее = 1,04)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✕  общий магазин до атаки (p = 0,85)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✕  фрод у отдельных магазинов (χ², p = 0,94)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✕  далеко от дома (78 км у обоих классов)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✕  повторная атака на ту же карту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✕  нарастание сумм внутри эпизода</a:t>
            </a:r>
          </a:p>
        </p:txBody>
      </p:sp>
      <p:sp>
        <p:nvSpPr>
          <p:cNvPr id="7" name="shp"/>
          <p:cNvSpPr/>
          <p:nvPr/>
        </p:nvSpPr>
        <p:spPr>
          <a:xfrm>
            <a:off x="6492240" y="434340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"/>
          <p:cNvSpPr txBox="1"/>
          <p:nvPr/>
        </p:nvSpPr>
        <p:spPr>
          <a:xfrm>
            <a:off x="6720840" y="4462272"/>
            <a:ext cx="47548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A22"/>
                </a:solidFill>
                <a:latin typeface="Calibri"/>
              </a:rPr>
              <a:t>Почему волны — фазы одного сценария, а не разные паттерны? </a:t>
            </a:r>
          </a:p>
          <a:p>
            <a:pPr algn="l"/>
            <a:r>
              <a:rPr sz="1350" b="0">
                <a:solidFill>
                  <a:srgbClr val="5B6472"/>
                </a:solidFill>
                <a:latin typeface="Calibri"/>
              </a:rPr>
              <a:t>Обе волны есть в 93% эпизодов, мелкие операции — в 87%. Если бы это были разные сценарии, они жили бы в разных эпизодах. Отдельными строками они стоят только потому, что модель ловит их по-разному.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reports/week2/2_pattern_map.md, tables/patterns.md, tables/comparison_tables.md</a:t>
            </a:r>
          </a:p>
        </p:txBody>
      </p:sp>
      <p:sp>
        <p:nvSpPr>
          <p:cNvPr id="10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Куда уходят деньги: не в ошибки модели, а в лимит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EB6C4"/>
                </a:solidFill>
                <a:latin typeface="Calibri"/>
              </a:rPr>
              <a:t>Упущенный фрод v1 за 122 дня (valid + holdout): 342 819 у.е.</a:t>
            </a:r>
          </a:p>
        </p:txBody>
      </p:sp>
      <p:sp>
        <p:nvSpPr>
          <p:cNvPr id="4" name="shp"/>
          <p:cNvSpPr/>
          <p:nvPr/>
        </p:nvSpPr>
        <p:spPr>
          <a:xfrm>
            <a:off x="640080" y="1691640"/>
            <a:ext cx="10685495" cy="685800"/>
          </a:xfrm>
          <a:prstGeom prst="rect">
            <a:avLst/>
          </a:prstGeom>
          <a:solidFill>
            <a:srgbClr val="5F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p"/>
          <p:cNvSpPr/>
          <p:nvPr/>
        </p:nvSpPr>
        <p:spPr>
          <a:xfrm>
            <a:off x="11325575" y="1691640"/>
            <a:ext cx="184983" cy="685800"/>
          </a:xfrm>
          <a:prstGeom prst="rect">
            <a:avLst/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p"/>
          <p:cNvSpPr/>
          <p:nvPr/>
        </p:nvSpPr>
        <p:spPr>
          <a:xfrm>
            <a:off x="11510558" y="1691640"/>
            <a:ext cx="109728" cy="685800"/>
          </a:xfrm>
          <a:prstGeom prst="rect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"/>
          <p:cNvSpPr txBox="1"/>
          <p:nvPr/>
        </p:nvSpPr>
        <p:spPr>
          <a:xfrm>
            <a:off x="640080" y="251460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FD0BC"/>
                </a:solidFill>
                <a:latin typeface="Cambria"/>
              </a:rPr>
              <a:t>336 726 у.е. · 98,2% 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модель узнала (обычно p = 1,00), но в этот день не хватило места в лимите</a:t>
            </a:r>
          </a:p>
        </p:txBody>
      </p:sp>
      <p:sp>
        <p:nvSpPr>
          <p:cNvPr id="8" name="txt"/>
          <p:cNvSpPr txBox="1"/>
          <p:nvPr/>
        </p:nvSpPr>
        <p:spPr>
          <a:xfrm>
            <a:off x="8138160" y="251460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A83B"/>
                </a:solidFill>
                <a:latin typeface="Cambria"/>
              </a:rPr>
              <a:t>5 994 · 1,7% 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модель не узнала</a:t>
            </a:r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640080" y="3703320"/>
          <a:ext cx="6035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Нагрузка дня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Деньги остановлены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Упущено, у.е.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A22"/>
                          </a:solidFill>
                          <a:latin typeface="Calibri"/>
                        </a:rPr>
                        <a:t>фрода ≤ лимита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8A7A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61A22"/>
                          </a:solidFill>
                          <a:latin typeface="Calibri"/>
                        </a:rPr>
                        <a:t>447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A22"/>
                          </a:solidFill>
                          <a:latin typeface="Calibri"/>
                        </a:rPr>
                        <a:t>фрода &gt; лимита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61A22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61A22"/>
                          </a:solidFill>
                          <a:latin typeface="Calibri"/>
                        </a:rPr>
                        <a:t>24 453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A22"/>
                          </a:solidFill>
                          <a:latin typeface="Calibri"/>
                        </a:rPr>
                        <a:t>фрода &gt; 2× лимита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D6452F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D6452F"/>
                          </a:solidFill>
                          <a:latin typeface="Calibri"/>
                        </a:rPr>
                        <a:t>317 919  (93% потерь)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p"/>
          <p:cNvSpPr/>
          <p:nvPr/>
        </p:nvSpPr>
        <p:spPr>
          <a:xfrm>
            <a:off x="7040880" y="3703320"/>
            <a:ext cx="4480560" cy="233172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"/>
          <p:cNvSpPr txBox="1"/>
          <p:nvPr/>
        </p:nvSpPr>
        <p:spPr>
          <a:xfrm>
            <a:off x="7269480" y="3840480"/>
            <a:ext cx="411480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mbria"/>
              </a:rPr>
              <a:t>Самая дорогая ошибка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EB6C4"/>
                </a:solidFill>
                <a:latin typeface="Calibri"/>
              </a:rPr>
              <a:t>покупка онлайн 1 124 у.е., 11.03: p = 0,73, но в тот день 22 фрод-операции при лимите 4 — она была 10-й в очереди.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FD0BC"/>
                </a:solidFill>
                <a:latin typeface="Calibri"/>
              </a:rPr>
              <a:t>Признали ограничением лимита, а не модели. Цена закрытия посчитана — на слайде 7.</a:t>
            </a:r>
          </a:p>
        </p:txBody>
      </p:sp>
      <p:sp>
        <p:nvSpPr>
          <p:cNvPr id="12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F97A3"/>
                </a:solidFill>
                <a:latin typeface="Calibri"/>
              </a:rPr>
              <a:t>reports/week2/3_error_analysis.md · tables/errors_tables.md</a:t>
            </a:r>
          </a:p>
        </p:txBody>
      </p:sp>
      <p:sp>
        <p:nvSpPr>
          <p:cNvPr id="13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F97A3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Что показал построчный просмотр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24 пропуска с историей держателя и все 57 ложных срабатываний — то, чего не видно в агрегатах</a:t>
            </a:r>
          </a:p>
        </p:txBody>
      </p:sp>
      <p:sp>
        <p:nvSpPr>
          <p:cNvPr id="4" name="shp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p"/>
          <p:cNvSpPr/>
          <p:nvPr/>
        </p:nvSpPr>
        <p:spPr>
          <a:xfrm>
            <a:off x="548640" y="1828800"/>
            <a:ext cx="82296" cy="17830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"/>
          <p:cNvSpPr txBox="1"/>
          <p:nvPr/>
        </p:nvSpPr>
        <p:spPr>
          <a:xfrm>
            <a:off x="822959" y="181051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8A7A"/>
                </a:solidFill>
                <a:latin typeface="Cambria"/>
              </a:rPr>
              <a:t>Пропуск ≠ ошибка</a:t>
            </a:r>
          </a:p>
        </p:txBody>
      </p:sp>
      <p:sp>
        <p:nvSpPr>
          <p:cNvPr id="7" name="txt"/>
          <p:cNvSpPr txBox="1"/>
          <p:nvPr/>
        </p:nvSpPr>
        <p:spPr>
          <a:xfrm>
            <a:off x="822959" y="228600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A22"/>
                </a:solidFill>
                <a:latin typeface="Calibri"/>
              </a:rPr>
              <a:t>Покупка онлайн 1 067 у.е., p = 1,00. В тот день 31 фрод при лимите 5. Из её эпизода уже проверены 2 операции. Так в 11 из 12 дорогих пропусков: эпизод уже у аналитика.</a:t>
            </a:r>
          </a:p>
        </p:txBody>
      </p:sp>
      <p:sp>
        <p:nvSpPr>
          <p:cNvPr id="8" name="shp"/>
          <p:cNvSpPr/>
          <p:nvPr/>
        </p:nvSpPr>
        <p:spPr>
          <a:xfrm>
            <a:off x="6172200" y="1645920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p"/>
          <p:cNvSpPr/>
          <p:nvPr/>
        </p:nvSpPr>
        <p:spPr>
          <a:xfrm>
            <a:off x="6172200" y="1828800"/>
            <a:ext cx="82296" cy="1783080"/>
          </a:xfrm>
          <a:prstGeom prst="rect">
            <a:avLst/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"/>
          <p:cNvSpPr txBox="1"/>
          <p:nvPr/>
        </p:nvSpPr>
        <p:spPr>
          <a:xfrm>
            <a:off x="6446520" y="181051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9A83B"/>
                </a:solidFill>
                <a:latin typeface="Cambria"/>
              </a:rPr>
              <a:t>Фрод, похожий на обычную покупку</a:t>
            </a:r>
          </a:p>
        </p:txBody>
      </p:sp>
      <p:sp>
        <p:nvSpPr>
          <p:cNvPr id="11" name="txt"/>
          <p:cNvSpPr txBox="1"/>
          <p:nvPr/>
        </p:nvSpPr>
        <p:spPr>
          <a:xfrm>
            <a:off x="6446520" y="228600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A22"/>
                </a:solidFill>
                <a:latin typeface="Calibri"/>
              </a:rPr>
              <a:t>Товары для дома 220 у.е. днём: среди похожих операций фрода 0 из 1 402. Кафе 140 у.е.: 0 из 2 871. По одной строке не отличить — только по окружению в эпизоде.</a:t>
            </a:r>
          </a:p>
        </p:txBody>
      </p:sp>
      <p:sp>
        <p:nvSpPr>
          <p:cNvPr id="12" name="shp"/>
          <p:cNvSpPr/>
          <p:nvPr/>
        </p:nvSpPr>
        <p:spPr>
          <a:xfrm>
            <a:off x="548640" y="3977639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FBE4E0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hp"/>
          <p:cNvSpPr/>
          <p:nvPr/>
        </p:nvSpPr>
        <p:spPr>
          <a:xfrm>
            <a:off x="548640" y="4160520"/>
            <a:ext cx="82296" cy="1783080"/>
          </a:xfrm>
          <a:prstGeom prst="rect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"/>
          <p:cNvSpPr txBox="1"/>
          <p:nvPr/>
        </p:nvSpPr>
        <p:spPr>
          <a:xfrm>
            <a:off x="822959" y="4142231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6452F"/>
                </a:solidFill>
                <a:latin typeface="Cambria"/>
              </a:rPr>
              <a:t>Ложные: устойчивый тип клиента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822959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A22"/>
                </a:solidFill>
                <a:latin typeface="Calibri"/>
              </a:rPr>
              <a:t>Крупная покупка онлайн 600–1 500 у.е. ночью: 33 из 57. p ≈ 0,3 при сумме 1 000 → проверка выгодна заранее (≈ 300 у.е.). Калибровка честная: предсказано 0,38, на деле 0,37.</a:t>
            </a:r>
          </a:p>
        </p:txBody>
      </p:sp>
      <p:sp>
        <p:nvSpPr>
          <p:cNvPr id="16" name="shp"/>
          <p:cNvSpPr/>
          <p:nvPr/>
        </p:nvSpPr>
        <p:spPr>
          <a:xfrm>
            <a:off x="6172200" y="3977639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hp"/>
          <p:cNvSpPr/>
          <p:nvPr/>
        </p:nvSpPr>
        <p:spPr>
          <a:xfrm>
            <a:off x="6172200" y="4160520"/>
            <a:ext cx="82296" cy="1783080"/>
          </a:xfrm>
          <a:prstGeom prst="rect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"/>
          <p:cNvSpPr txBox="1"/>
          <p:nvPr/>
        </p:nvSpPr>
        <p:spPr>
          <a:xfrm>
            <a:off x="6446520" y="4142231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61A22"/>
                </a:solidFill>
                <a:latin typeface="Cambria"/>
              </a:rPr>
              <a:t>Артефакт данных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6446520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A22"/>
                </a:solidFill>
                <a:latin typeface="Calibri"/>
              </a:rPr>
              <a:t>У части пропусков нет истории. Проверили: каждая карта, появившаяся в середине периода, начинается с мошенничества — 71 из 71. Модель могла этому выучиться.</a:t>
            </a:r>
          </a:p>
        </p:txBody>
      </p:sp>
      <p:sp>
        <p:nvSpPr>
          <p:cNvPr id="20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tables/missed_review.md · tables/fp_review.md</a:t>
            </a:r>
          </a:p>
        </p:txBody>
      </p:sp>
      <p:sp>
        <p:nvSpPr>
          <p:cNvPr id="21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v2: признаки под паттерн и контроль регрессий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Блок E «эпизод захвата карты» — окно 48 ч, по длине эпизода</a:t>
            </a:r>
          </a:p>
        </p:txBody>
      </p:sp>
      <p:sp>
        <p:nvSpPr>
          <p:cNvPr id="4" name="txt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Вошли в v2 (3 из 8, отбор по одному на valid)</a:t>
            </a:r>
          </a:p>
        </p:txBody>
      </p:sp>
      <p:sp>
        <p:nvSpPr>
          <p:cNvPr id="5" name="shp"/>
          <p:cNvSpPr/>
          <p:nvPr/>
        </p:nvSpPr>
        <p:spPr>
          <a:xfrm>
            <a:off x="548640" y="2011680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"/>
          <p:cNvSpPr txBox="1"/>
          <p:nvPr/>
        </p:nvSpPr>
        <p:spPr>
          <a:xfrm>
            <a:off x="731520" y="207568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A22"/>
                </a:solidFill>
                <a:latin typeface="Consolas"/>
              </a:rPr>
              <a:t>e_h_since_big</a:t>
            </a:r>
          </a:p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сколько часов назад по карте была крупная операция</a:t>
            </a:r>
          </a:p>
        </p:txBody>
      </p:sp>
      <p:sp>
        <p:nvSpPr>
          <p:cNvPr id="7" name="shp"/>
          <p:cNvSpPr/>
          <p:nvPr/>
        </p:nvSpPr>
        <p:spPr>
          <a:xfrm>
            <a:off x="548640" y="2724912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"/>
          <p:cNvSpPr txBox="1"/>
          <p:nvPr/>
        </p:nvSpPr>
        <p:spPr>
          <a:xfrm>
            <a:off x="731520" y="27889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A22"/>
                </a:solidFill>
                <a:latin typeface="Consolas"/>
              </a:rPr>
              <a:t>e_usual_ratio</a:t>
            </a:r>
          </a:p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обычные покупки клиента за 48 ч / его привычный темп</a:t>
            </a:r>
          </a:p>
        </p:txBody>
      </p:sp>
      <p:sp>
        <p:nvSpPr>
          <p:cNvPr id="9" name="shp"/>
          <p:cNvSpPr/>
          <p:nvPr/>
        </p:nvSpPr>
        <p:spPr>
          <a:xfrm>
            <a:off x="548640" y="3438144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"/>
          <p:cNvSpPr txBox="1"/>
          <p:nvPr/>
        </p:nvSpPr>
        <p:spPr>
          <a:xfrm>
            <a:off x="731520" y="35021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A22"/>
                </a:solidFill>
                <a:latin typeface="Consolas"/>
              </a:rPr>
              <a:t>e_usual_48h</a:t>
            </a:r>
          </a:p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сколько обычных покупок было за 48 ч</a:t>
            </a:r>
          </a:p>
        </p:txBody>
      </p:sp>
      <p:sp>
        <p:nvSpPr>
          <p:cNvPr id="11" name="txt"/>
          <p:cNvSpPr txBox="1"/>
          <p:nvPr/>
        </p:nvSpPr>
        <p:spPr>
          <a:xfrm>
            <a:off x="548640" y="420624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A22"/>
                </a:solidFill>
                <a:latin typeface="Calibri"/>
              </a:rPr>
              <a:t>Почему 48 ч, а не сессии блока B: </a:t>
            </a:r>
            <a:r>
              <a:rPr sz="1300" b="0">
                <a:solidFill>
                  <a:srgbClr val="5B6472"/>
                </a:solidFill>
                <a:latin typeface="Calibri"/>
              </a:rPr>
              <a:t>между ночной и вечерней волной пауза до 20 ч — сессия «паузa &gt; 3 ч» рвёт эпизод пополам. Отклонены: ночные за 48 ч, сумма за 48 ч, крупные за 48 ч (вклад &lt; 0).</a:t>
            </a:r>
          </a:p>
        </p:txBody>
      </p:sp>
      <p:graphicFrame>
        <p:nvGraphicFramePr>
          <p:cNvPr id="12" name="tbl"/>
          <p:cNvGraphicFramePr>
            <a:graphicFrameLocks noGrp="1"/>
          </p:cNvGraphicFramePr>
          <p:nvPr/>
        </p:nvGraphicFramePr>
        <p:xfrm>
          <a:off x="6172200" y="16002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37160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Набор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v2 − v1, у.е.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90% интервал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Ложных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valid (выбирали)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+784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[−21; +1 739]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27 → 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holdout (своя оценка)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D6452F"/>
                          </a:solidFill>
                          <a:latin typeface="Calibri"/>
                        </a:rPr>
                        <a:t>−2 103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[−4 823; +242]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30 → 37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61A22"/>
                          </a:solidFill>
                          <a:latin typeface="Calibri"/>
                        </a:rPr>
                        <a:t>приёмка, fraudTest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8A7A"/>
                          </a:solidFill>
                          <a:latin typeface="Calibri"/>
                        </a:rPr>
                        <a:t>+3 462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61A22"/>
                          </a:solidFill>
                          <a:latin typeface="Calibri"/>
                        </a:rPr>
                        <a:t>[+55; +7 287]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61A22"/>
                          </a:solidFill>
                          <a:latin typeface="Calibri"/>
                        </a:rPr>
                        <a:t>167 → 174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p"/>
          <p:cNvSpPr/>
          <p:nvPr/>
        </p:nvSpPr>
        <p:spPr>
          <a:xfrm>
            <a:off x="6172200" y="3657600"/>
            <a:ext cx="2651760" cy="2514600"/>
          </a:xfrm>
          <a:prstGeom prst="roundRect">
            <a:avLst>
              <a:gd name="adj" fmla="val 7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"/>
          <p:cNvSpPr txBox="1"/>
          <p:nvPr/>
        </p:nvSpPr>
        <p:spPr>
          <a:xfrm>
            <a:off x="6355080" y="3767328"/>
            <a:ext cx="2331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8A7A"/>
                </a:solidFill>
                <a:latin typeface="Cambria"/>
              </a:rPr>
              <a:t>Лучше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вечерняя волна: упущено на 3 366 у.е. меньше; декабрь 96,9% → 98,1% потолка</a:t>
            </a:r>
          </a:p>
        </p:txBody>
      </p:sp>
      <p:sp>
        <p:nvSpPr>
          <p:cNvPr id="15" name="shp"/>
          <p:cNvSpPr/>
          <p:nvPr/>
        </p:nvSpPr>
        <p:spPr>
          <a:xfrm>
            <a:off x="9006840" y="3657600"/>
            <a:ext cx="2651760" cy="2514600"/>
          </a:xfrm>
          <a:prstGeom prst="roundRect">
            <a:avLst>
              <a:gd name="adj" fmla="val 7000"/>
            </a:avLst>
          </a:prstGeom>
          <a:solidFill>
            <a:srgbClr val="FBE4E0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"/>
          <p:cNvSpPr txBox="1"/>
          <p:nvPr/>
        </p:nvSpPr>
        <p:spPr>
          <a:xfrm>
            <a:off x="9189720" y="3767328"/>
            <a:ext cx="2331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6452F"/>
                </a:solidFill>
                <a:latin typeface="Cambria"/>
              </a:rPr>
              <a:t>Хуже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честные клиенты с несколькими крупными покупками подряд: +7 задержанных за полгода (600–1 000 у.е.: 58 → 80)</a:t>
            </a:r>
          </a:p>
        </p:txBody>
      </p:sp>
      <p:sp>
        <p:nvSpPr>
          <p:cNvPr id="17" name="txt"/>
          <p:cNvSpPr txBox="1"/>
          <p:nvPr/>
        </p:nvSpPr>
        <p:spPr>
          <a:xfrm>
            <a:off x="548640" y="544068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1A22"/>
                </a:solidFill>
                <a:latin typeface="Calibri"/>
              </a:rPr>
              <a:t>Механизм проверен построчно: </a:t>
            </a:r>
            <a:r>
              <a:rPr sz="1250" b="0">
                <a:solidFill>
                  <a:srgbClr val="5B6472"/>
                </a:solidFill>
                <a:latin typeface="Calibri"/>
              </a:rPr>
              <a:t>v2 убрала 17 ложных — одиночные покупки (165 ч с прошлой крупной), добавила 26 — покупки через часы после крупной (30 ч).</a:t>
            </a:r>
          </a:p>
        </p:txBody>
      </p:sp>
      <p:sp>
        <p:nvSpPr>
          <p:cNvPr id="18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reports/week2/3_error_analysis.md, разделы 7–8 · reports/experiments.csv</a:t>
            </a:r>
          </a:p>
        </p:txBody>
      </p:sp>
      <p:sp>
        <p:nvSpPr>
          <p:cNvPr id="19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Чувствительность, специфичность и рабочая точка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v2 на приёмке (fraudTest, 194 дня): что даёт каждый уровень лимита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56692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xt"/>
          <p:cNvSpPr txBox="1"/>
          <p:nvPr/>
        </p:nvSpPr>
        <p:spPr>
          <a:xfrm>
            <a:off x="640080" y="4617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472"/>
                </a:solidFill>
                <a:latin typeface="Calibri"/>
              </a:rPr>
              <a:t>лимит аналитиков, % операций в сутки  ·  рабочая точка — 0,3%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6400800" y="146304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1005840"/>
                <a:gridCol w="685800"/>
                <a:gridCol w="868680"/>
                <a:gridCol w="82296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Лимит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Проверок
в сутки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Честных задержано
в месяц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Фрод по
деньгам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Специфич-
ность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Спасено
в месяц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8A7A"/>
                          </a:solidFill>
                          <a:latin typeface="Calibri"/>
                        </a:rPr>
                        <a:t>0,3% (сейчас)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61A22"/>
                          </a:solidFill>
                          <a:latin typeface="Calibri"/>
                        </a:rPr>
                        <a:t>6,5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61A22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61A22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61A22"/>
                          </a:solidFill>
                          <a:latin typeface="Calibri"/>
                        </a:rPr>
                        <a:t>99,969%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61A22"/>
                          </a:solidFill>
                          <a:latin typeface="Calibri"/>
                        </a:rPr>
                        <a:t>131 тыс.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0,5%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9,2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99,951%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159 тыс.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0,75%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10,9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99,939%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171 тыс.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11,7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99,935%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A22"/>
                          </a:solidFill>
                          <a:latin typeface="Calibri"/>
                        </a:rPr>
                        <a:t>174 тыс.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shp"/>
          <p:cNvSpPr/>
          <p:nvPr/>
        </p:nvSpPr>
        <p:spPr>
          <a:xfrm>
            <a:off x="6400800" y="4206240"/>
            <a:ext cx="5303520" cy="1051560"/>
          </a:xfrm>
          <a:prstGeom prst="roundRect">
            <a:avLst>
              <a:gd name="adj" fmla="val 8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"/>
          <p:cNvSpPr txBox="1"/>
          <p:nvPr/>
        </p:nvSpPr>
        <p:spPr>
          <a:xfrm>
            <a:off x="6583680" y="4279392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8A7A"/>
                </a:solidFill>
                <a:latin typeface="Calibri"/>
              </a:rPr>
              <a:t>Решает руководитель мониторинга </a:t>
            </a:r>
            <a:r>
              <a:rPr sz="1250" b="0">
                <a:solidFill>
                  <a:srgbClr val="161A22"/>
                </a:solidFill>
                <a:latin typeface="Calibri"/>
              </a:rPr>
              <a:t>вместе с риск-менеджментом. Мы даём таблицу «аналитики → деньги → звонки честным». Рекомендация: 0,5–0,75%. Одна проверка стоит 3 у.е., а спасает 150–340.</a:t>
            </a:r>
          </a:p>
        </p:txBody>
      </p:sp>
      <p:sp>
        <p:nvSpPr>
          <p:cNvPr id="9" name="shp"/>
          <p:cNvSpPr/>
          <p:nvPr/>
        </p:nvSpPr>
        <p:spPr>
          <a:xfrm>
            <a:off x="457200" y="5120640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FCF0DA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"/>
          <p:cNvSpPr txBox="1"/>
          <p:nvPr/>
        </p:nvSpPr>
        <p:spPr>
          <a:xfrm>
            <a:off x="640080" y="5193792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1A22"/>
                </a:solidFill>
                <a:latin typeface="Calibri"/>
              </a:rPr>
              <a:t>Специфичность 99,7% — это «пол», а не качество. </a:t>
            </a:r>
            <a:r>
              <a:rPr sz="1250" b="0">
                <a:solidFill>
                  <a:srgbClr val="5B6472"/>
                </a:solidFill>
                <a:latin typeface="Calibri"/>
              </a:rPr>
              <a:t>Честных 99,6%, проверяем ≤ 0,3% — даже если все проверки зря, она ≥ 99,7%. Информативно: 0,9 честного клиента в сутки и точность 86%.</a:t>
            </a:r>
          </a:p>
        </p:txBody>
      </p:sp>
      <p:sp>
        <p:nvSpPr>
          <p:cNvPr id="11" name="shp"/>
          <p:cNvSpPr/>
          <p:nvPr/>
        </p:nvSpPr>
        <p:spPr>
          <a:xfrm>
            <a:off x="6400800" y="5394960"/>
            <a:ext cx="5303520" cy="868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"/>
          <p:cNvSpPr txBox="1"/>
          <p:nvPr/>
        </p:nvSpPr>
        <p:spPr>
          <a:xfrm>
            <a:off x="6583680" y="5468112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1A22"/>
                </a:solidFill>
                <a:latin typeface="Calibri"/>
              </a:rPr>
              <a:t>Чувствительность в штуках упирается в лимит: </a:t>
            </a:r>
            <a:r>
              <a:rPr sz="1250" b="0">
                <a:solidFill>
                  <a:srgbClr val="5B6472"/>
                </a:solidFill>
                <a:latin typeface="Calibri"/>
              </a:rPr>
              <a:t>мест 1 574 на 2 145 фрод-операций → максимум 54%, у нас 51%. Смотрим деньги.</a:t>
            </a:r>
          </a:p>
        </p:txBody>
      </p:sp>
      <p:sp>
        <p:nvSpPr>
          <p:cNvPr id="13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reports/week2/5_sens_spec.md · tables/sens_spec_final_v2_test.md</a:t>
            </a:r>
          </a:p>
        </p:txBody>
      </p:sp>
      <p:sp>
        <p:nvSpPr>
          <p:cNvPr id="14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v1 против v2 на новом периоде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fraudTest: 21.06–31.12.2020, 555 719 операций, 0,39% фрода — не использовался ни в первой приёмке, ни в разработке</a:t>
            </a:r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548640" y="1554480"/>
          <a:ext cx="1106424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371600"/>
                <a:gridCol w="1371600"/>
                <a:gridCol w="530352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Было (v1)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Стало (v2)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 счёт чего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Экономия, у.е.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830 484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8A7A"/>
                          </a:solidFill>
                          <a:latin typeface="Calibri"/>
                        </a:rPr>
                        <a:t>833 947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вечерняя волна: «крупная операция была недавно»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Доля от лучшего возможного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97,6%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8A7A"/>
                          </a:solidFill>
                          <a:latin typeface="Calibri"/>
                        </a:rPr>
                        <a:t>98,0%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то же; декабрь 96,9% → 98,1%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Точность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86,7%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86,2%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+7 честных «серий крупных покупок»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Чувствительность, деньги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73,5%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73,8%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чаще выбираются дорогие операции эпизода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Задержано честных в сутки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0,86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0,90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то же, что точность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Эпизодов с проверкой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96,8%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97,2%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окно 48 ч видит эпизод целиком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Деньги эпизодов до 1-й проверки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118 417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8A7A"/>
                          </a:solidFill>
                          <a:latin typeface="Calibri"/>
                        </a:rPr>
                        <a:t>111 683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61A22"/>
                          </a:solidFill>
                          <a:latin typeface="Calibri"/>
                        </a:rPr>
                        <a:t>эпизод попадает к аналитику раньше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p"/>
          <p:cNvSpPr/>
          <p:nvPr/>
        </p:nvSpPr>
        <p:spPr>
          <a:xfrm>
            <a:off x="548640" y="5166360"/>
            <a:ext cx="5669280" cy="1097280"/>
          </a:xfrm>
          <a:prstGeom prst="roundRect">
            <a:avLst>
              <a:gd name="adj" fmla="val 8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"/>
          <p:cNvSpPr txBox="1"/>
          <p:nvPr/>
        </p:nvSpPr>
        <p:spPr>
          <a:xfrm>
            <a:off x="777240" y="5239512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8A7A"/>
                </a:solidFill>
                <a:latin typeface="Calibri"/>
              </a:rPr>
              <a:t>Расхождение «своя оценка ↔ приёмка»</a:t>
            </a:r>
          </a:p>
          <a:p>
            <a:pPr algn="l"/>
            <a:r>
              <a:rPr sz="1400" b="0">
                <a:solidFill>
                  <a:srgbClr val="161A22"/>
                </a:solidFill>
                <a:latin typeface="Calibri"/>
              </a:rPr>
              <a:t>доля от лучшего: v1 −1,1 п.п. → v2 </a:t>
            </a:r>
            <a:r>
              <a:rPr sz="1400" b="1">
                <a:solidFill>
                  <a:srgbClr val="1F8A7A"/>
                </a:solidFill>
                <a:latin typeface="Calibri"/>
              </a:rPr>
              <a:t>0,0 п.п.</a:t>
            </a:r>
            <a:r>
              <a:rPr sz="1400" b="0">
                <a:solidFill>
                  <a:srgbClr val="161A22"/>
                </a:solidFill>
                <a:latin typeface="Calibri"/>
              </a:rPr>
              <a:t>  ·  точность: −5,9 → −4,8 п.п.</a:t>
            </a:r>
          </a:p>
        </p:txBody>
      </p:sp>
      <p:sp>
        <p:nvSpPr>
          <p:cNvPr id="7" name="shp"/>
          <p:cNvSpPr/>
          <p:nvPr/>
        </p:nvSpPr>
        <p:spPr>
          <a:xfrm>
            <a:off x="6400800" y="5166360"/>
            <a:ext cx="5212080" cy="1097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"/>
          <p:cNvSpPr txBox="1"/>
          <p:nvPr/>
        </p:nvSpPr>
        <p:spPr>
          <a:xfrm>
            <a:off x="6583680" y="5239512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A22"/>
                </a:solidFill>
                <a:latin typeface="Calibri"/>
              </a:rPr>
              <a:t>Обе версии — тем же score.py, на тех же строках. </a:t>
            </a:r>
            <a:r>
              <a:rPr sz="1300" b="0">
                <a:solidFill>
                  <a:srgbClr val="5B6472"/>
                </a:solidFill>
                <a:latin typeface="Calibri"/>
              </a:rPr>
              <a:t>Интервал разницы по дням [+55; +7 287] — улучшение небольшое, но механизм объяснён.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reports/week2/6_comparison.md · experiments/w2_compare.py</a:t>
            </a:r>
          </a:p>
        </p:txBody>
      </p:sp>
      <p:sp>
        <p:nvSpPr>
          <p:cNvPr id="10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Ответы на замечания преподавателя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Группы риска теперь печатает сама программа — пример: score.py на fraudTest (v2)</a:t>
            </a:r>
          </a:p>
        </p:txBody>
      </p:sp>
      <p:sp>
        <p:nvSpPr>
          <p:cNvPr id="4" name="shp"/>
          <p:cNvSpPr/>
          <p:nvPr/>
        </p:nvSpPr>
        <p:spPr>
          <a:xfrm>
            <a:off x="548640" y="1554480"/>
            <a:ext cx="5760720" cy="3063240"/>
          </a:xfrm>
          <a:prstGeom prst="roundRect">
            <a:avLst>
              <a:gd name="adj" fmla="val 4000"/>
            </a:avLst>
          </a:prstGeom>
          <a:solidFill>
            <a:srgbClr val="14171F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"/>
          <p:cNvSpPr txBox="1"/>
          <p:nvPr/>
        </p:nvSpPr>
        <p:spPr>
          <a:xfrm>
            <a:off x="777240" y="1691640"/>
            <a:ext cx="53949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D0BC"/>
                </a:solidFill>
                <a:latin typeface="Consolas"/>
              </a:rPr>
              <a:t>Группы риска (по вероятности мошенничества):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ВЫСОКИЙ (p ≥ 0,90) «точно мошенник»    1 912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СРЕДНИЙ (0,10–0,90) «подозрительно»      668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НИЗКИЙ  (p &lt; 0,10) «не мошенник»     553 139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Рисковых: 13,3 в день · отправлено: 6,5 в день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5FD0BC"/>
                </a:solidFill>
                <a:latin typeface="Consolas"/>
              </a:rPr>
              <a:t>Сверка с ответами: мошеннических 2 145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в группе «высокий»   1 889  (88,1%)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в группе «средний»     197   (9,2%)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в группе «низкий»       59   (2,8%)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Отправлено 1 264, из них мошенников 1 090 (86%)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6537960" y="1554480"/>
          <a:ext cx="512064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88036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Замечание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Ответ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Группы: точно / средне / не мошенник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src/risk.py, сводка при каждом запуске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Из скольких рисковых помечаем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13,3 рисковых в день → 6,5 проверок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Сколько рисковых среди плохих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97% фрода — рисковые, отправлено 51%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Метрика PR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PR-AUC 0,972 (у случайной — 0,004)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Баланс плохих и хороших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0,39% фрода, 1 на 259; веса вместо SMOTE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«Точно 7 аналитиков?»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7 проверок в день (0,3% от ≈ 2 500), не 7 человек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Откуда 328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потолок: провидец при том же лимите; мы 323 389 = 98,65%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Почему не LogReg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A22"/>
                          </a:solidFill>
                          <a:latin typeface="Calibri"/>
                        </a:rPr>
                        <a:t>не видит «ночь И продукты И 300»: −26 тыс., PR-AUC 0,87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shp"/>
          <p:cNvSpPr/>
          <p:nvPr/>
        </p:nvSpPr>
        <p:spPr>
          <a:xfrm>
            <a:off x="548640" y="4846320"/>
            <a:ext cx="5760720" cy="1417320"/>
          </a:xfrm>
          <a:prstGeom prst="roundRect">
            <a:avLst>
              <a:gd name="adj" fmla="val 8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"/>
          <p:cNvSpPr txBox="1"/>
          <p:nvPr/>
        </p:nvSpPr>
        <p:spPr>
          <a:xfrm>
            <a:off x="777240" y="4937760"/>
            <a:ext cx="5349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8A7A"/>
                </a:solidFill>
                <a:latin typeface="Calibri"/>
              </a:rPr>
              <a:t>Формула выбора: </a:t>
            </a:r>
            <a:r>
              <a:rPr sz="1300" b="1">
                <a:solidFill>
                  <a:srgbClr val="161A22"/>
                </a:solidFill>
                <a:latin typeface="Consolas"/>
              </a:rPr>
              <a:t>EV = p · (сумма + 5) − 3 − (1 − p) · 25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Группа — подпись для людей. К аналитику идут операции с наибольшей EV: покупка на 1 000 из средней группы важнее покупки на 20 из высокой.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reports/week2/1_remarks.md · tables/remarks_tables.md · tables/remarks_pr_curve.png</a:t>
            </a:r>
          </a:p>
        </p:txBody>
      </p:sp>
      <p:sp>
        <p:nvSpPr>
          <p:cNvPr id="10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A22"/>
                </a:solidFill>
                <a:latin typeface="Cambria"/>
              </a:rPr>
              <a:t>Где решение откажет первым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Стресс-тесты v2 на fraudTest: доля от лучшего возможного при лимите 0,3%</a:t>
            </a:r>
          </a:p>
        </p:txBody>
      </p:sp>
      <p:graphicFrame>
        <p:nvGraphicFramePr>
          <p:cNvPr id="4" name="chart"/>
          <p:cNvGraphicFramePr>
            <a:graphicFrameLocks noGrp="1"/>
          </p:cNvGraphicFramePr>
          <p:nvPr/>
        </p:nvGraphicFramePr>
        <p:xfrm>
          <a:off x="457200" y="146304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bl"/>
          <p:cNvGraphicFramePr>
            <a:graphicFrameLocks noGrp="1"/>
          </p:cNvGraphicFramePr>
          <p:nvPr/>
        </p:nvGraphicFramePr>
        <p:xfrm>
          <a:off x="6766560" y="1463040"/>
          <a:ext cx="4937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Условие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Что происходит</a:t>
                      </a:r>
                    </a:p>
                  </a:txBody>
                  <a:tcPr marL="73152" marR="73152" marT="27432" marB="27432" anchor="ctr"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Сдвиг времени +3 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D6452F"/>
                          </a:solidFill>
                          <a:latin typeface="Calibri"/>
                        </a:rPr>
                        <a:t>−13 п.п., ложных ×3,2 — отказ №1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Фрода ×3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лимит 0,3%: остаётся 27% убытка; 1%: 2%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Суммы ×1,5 (рынок)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−3 п.п., ложных ×3,3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Нет истории карт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−0,8 п.п., ложных +56%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Новые честные карты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к аналитику в 2,4 раза чаще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Декабрь (сезон)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61A22"/>
                          </a:solidFill>
                          <a:latin typeface="Calibri"/>
                        </a:rPr>
                        <a:t>ложных 1,77 в сутки вместо 0,5–0,9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shp"/>
          <p:cNvSpPr/>
          <p:nvPr/>
        </p:nvSpPr>
        <p:spPr>
          <a:xfrm>
            <a:off x="6766560" y="484632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algn="t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"/>
          <p:cNvSpPr txBox="1"/>
          <p:nvPr/>
        </p:nvSpPr>
        <p:spPr>
          <a:xfrm>
            <a:off x="6949440" y="4937760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1A22"/>
                </a:solidFill>
                <a:latin typeface="Calibri"/>
              </a:rPr>
              <a:t>Если автора нет месяц: </a:t>
            </a:r>
            <a:r>
              <a:rPr sz="1250" b="0">
                <a:solidFill>
                  <a:srgbClr val="5B6472"/>
                </a:solidFill>
                <a:latin typeface="Calibri"/>
              </a:rPr>
              <a:t>история карт не пополняется, калибровка стареет при сдвиге доли фрода, лимит в потоке требует суточного счётчика. Что мониторить каждый день — в оценке решения.</a:t>
            </a:r>
          </a:p>
        </p:txBody>
      </p:sp>
      <p:sp>
        <p:nvSpPr>
          <p:cNvPr id="8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FCA"/>
                </a:solidFill>
                <a:latin typeface="Calibri"/>
              </a:rPr>
              <a:t>reports/week2/4_solution_evaluation.md · tables/stress_v2.md</a:t>
            </a:r>
          </a:p>
        </p:txBody>
      </p:sp>
      <p:sp>
        <p:nvSpPr>
          <p:cNvPr id="9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Итог и что мы предлагаем банку</a:t>
            </a:r>
          </a:p>
        </p:txBody>
      </p:sp>
      <p:sp>
        <p:nvSpPr>
          <p:cNvPr id="3" name="shp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1F2431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51460" h="25146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t"/>
          <p:cNvSpPr txBox="1"/>
          <p:nvPr/>
        </p:nvSpPr>
        <p:spPr>
          <a:xfrm>
            <a:off x="640080" y="134416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5FD0BC"/>
                </a:solidFill>
                <a:latin typeface="Cambria"/>
              </a:rPr>
              <a:t>1</a:t>
            </a:r>
          </a:p>
        </p:txBody>
      </p:sp>
      <p:sp>
        <p:nvSpPr>
          <p:cNvPr id="5" name="txt"/>
          <p:cNvSpPr txBox="1"/>
          <p:nvPr/>
        </p:nvSpPr>
        <p:spPr>
          <a:xfrm>
            <a:off x="1371600" y="1234440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FD0BC"/>
                </a:solidFill>
                <a:latin typeface="Calibri"/>
              </a:rPr>
              <a:t>Структура. </a:t>
            </a:r>
            <a:r>
              <a:rPr sz="1500" b="0">
                <a:solidFill>
                  <a:srgbClr val="FFFFFF"/>
                </a:solidFill>
                <a:latin typeface="Calibri"/>
              </a:rPr>
              <a:t>Один устойчивый сценарий — двухсуточный захват карты. Вечерняя волна ловится уверенно, ночная узнаётся, но не влезает в лимит, мелочь не покрываем сознательно. 7 гипотез отвергнуто.</a:t>
            </a:r>
          </a:p>
        </p:txBody>
      </p:sp>
      <p:sp>
        <p:nvSpPr>
          <p:cNvPr id="6" name="shp"/>
          <p:cNvSpPr/>
          <p:nvPr/>
        </p:nvSpPr>
        <p:spPr>
          <a:xfrm>
            <a:off x="640080" y="2377439"/>
            <a:ext cx="502920" cy="502920"/>
          </a:xfrm>
          <a:prstGeom prst="ellipse">
            <a:avLst/>
          </a:prstGeom>
          <a:solidFill>
            <a:srgbClr val="1F2431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51460" h="25146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"/>
          <p:cNvSpPr txBox="1"/>
          <p:nvPr/>
        </p:nvSpPr>
        <p:spPr>
          <a:xfrm>
            <a:off x="640080" y="244144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9A83B"/>
                </a:solidFill>
                <a:latin typeface="Cambria"/>
              </a:rPr>
              <a:t>2</a:t>
            </a:r>
          </a:p>
        </p:txBody>
      </p:sp>
      <p:sp>
        <p:nvSpPr>
          <p:cNvPr id="8" name="txt"/>
          <p:cNvSpPr txBox="1"/>
          <p:nvPr/>
        </p:nvSpPr>
        <p:spPr>
          <a:xfrm>
            <a:off x="1371600" y="2331720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A83B"/>
                </a:solidFill>
                <a:latin typeface="Calibri"/>
              </a:rPr>
              <a:t>Ошибки. </a:t>
            </a:r>
            <a:r>
              <a:rPr sz="1500" b="0">
                <a:solidFill>
                  <a:srgbClr val="FFFFFF"/>
                </a:solidFill>
                <a:latin typeface="Calibri"/>
              </a:rPr>
              <a:t>98% упущенных денег — лимит, а не модель. Решение отказывает в «тяжёлые» дни (93% потерь) и при сдвиге времени.</a:t>
            </a:r>
          </a:p>
        </p:txBody>
      </p:sp>
      <p:sp>
        <p:nvSpPr>
          <p:cNvPr id="9" name="shp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1F2431"/>
          </a:solidFill>
          <a:ln>
            <a:noFill/>
          </a:ln>
          <a:effectLst>
            <a:outerShdw blurRad="127000" dist="50800" dir="5400000" algn="t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251460" h="251460" prst="circ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"/>
          <p:cNvSpPr txBox="1"/>
          <p:nvPr/>
        </p:nvSpPr>
        <p:spPr>
          <a:xfrm>
            <a:off x="640080" y="353872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xt"/>
          <p:cNvSpPr txBox="1"/>
          <p:nvPr/>
        </p:nvSpPr>
        <p:spPr>
          <a:xfrm>
            <a:off x="1371600" y="3429000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v2. </a:t>
            </a:r>
            <a:r>
              <a:rPr sz="1500" b="0">
                <a:solidFill>
                  <a:srgbClr val="FFFFFF"/>
                </a:solidFill>
                <a:latin typeface="Calibri"/>
              </a:rPr>
              <a:t>+3 462 у.е. на новом периоде, расхождение с оценкой 1,1 → 0,0 п.п. Цена: +7 задержанных честных за полгода.</a:t>
            </a:r>
          </a:p>
        </p:txBody>
      </p:sp>
      <p:sp>
        <p:nvSpPr>
          <p:cNvPr id="12" name="shp"/>
          <p:cNvSpPr/>
          <p:nvPr/>
        </p:nvSpPr>
        <p:spPr>
          <a:xfrm>
            <a:off x="7589520" y="1234440"/>
            <a:ext cx="4023360" cy="3200400"/>
          </a:xfrm>
          <a:prstGeom prst="roundRect">
            <a:avLst>
              <a:gd name="adj" fmla="val 6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"/>
          <p:cNvSpPr txBox="1"/>
          <p:nvPr/>
        </p:nvSpPr>
        <p:spPr>
          <a:xfrm>
            <a:off x="7818120" y="1371600"/>
            <a:ext cx="36576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FD0BC"/>
                </a:solidFill>
                <a:latin typeface="Cambria"/>
              </a:rPr>
              <a:t>Банку — два рычага без новой модели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Блокировать карту после первой подтверждённой операции: </a:t>
            </a:r>
            <a:r>
              <a:rPr sz="1350" b="0">
                <a:solidFill>
                  <a:srgbClr val="AEB6C4"/>
                </a:solidFill>
                <a:latin typeface="Calibri"/>
              </a:rPr>
              <a:t>та же модель спасла бы 1,07 млн вместо 830 тыс. у.е. на новом периоде.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Поднять лимит до 0,5–0,75%: </a:t>
            </a:r>
            <a:r>
              <a:rPr sz="1350" b="0">
                <a:solidFill>
                  <a:srgbClr val="AEB6C4"/>
                </a:solidFill>
                <a:latin typeface="Calibri"/>
              </a:rPr>
              <a:t>+28–40 тыс. у.е. в месяц, +15–26 звонков честным.</a:t>
            </a:r>
          </a:p>
        </p:txBody>
      </p:sp>
      <p:sp>
        <p:nvSpPr>
          <p:cNvPr id="14" name="shp"/>
          <p:cNvSpPr/>
          <p:nvPr/>
        </p:nvSpPr>
        <p:spPr>
          <a:xfrm>
            <a:off x="640080" y="4709160"/>
            <a:ext cx="10972800" cy="1463040"/>
          </a:xfrm>
          <a:prstGeom prst="roundRect">
            <a:avLst>
              <a:gd name="adj" fmla="val 6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algn="t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"/>
          <p:cNvSpPr txBox="1"/>
          <p:nvPr/>
        </p:nvSpPr>
        <p:spPr>
          <a:xfrm>
            <a:off x="868680" y="4818888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Замечания: </a:t>
            </a:r>
            <a:r>
              <a:rPr sz="1400" b="0">
                <a:solidFill>
                  <a:srgbClr val="AEB6C4"/>
                </a:solidFill>
                <a:latin typeface="Calibri"/>
              </a:rPr>
              <a:t>9 замечаний преподавателя — все разобраны: группы риска встроены в программу, «7 аналитиков» исправлено на «7 проверок в день», 328 и формула расписаны. Отклонили: группу как правило отправки (решают деньги) и SMOTE.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С чего начали бы сейчас: </a:t>
            </a:r>
            <a:r>
              <a:rPr sz="1400" b="0">
                <a:solidFill>
                  <a:srgbClr val="AEB6C4"/>
                </a:solidFill>
                <a:latin typeface="Calibri"/>
              </a:rPr>
              <a:t>с эпизодов и потолка при разных лимитах, потом — с метрики «по картам» вместе с заказчиком, и только потом — признаки.</a:t>
            </a:r>
          </a:p>
        </p:txBody>
      </p:sp>
      <p:sp>
        <p:nvSpPr>
          <p:cNvPr id="16" name="src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F97A3"/>
                </a:solidFill>
                <a:latin typeface="Calibri"/>
              </a:rPr>
              <a:t>reports/week2/1_remarks.md · 3_error_analysis.md · 4_solution_evaluation.md</a:t>
            </a:r>
          </a:p>
        </p:txBody>
      </p:sp>
      <p:sp>
        <p:nvSpPr>
          <p:cNvPr id="17" name="who"/>
          <p:cNvSpPr txBox="1"/>
          <p:nvPr/>
        </p:nvSpPr>
        <p:spPr>
          <a:xfrm>
            <a:off x="9052560" y="6419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F97A3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