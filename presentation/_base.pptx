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1F8A7A"/>
              </a:solidFill>
            </c:spPr>
          </c:dPt>
          <c:cat>
            <c:strRef>
              <c:f>Sheet1!$A$2:$A$3</c:f>
              <c:strCache>
                <c:ptCount val="2"/>
                <c:pt idx="0">
                  <c:v>Самые вероятные</c:v>
                </c:pt>
                <c:pt idx="1">
                  <c:v>Самые выгодные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166067</c:v>
                </c:pt>
                <c:pt idx="1">
                  <c:v>235437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400" b="1">
                  <a:solidFill>
                    <a:srgbClr val="161A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161A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D6452F"/>
              </a:solidFill>
            </c:spPr>
          </c:dPt>
          <c:cat>
            <c:strRef>
              <c:f>Sheet1!$A$2:$A$3</c:f>
              <c:strCache>
                <c:ptCount val="2"/>
                <c:pt idx="0">
                  <c:v>Та же модель без признаков A</c:v>
                </c:pt>
                <c:pt idx="1">
                  <c:v>Решение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173562</c:v>
                </c:pt>
                <c:pt idx="1">
                  <c:v>224148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 b="1">
                  <a:solidFill>
                    <a:srgbClr val="161A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61A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E9A83B"/>
              </a:solidFill>
            </c:spPr>
          </c:dPt>
          <c:cat>
            <c:strRef>
              <c:f>Sheet1!$A$2:$A$3</c:f>
              <c:strCache>
                <c:ptCount val="2"/>
                <c:pt idx="0">
                  <c:v>Та же модель без признаков B</c:v>
                </c:pt>
                <c:pt idx="1">
                  <c:v>Решение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235437</c:v>
                </c:pt>
                <c:pt idx="1">
                  <c:v>251417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 b="1">
                  <a:solidFill>
                    <a:srgbClr val="161A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61A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1F8A7A"/>
              </a:solidFill>
            </c:spPr>
          </c:dPt>
          <c:cat>
            <c:strRef>
              <c:f>Sheet1!$A$2:$A$3</c:f>
              <c:strCache>
                <c:ptCount val="2"/>
                <c:pt idx="0">
                  <c:v>База, выбор по вероятности</c:v>
                </c:pt>
                <c:pt idx="1">
                  <c:v>Решение 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166067</c:v>
                </c:pt>
                <c:pt idx="1">
                  <c:v>239249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 b="1">
                  <a:solidFill>
                    <a:srgbClr val="161A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61A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появляется сам: заголовок, три главных числа, три карты — это мы трое.</a:t>
            </a:r>
          </a:p>
          <a:p/>
          <a:p>
            <a:r>
              <a:t>Здравствуйте. Мы — команда из трёх человек. Задача: банк получает поток операций по картам, а аналитиков, которые могут проверить подозрительную операцию, мало. Нужно каждый день выбирать, какие операции им показать.</a:t>
            </a:r>
          </a:p>
          <a:p/>
          <a:p>
            <a:r>
              <a:t>Главный результат сразу: на двух месяцах, которые мы до конца не открывали, система сэкономила 323 389 условных единиц. Это 98,7% от того, что вообще можно было спасти при таком числе аналитиков. И она зря остановила всего 30 честных клиентов — у базовой модели было 72.</a:t>
            </a:r>
          </a:p>
          <a:p/>
          <a:p>
            <a:r>
              <a:t>У каждой из нас было своё решение: A смотрела на привычки клиента, B — на ритм операций, C — на деньги. Дальше расскажем, как мы их сравнили и собрали лучшее.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Шарики появляются сами — это мошеннические операции одного дня.</a:t>
            </a:r>
          </a:p>
          <a:p/>
          <a:p>
            <a:r>
              <a:t>Первое, что мы увидели в данных. В среднем за день проходит около 14 мошеннических операций. А аналитики, по условию, успевают проверить только 0,3% операций — это примерно 7 в день.</a:t>
            </a:r>
          </a:p>
          <a:p/>
          <a:p>
            <a:r>
              <a:t>[КЛИК] — рамка вокруг семи шариков, остальные гаснут.</a:t>
            </a:r>
          </a:p>
          <a:p>
            <a:r>
              <a:t>Вот эти семь аналитики успеют проверить. Остальные семь — нет, как бы хорошо мы ни искали.</a:t>
            </a:r>
          </a:p>
          <a:p/>
          <a:p>
            <a:r>
              <a:t>[КЛИК] — появляется вывод.</a:t>
            </a:r>
          </a:p>
          <a:p>
            <a:r>
              <a:t>Мы посчитали: даже идеальная модель, которая заранее знает правду, спасла бы только 62% денег. Это наш потолок. Поэтому вопрос не «насколько вероятно мошенничество», а «какие семь операций проверить сегодня, чтобы спасти больше всего денег». Это определило всю нашу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шагов появляются сами, по очереди.</a:t>
            </a:r>
          </a:p>
          <a:p/>
          <a:p>
            <a:r>
              <a:t>Вот как работает система. Приходит операция — сумма, категория, время, карта. По истории карты считаем признаки: это идеи A, B и C. Модель оценивает вероятность мошенничества. Дальше главный шаг: переводим вероятность в деньги — сколько в среднем спасёт проверка этой операции. И каждый день отдаём аналитикам семь самых выгодных, с тремя причинами обычными словами.</a:t>
            </a:r>
          </a:p>
          <a:p/>
          <a:p>
            <a:r>
              <a:t>[КЛИК] — пример.</a:t>
            </a:r>
          </a:p>
          <a:p>
            <a:r>
              <a:t>Покупка на 900 у.е. с вероятностью мошенничества 30% — проверка в среднем спасает около 251 у.е. Покупка на 4 у.е. с вероятностью 90% — около 3. Проверяем первую, хотя она «менее подозрительная».</a:t>
            </a:r>
          </a:p>
          <a:p/>
          <a:p>
            <a:r>
              <a:t>[КЛИК] — график.</a:t>
            </a:r>
          </a:p>
          <a:p>
            <a:r>
              <a:t>Сначала мы отправляли самые вероятные операции. Когда перешли на самые выгодные, та же самая модель сэкономила на 69 тысяч больше — плюс 42%, без единого нового признака. Это самый большой эффект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появляется само.</a:t>
            </a:r>
          </a:p>
          <a:p/>
          <a:p>
            <a:r>
              <a:t>Моё решение — про привычки. Если картой пользуется чужой человек, он покупает не то, не тогда и не на такие суммы, как хозяин. Я для каждой операции считала, насколько она неожиданна именно для этой карты: как редко клиент покупает в этой категории, в это время суток, на такую сумму.</a:t>
            </a:r>
          </a:p>
          <a:p/>
          <a:p>
            <a:r>
              <a:t>У новой карты истории нет. У меня её профиль равен профилю «среднего клиента» и постепенно становится своим, поэтому модель работает с первой же операции.</a:t>
            </a:r>
          </a:p>
          <a:p/>
          <a:p>
            <a:r>
              <a:t>Лучше всего сработали «крупная сумма в непривычное время» — плюс 18,7 тысячи — и «последние дни клиент тратит крупнее обычного» — плюс 17,2. Я специально взяла простую модель, чтобы проверить, хватит ли её. Не хватило: те же признаки на деревьях дают на 21 тысячу больше. Это честный отрицательный результат. Зато мои признаки лучше всех ловят самую первую операцию кражи.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Шарик B вырастает — моя очередь. Всё появляется само.</a:t>
            </a:r>
          </a:p>
          <a:p/>
          <a:p>
            <a:r>
              <a:t>Моё решение — про ритм. В данных мошенничество идёт сериями: около десяти операций за двое суток, пауза между ними — около часа. Я смотрела не на то, что покупают, а на то, как часто и сколько списывают.</a:t>
            </a:r>
          </a:p>
          <a:p/>
          <a:p>
            <a:r>
              <a:t>Обычно считают «сколько операций за 24 часа». Но тогда операция 23 часа назад считается, а 25 часов назад — уже нет. У меня память плавная: чем старше операция, тем меньше весит. И я сравниваю с нормой клиента: пять операций в день — норма для одного и тревога для другого.</a:t>
            </a:r>
          </a:p>
          <a:p/>
          <a:p>
            <a:r>
              <a:t>Самый сильный признак — сколько денег уже списано с карты за сутки: плюс 10,9 тысячи. Ещё я запретила модели снижать риск, когда активность растёт: по деньгам это ничего не стоило, а модель ведёт себя предсказуемо. 98,4% от потолка, лучше всех ловит продолжение серии.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Шарик C вырастает. Всё появляется само.</a:t>
            </a:r>
          </a:p>
          <a:p/>
          <a:p>
            <a:r>
              <a:t>Моё решение — про деньги. Правило выбора по пользе проверки, которое вы видели на третьем слайде, — это моя часть, и это самый большой эффект: плюс 69 тысяч.</a:t>
            </a:r>
          </a:p>
          <a:p/>
          <a:p>
            <a:r>
              <a:t>Ещё я учила модель «думать деньгами»: при обучении пропущенный дорогой фрод весит больше, чем дешёвый. Небольшой, но стабильный плюс.</a:t>
            </a:r>
          </a:p>
          <a:p/>
          <a:p>
            <a:r>
              <a:t>Мои признаки — риск категорий по прошлым случаям мошенничества. В банке о краже узнают не сразу, а после жалобы клиента, поэтому я брала только метки старше 30 дней. Реализм ничего не стоил, а вариант «метки того же дня» наш тест поймал как подглядывание в будущее.</a:t>
            </a:r>
          </a:p>
          <a:p/>
          <a:p>
            <a:r>
              <a:t>Честно: деревьям эти признаки не помогли — модель и так видит категорию и час, зато простой модели дали плюс 9 тысяч. И мы проверили модель без меток: она сильно хуже — необычное не значит мошенническое.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появляется сама.</a:t>
            </a:r>
          </a:p>
          <a:p/>
          <a:p>
            <a:r>
              <a:t>Как мы выбирали лучшее из трёх решений. Мы не просто сравнили три итоговых числа, а поменяли модели местами: каждый набор признаков прогнали на простой модели и на трёх вариантах деревьев. Чем зеленее клетка, тем больше денег.</a:t>
            </a:r>
          </a:p>
          <a:p/>
          <a:p>
            <a:r>
              <a:t>[КЛИК] — выводы по строкам и столбцам.</a:t>
            </a:r>
          </a:p>
          <a:p>
            <a:r>
              <a:t>По строкам: добавили признаки A и B — плюс примерно 14 тысяч на любой модели-дереве. По столбцам: деревья между собой отличаются максимум на 3 тысячи — это случайный разброс. Значит, результат делают признаки и правило выбора, а не конкретная модель. Простая модель отстаёт везде.</a:t>
            </a:r>
          </a:p>
          <a:p/>
          <a:p>
            <a:r>
              <a:t>[КЛИК] — почему финал.</a:t>
            </a:r>
          </a:p>
          <a:p>
            <a:r>
              <a:t>Лучшие варианты отличаются на сотни у.е. — это шум, поэтому мы разобрали, кто что ловит. A лучше ловит первую операцию кражи, B — продолжение серии. Вместе ловят оба сценария и реже всех останавливают честных клиентов: 27 за два месяца против 76 у базовой модели.</a:t>
            </a:r>
          </a:p>
          <a:p/>
          <a:p>
            <a:r>
              <a:t>[КЛИК] — рамка вокруг финала.</a:t>
            </a:r>
          </a:p>
          <a:p>
            <a:r>
              <a:t>Это и есть наш финал: 252,5 тысячи, 98,8% от потолка.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Стопки монет вырастают сами, слева направо. Одна монета — 20 тысяч.</a:t>
            </a:r>
          </a:p>
          <a:p/>
          <a:p>
            <a:r>
              <a:t>Теперь деньги — на двух месяцах, которые мы открыли один раз, в самом конце. Без системы банк потерял бы 513 тысяч. Простое правило «проверять самые дорогие операции» спасает 76 тысяч. Базовая модель — 220, а если выбирать по деньгам — 304. Наша система — 323 тысячи, почти потолок в 328. Посмотрите, насколько последние две стопки одинаковые.</a:t>
            </a:r>
          </a:p>
          <a:p/>
          <a:p>
            <a:r>
              <a:t>И всего 30 честных клиентов остановлено за два месяца; у простого правила — 347.</a:t>
            </a:r>
          </a:p>
          <a:p/>
          <a:p>
            <a:r>
              <a:t>[КЛИК] — стресс-тест.</a:t>
            </a:r>
          </a:p>
          <a:p>
            <a:r>
              <a:t>Что будет, если мошенничества станет втрое больше? При нынешнем штате банк будет пропускать 559 тысяч за два месяца. Если аналитиков хватит на 10 проверок в день — 233 тысячи. На 15 — всего 26 тысяч, дальше почти ничего не меняется. Так заказчик может посчитать, сколько людей нанимать.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Карточки появляются сами, по одной.</a:t>
            </a:r>
          </a:p>
          <a:p/>
          <a:p>
            <a:r>
              <a:t>Заказчик хотел, чтобы решение можно было объяснить. Вот что видит аналитик — это настоящие операции, их выдал наш скрипт.</a:t>
            </a:r>
          </a:p>
          <a:p/>
          <a:p>
            <a:r>
              <a:t>Первая: за сутки с карты уже списали почти 5 тысяч, сумма дороже 99% покупок в этой категории, пятая операция подряд ночью. Аналитику сразу понятно, что происходит.</a:t>
            </a:r>
          </a:p>
          <a:p/>
          <a:p>
            <a:r>
              <a:t>Вторая — новая карта, это её первая операция. Истории нет, но модель её поймала: сумма необычная для категории в целом.</a:t>
            </a:r>
          </a:p>
          <a:p/>
          <a:p>
            <a:r>
              <a:t>Третья — честный клиент, ложная тревога. Вероятность мошенничества всего 2%, но сумма почти 4 тысячи.</a:t>
            </a:r>
          </a:p>
          <a:p/>
          <a:p>
            <a:r>
              <a:t>[КЛИК] — пояснение.</a:t>
            </a:r>
          </a:p>
          <a:p>
            <a:r>
              <a:t>Проверка стоит 3 у.е., пропуск — почти 4 тысячи, поэтому проверить выгодно. Это осознанное решение, а не ошибка. Причины мы пишем обычными словами и показываем только верные для этой операции: «ночная» — только если она правда ночью.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Карточки появляются сами.</a:t>
            </a:r>
          </a:p>
          <a:p/>
          <a:p>
            <a:r>
              <a:t>Напоследок — что не сработало. Это важная часть работы.</a:t>
            </a:r>
          </a:p>
          <a:p/>
          <a:p>
            <a:r>
              <a:t>Самый популярный признак в таких задачах — расстояние от дома до магазина. У нас он бесполезен: у мошенничества и у честных покупок медиана одна и та же, 78 километров. Похоже, генератор данных ставит магазин просто рядом с домом. Мы ожидали, что мошенники сначала проверяют карту мелкой суммой — не подтвердилось: первая мошенническая операция в среднем стоит 311 у.е. «Первая покупка у продавца» — у честных клиентов это каждая третья операция. Модель без меток сильно хуже — необычное не значит мошенническое.</a:t>
            </a:r>
          </a:p>
          <a:p/>
          <a:p>
            <a:r>
              <a:t>Откуда мы знаем, что проблема в идее, а не в проверке: у всех признаков одна и та же линейка, интервалы по дням и тест на подглядывание в будущее, который мы сами проверили на заведомых утечках.</a:t>
            </a:r>
          </a:p>
          <a:p/>
          <a:p>
            <a:r>
              <a:t>[КЛИК] — итог.</a:t>
            </a:r>
          </a:p>
          <a:p>
            <a:r>
              <a:t>Итог: выбор по деньгам плюс привычки клиента плюс ритм операций — 98,7% от возможного, 30 зря остановленных клиентов, и система обрабатывает 550 тысяч операций за полминуты.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|fx=1:fade:after:0:0.5"/>
          <p:cNvSpPr txBox="1"/>
          <p:nvPr/>
        </p:nvSpPr>
        <p:spPr>
          <a:xfrm>
            <a:off x="731520" y="56692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EB6C4"/>
                </a:solidFill>
                <a:latin typeface="Calibri"/>
              </a:rPr>
              <a:t>ПРОЕКТ «АНТИФРОД» · КОМАНДА ИЗ ТРЁХ УЧАСТНИЦ</a:t>
            </a:r>
          </a:p>
        </p:txBody>
      </p:sp>
      <p:sp>
        <p:nvSpPr>
          <p:cNvPr id="3" name="headline|fx=2:ascend:with:0.1:0.8"/>
          <p:cNvSpPr txBox="1"/>
          <p:nvPr/>
        </p:nvSpPr>
        <p:spPr>
          <a:xfrm>
            <a:off x="731520" y="1097280"/>
            <a:ext cx="66751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mbria"/>
              </a:rPr>
              <a:t>Семь проверок в день, которые спасают больше всего денег</a:t>
            </a:r>
          </a:p>
        </p:txBody>
      </p:sp>
      <p:sp>
        <p:nvSpPr>
          <p:cNvPr id="4" name="lead|fx=3:fade:after:0:0.6"/>
          <p:cNvSpPr txBox="1"/>
          <p:nvPr/>
        </p:nvSpPr>
        <p:spPr>
          <a:xfrm>
            <a:off x="731520" y="342900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AEB6C4"/>
                </a:solidFill>
                <a:latin typeface="Calibri"/>
              </a:rPr>
              <a:t>Система выбирает, какие операции по картам показать аналитикам, и объясняет каждое решение тремя причинами.</a:t>
            </a:r>
          </a:p>
        </p:txBody>
      </p:sp>
      <p:sp>
        <p:nvSpPr>
          <p:cNvPr id="5" name="stat0|fx=4:rise:after:0.0:0.6|3d=tile_dark"/>
          <p:cNvSpPr/>
          <p:nvPr/>
        </p:nvSpPr>
        <p:spPr>
          <a:xfrm>
            <a:off x="731520" y="45720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n0|fx=4:rise:with:0.0:0.6"/>
          <p:cNvSpPr txBox="1"/>
          <p:nvPr/>
        </p:nvSpPr>
        <p:spPr>
          <a:xfrm>
            <a:off x="914400" y="46817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FD0BC"/>
                </a:solidFill>
                <a:latin typeface="Cambria"/>
              </a:rPr>
              <a:t>323 389</a:t>
            </a:r>
          </a:p>
        </p:txBody>
      </p:sp>
      <p:sp>
        <p:nvSpPr>
          <p:cNvPr id="7" name="statt0|fx=4:rise:with:0.0:0.6"/>
          <p:cNvSpPr txBox="1"/>
          <p:nvPr/>
        </p:nvSpPr>
        <p:spPr>
          <a:xfrm>
            <a:off x="914400" y="53492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6C4"/>
                </a:solidFill>
                <a:latin typeface="Calibri"/>
              </a:rPr>
              <a:t>у.е. сэкономлено за 2 месяца</a:t>
            </a:r>
          </a:p>
        </p:txBody>
      </p:sp>
      <p:sp>
        <p:nvSpPr>
          <p:cNvPr id="8" name="stat1|fx=4:rise:with:0.15:0.6|3d=tile_dark"/>
          <p:cNvSpPr/>
          <p:nvPr/>
        </p:nvSpPr>
        <p:spPr>
          <a:xfrm>
            <a:off x="2971800" y="45720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n1|fx=4:rise:with:0.15:0.6"/>
          <p:cNvSpPr txBox="1"/>
          <p:nvPr/>
        </p:nvSpPr>
        <p:spPr>
          <a:xfrm>
            <a:off x="3154680" y="46817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98,7%</a:t>
            </a:r>
          </a:p>
        </p:txBody>
      </p:sp>
      <p:sp>
        <p:nvSpPr>
          <p:cNvPr id="10" name="statt1|fx=4:rise:with:0.15:0.6"/>
          <p:cNvSpPr txBox="1"/>
          <p:nvPr/>
        </p:nvSpPr>
        <p:spPr>
          <a:xfrm>
            <a:off x="3154680" y="53492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6C4"/>
                </a:solidFill>
                <a:latin typeface="Calibri"/>
              </a:rPr>
              <a:t>от того, что вообще можно спасти</a:t>
            </a:r>
          </a:p>
        </p:txBody>
      </p:sp>
      <p:sp>
        <p:nvSpPr>
          <p:cNvPr id="11" name="stat2|fx=4:rise:with:0.3:0.6|3d=tile_dark"/>
          <p:cNvSpPr/>
          <p:nvPr/>
        </p:nvSpPr>
        <p:spPr>
          <a:xfrm>
            <a:off x="5212080" y="45720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n2|fx=4:rise:with:0.3:0.6"/>
          <p:cNvSpPr txBox="1"/>
          <p:nvPr/>
        </p:nvSpPr>
        <p:spPr>
          <a:xfrm>
            <a:off x="5394960" y="468172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30</a:t>
            </a:r>
          </a:p>
        </p:txBody>
      </p:sp>
      <p:sp>
        <p:nvSpPr>
          <p:cNvPr id="13" name="statt2|fx=4:rise:with:0.3:0.6"/>
          <p:cNvSpPr txBox="1"/>
          <p:nvPr/>
        </p:nvSpPr>
        <p:spPr>
          <a:xfrm>
            <a:off x="5394960" y="53492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EB6C4"/>
                </a:solidFill>
                <a:latin typeface="Calibri"/>
              </a:rPr>
              <a:t>честных клиентов остановлено зря (у базовой модели — 72)</a:t>
            </a:r>
          </a:p>
        </p:txBody>
      </p:sp>
      <p:sp>
        <p:nvSpPr>
          <p:cNvPr id="14" name="cardA|fx=5:fly:after:0.05:0.7|3d=card_a"/>
          <p:cNvSpPr/>
          <p:nvPr/>
        </p:nvSpPr>
        <p:spPr>
          <a:xfrm>
            <a:off x="7635240" y="91440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0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A  ·  профиль клиента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«так хозяин не платит»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4821</a:t>
            </a:r>
          </a:p>
        </p:txBody>
      </p:sp>
      <p:sp>
        <p:nvSpPr>
          <p:cNvPr id="15" name="cardB|fx=6:fly:after:0.05:0.7|3d=card_b"/>
          <p:cNvSpPr/>
          <p:nvPr/>
        </p:nvSpPr>
        <p:spPr>
          <a:xfrm>
            <a:off x="8183879" y="210312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0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B  ·  ритм операций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«карту выкачивают»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4822</a:t>
            </a:r>
          </a:p>
        </p:txBody>
      </p:sp>
      <p:sp>
        <p:nvSpPr>
          <p:cNvPr id="16" name="cardC|fx=7:fly:after:0.05:0.7|3d=card_c"/>
          <p:cNvSpPr/>
          <p:nvPr/>
        </p:nvSpPr>
        <p:spPr>
          <a:xfrm>
            <a:off x="8732520" y="3291840"/>
            <a:ext cx="3063240" cy="1920240"/>
          </a:xfrm>
          <a:prstGeom prst="roundRect">
            <a:avLst>
              <a:gd name="adj" fmla="val 9000"/>
            </a:avLst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0" tIns="182880" bIns="0" wrap="square"/>
          <a:lstStyle/>
          <a:p>
            <a:pPr algn="l"/>
            <a:r>
              <a:rPr sz="1900" b="1">
                <a:solidFill>
                  <a:srgbClr val="FFFFFF"/>
                </a:solidFill>
                <a:latin typeface="Cambria"/>
              </a:rPr>
              <a:t>C  ·  деньги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«что выгоднее проверить»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**** **** **** 4823</a:t>
            </a:r>
          </a:p>
        </p:txBody>
      </p:sp>
      <p:sp>
        <p:nvSpPr>
          <p:cNvPr id="1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97A3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|fx=0:fade:with:0:0.6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Мошенников больше, чем проверяющих</a:t>
            </a:r>
          </a:p>
        </p:txBody>
      </p:sp>
      <p:sp>
        <p:nvSpPr>
          <p:cNvPr id="3" name="sub|fx=0:fade:with:0.1:0.6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EB6C4"/>
                </a:solidFill>
                <a:latin typeface="Calibri"/>
              </a:rPr>
              <a:t>Один средний день в данных</a:t>
            </a:r>
          </a:p>
        </p:txBody>
      </p:sp>
      <p:sp>
        <p:nvSpPr>
          <p:cNvPr id="4" name="f0|fx=1:zoom:after:0:0.18|3d=sphere"/>
          <p:cNvSpPr/>
          <p:nvPr/>
        </p:nvSpPr>
        <p:spPr>
          <a:xfrm>
            <a:off x="868680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1|fx=1:zoom:after:0:0.18|3d=sphere"/>
          <p:cNvSpPr/>
          <p:nvPr/>
        </p:nvSpPr>
        <p:spPr>
          <a:xfrm>
            <a:off x="1627631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2|fx=1:zoom:after:0:0.18|3d=sphere"/>
          <p:cNvSpPr/>
          <p:nvPr/>
        </p:nvSpPr>
        <p:spPr>
          <a:xfrm>
            <a:off x="2386584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3|fx=1:zoom:after:0:0.18|3d=sphere"/>
          <p:cNvSpPr/>
          <p:nvPr/>
        </p:nvSpPr>
        <p:spPr>
          <a:xfrm>
            <a:off x="3145535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4|fx=1:zoom:after:0:0.18|3d=sphere"/>
          <p:cNvSpPr/>
          <p:nvPr/>
        </p:nvSpPr>
        <p:spPr>
          <a:xfrm>
            <a:off x="3904487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5|fx=1:zoom:after:0:0.18|3d=sphere"/>
          <p:cNvSpPr/>
          <p:nvPr/>
        </p:nvSpPr>
        <p:spPr>
          <a:xfrm>
            <a:off x="4663440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6|fx=1:zoom:after:0:0.18|3d=sphere"/>
          <p:cNvSpPr/>
          <p:nvPr/>
        </p:nvSpPr>
        <p:spPr>
          <a:xfrm>
            <a:off x="5422392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7|fx=1:zoom:after:0:0.18|3d=sphere"/>
          <p:cNvSpPr/>
          <p:nvPr/>
        </p:nvSpPr>
        <p:spPr>
          <a:xfrm>
            <a:off x="6181344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8|fx=1:zoom:after:0:0.18|3d=sphere"/>
          <p:cNvSpPr/>
          <p:nvPr/>
        </p:nvSpPr>
        <p:spPr>
          <a:xfrm>
            <a:off x="6940296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9|fx=1:zoom:after:0:0.18|3d=sphere"/>
          <p:cNvSpPr/>
          <p:nvPr/>
        </p:nvSpPr>
        <p:spPr>
          <a:xfrm>
            <a:off x="7699248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10|fx=1:zoom:after:0:0.18|3d=sphere"/>
          <p:cNvSpPr/>
          <p:nvPr/>
        </p:nvSpPr>
        <p:spPr>
          <a:xfrm>
            <a:off x="8458199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11|fx=1:zoom:after:0:0.18|3d=sphere"/>
          <p:cNvSpPr/>
          <p:nvPr/>
        </p:nvSpPr>
        <p:spPr>
          <a:xfrm>
            <a:off x="9217151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12|fx=1:zoom:after:0:0.18|3d=sphere"/>
          <p:cNvSpPr/>
          <p:nvPr/>
        </p:nvSpPr>
        <p:spPr>
          <a:xfrm>
            <a:off x="9976103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13|fx=1:zoom:after:0:0.18|3d=sphere"/>
          <p:cNvSpPr/>
          <p:nvPr/>
        </p:nvSpPr>
        <p:spPr>
          <a:xfrm>
            <a:off x="10735055" y="2148840"/>
            <a:ext cx="603504" cy="60350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14|fx=2:fade:after:0:0.5"/>
          <p:cNvSpPr txBox="1"/>
          <p:nvPr/>
        </p:nvSpPr>
        <p:spPr>
          <a:xfrm>
            <a:off x="868680" y="30358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28B7D"/>
                </a:solidFill>
                <a:latin typeface="Cambria"/>
              </a:rPr>
              <a:t>≈14</a:t>
            </a:r>
            <a:r>
              <a:rPr sz="1700" b="0">
                <a:solidFill>
                  <a:srgbClr val="FFFFFF"/>
                </a:solidFill>
                <a:latin typeface="Calibri"/>
              </a:rPr>
              <a:t>  мошеннических операций в день — 0,58% потока</a:t>
            </a:r>
          </a:p>
        </p:txBody>
      </p:sp>
      <p:sp>
        <p:nvSpPr>
          <p:cNvPr id="19" name="dim|fx=3:fade:click:0:0.6"/>
          <p:cNvSpPr/>
          <p:nvPr/>
        </p:nvSpPr>
        <p:spPr>
          <a:xfrm>
            <a:off x="6071616" y="2011680"/>
            <a:ext cx="5404103" cy="877824"/>
          </a:xfrm>
          <a:prstGeom prst="rect">
            <a:avLst/>
          </a:prstGeom>
          <a:solidFill>
            <a:srgbClr val="14171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ame7|fx=3:wipe:with:0:0.7|dir=left"/>
          <p:cNvSpPr/>
          <p:nvPr/>
        </p:nvSpPr>
        <p:spPr>
          <a:xfrm>
            <a:off x="749808" y="2011680"/>
            <a:ext cx="5404103" cy="877824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5F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7|fx=4:fade:after:0:0.5"/>
          <p:cNvSpPr txBox="1"/>
          <p:nvPr/>
        </p:nvSpPr>
        <p:spPr>
          <a:xfrm>
            <a:off x="868680" y="3611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FD0BC"/>
                </a:solidFill>
                <a:latin typeface="Cambria"/>
              </a:rPr>
              <a:t>≈7</a:t>
            </a:r>
            <a:r>
              <a:rPr sz="1700" b="0">
                <a:solidFill>
                  <a:srgbClr val="FFFFFF"/>
                </a:solidFill>
                <a:latin typeface="Calibri"/>
              </a:rPr>
              <a:t>  успевают проверить аналитики — лимит 0,3% операций</a:t>
            </a:r>
          </a:p>
        </p:txBody>
      </p:sp>
      <p:sp>
        <p:nvSpPr>
          <p:cNvPr id="22" name="callout|fx=5:rise:click:0:0.6|3d=tile_dark"/>
          <p:cNvSpPr/>
          <p:nvPr/>
        </p:nvSpPr>
        <p:spPr>
          <a:xfrm>
            <a:off x="868680" y="4434840"/>
            <a:ext cx="10469880" cy="1600200"/>
          </a:xfrm>
          <a:prstGeom prst="roundRect">
            <a:avLst>
              <a:gd name="adj" fmla="val 8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62|fx=5:rise:with:0.1:0.6"/>
          <p:cNvSpPr txBox="1"/>
          <p:nvPr/>
        </p:nvSpPr>
        <p:spPr>
          <a:xfrm>
            <a:off x="1234440" y="4636008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5FD0BC"/>
                </a:solidFill>
                <a:latin typeface="Cambria"/>
              </a:rPr>
              <a:t>62%</a:t>
            </a:r>
          </a:p>
          <a:p>
            <a:pPr algn="l"/>
            <a:r>
              <a:rPr sz="1400" b="0">
                <a:solidFill>
                  <a:srgbClr val="AEB6C4"/>
                </a:solidFill>
                <a:latin typeface="Calibri"/>
              </a:rPr>
              <a:t>денег спасла бы даже идеальная модель, которая заранее знает правду</a:t>
            </a:r>
          </a:p>
        </p:txBody>
      </p:sp>
      <p:sp>
        <p:nvSpPr>
          <p:cNvPr id="24" name="cq|fx=5:rise:with:0.2:0.6"/>
          <p:cNvSpPr txBox="1"/>
          <p:nvPr/>
        </p:nvSpPr>
        <p:spPr>
          <a:xfrm>
            <a:off x="5943600" y="47548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Поэтому главный вопрос не «насколько вероятно мошенничество», а </a:t>
            </a:r>
            <a:r>
              <a:rPr sz="1800" b="1">
                <a:solidFill>
                  <a:srgbClr val="5FD0BC"/>
                </a:solidFill>
                <a:latin typeface="Calibri"/>
              </a:rPr>
              <a:t>«какие 7 операций проверить сегодня, чтобы спасти больше всего денег»</a:t>
            </a:r>
          </a:p>
        </p:txBody>
      </p:sp>
      <p:sp>
        <p:nvSpPr>
          <p:cNvPr id="25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97A3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|fx=0:fade:with:0:0.6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Как система выбирает, что проверить</a:t>
            </a:r>
          </a:p>
        </p:txBody>
      </p:sp>
      <p:sp>
        <p:nvSpPr>
          <p:cNvPr id="3" name="sub|fx=0:fade:with:0.1:0.6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Пять шагов для каждой операции — от оплаты до карточки аналитика</a:t>
            </a:r>
          </a:p>
        </p:txBody>
      </p:sp>
      <p:sp>
        <p:nvSpPr>
          <p:cNvPr id="4" name="step0|fx=1:ascend:after:0:0.45|3d=tile"/>
          <p:cNvSpPr/>
          <p:nvPr/>
        </p:nvSpPr>
        <p:spPr>
          <a:xfrm>
            <a:off x="548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n0|fx=1:ascend:with:0:0.45|3d=sphere"/>
          <p:cNvSpPr/>
          <p:nvPr/>
        </p:nvSpPr>
        <p:spPr>
          <a:xfrm>
            <a:off x="713232" y="1847088"/>
            <a:ext cx="402336" cy="402336"/>
          </a:xfrm>
          <a:prstGeom prst="ellipse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steph0|fx=1:ascend:with:0:0.45"/>
          <p:cNvSpPr txBox="1"/>
          <p:nvPr/>
        </p:nvSpPr>
        <p:spPr>
          <a:xfrm>
            <a:off x="1207007" y="1920240"/>
            <a:ext cx="132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Операция</a:t>
            </a:r>
          </a:p>
        </p:txBody>
      </p:sp>
      <p:sp>
        <p:nvSpPr>
          <p:cNvPr id="7" name="stepb0|fx=1:ascend:with:0:0.45"/>
          <p:cNvSpPr txBox="1"/>
          <p:nvPr/>
        </p:nvSpPr>
        <p:spPr>
          <a:xfrm>
            <a:off x="731520" y="2423160"/>
            <a:ext cx="1783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сумма, категория, время, карта</a:t>
            </a:r>
          </a:p>
        </p:txBody>
      </p:sp>
      <p:sp>
        <p:nvSpPr>
          <p:cNvPr id="8" name="arr0|fx=1:fade:with:0:0.3"/>
          <p:cNvSpPr/>
          <p:nvPr/>
        </p:nvSpPr>
        <p:spPr>
          <a:xfrm>
            <a:off x="2679191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1|fx=2:ascend:after:0:0.45|3d=tile"/>
          <p:cNvSpPr/>
          <p:nvPr/>
        </p:nvSpPr>
        <p:spPr>
          <a:xfrm>
            <a:off x="2834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n1|fx=2:ascend:with:0:0.45|3d=sphere"/>
          <p:cNvSpPr/>
          <p:nvPr/>
        </p:nvSpPr>
        <p:spPr>
          <a:xfrm>
            <a:off x="2999232" y="1847088"/>
            <a:ext cx="402336" cy="402336"/>
          </a:xfrm>
          <a:prstGeom prst="ellipse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steph1|fx=2:ascend:with:0:0.45"/>
          <p:cNvSpPr txBox="1"/>
          <p:nvPr/>
        </p:nvSpPr>
        <p:spPr>
          <a:xfrm>
            <a:off x="3493008" y="1920240"/>
            <a:ext cx="132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Признаки</a:t>
            </a:r>
          </a:p>
        </p:txBody>
      </p:sp>
      <p:sp>
        <p:nvSpPr>
          <p:cNvPr id="12" name="stepb1|fx=2:ascend:with:0:0.45"/>
          <p:cNvSpPr txBox="1"/>
          <p:nvPr/>
        </p:nvSpPr>
        <p:spPr>
          <a:xfrm>
            <a:off x="3017520" y="2423160"/>
            <a:ext cx="1783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A — привычки клиента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B — ритм операций</a:t>
            </a:r>
          </a:p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C — сумма в категории</a:t>
            </a:r>
          </a:p>
        </p:txBody>
      </p:sp>
      <p:sp>
        <p:nvSpPr>
          <p:cNvPr id="13" name="arr1|fx=2:fade:with:0:0.3"/>
          <p:cNvSpPr/>
          <p:nvPr/>
        </p:nvSpPr>
        <p:spPr>
          <a:xfrm>
            <a:off x="4965192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2|fx=3:ascend:after:0:0.45|3d=tile"/>
          <p:cNvSpPr/>
          <p:nvPr/>
        </p:nvSpPr>
        <p:spPr>
          <a:xfrm>
            <a:off x="5120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n2|fx=3:ascend:with:0:0.45|3d=sphere"/>
          <p:cNvSpPr/>
          <p:nvPr/>
        </p:nvSpPr>
        <p:spPr>
          <a:xfrm>
            <a:off x="5285231" y="1847088"/>
            <a:ext cx="402336" cy="402336"/>
          </a:xfrm>
          <a:prstGeom prst="ellipse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steph2|fx=3:ascend:with:0:0.45"/>
          <p:cNvSpPr txBox="1"/>
          <p:nvPr/>
        </p:nvSpPr>
        <p:spPr>
          <a:xfrm>
            <a:off x="5779007" y="1920240"/>
            <a:ext cx="132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Вероятность</a:t>
            </a:r>
          </a:p>
        </p:txBody>
      </p:sp>
      <p:sp>
        <p:nvSpPr>
          <p:cNvPr id="17" name="stepb2|fx=3:ascend:with:0:0.45"/>
          <p:cNvSpPr txBox="1"/>
          <p:nvPr/>
        </p:nvSpPr>
        <p:spPr>
          <a:xfrm>
            <a:off x="5303520" y="2423160"/>
            <a:ext cx="1783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модель LightGBM: насколько похоже на мошенничество</a:t>
            </a:r>
          </a:p>
        </p:txBody>
      </p:sp>
      <p:sp>
        <p:nvSpPr>
          <p:cNvPr id="18" name="arr2|fx=3:fade:with:0:0.3"/>
          <p:cNvSpPr/>
          <p:nvPr/>
        </p:nvSpPr>
        <p:spPr>
          <a:xfrm>
            <a:off x="7251192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3|fx=4:ascend:after:0:0.45|3d=tile"/>
          <p:cNvSpPr/>
          <p:nvPr/>
        </p:nvSpPr>
        <p:spPr>
          <a:xfrm>
            <a:off x="7406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n3|fx=4:ascend:with:0:0.45|3d=sphere"/>
          <p:cNvSpPr/>
          <p:nvPr/>
        </p:nvSpPr>
        <p:spPr>
          <a:xfrm>
            <a:off x="7571231" y="1847088"/>
            <a:ext cx="402336" cy="402336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steph3|fx=4:ascend:with:0:0.45"/>
          <p:cNvSpPr txBox="1"/>
          <p:nvPr/>
        </p:nvSpPr>
        <p:spPr>
          <a:xfrm>
            <a:off x="8065008" y="1920240"/>
            <a:ext cx="132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Польза, у.е.</a:t>
            </a:r>
          </a:p>
        </p:txBody>
      </p:sp>
      <p:sp>
        <p:nvSpPr>
          <p:cNvPr id="22" name="stepb3|fx=4:ascend:with:0:0.45"/>
          <p:cNvSpPr txBox="1"/>
          <p:nvPr/>
        </p:nvSpPr>
        <p:spPr>
          <a:xfrm>
            <a:off x="7589519" y="2423160"/>
            <a:ext cx="1783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сколько денег в среднем спасёт проверка</a:t>
            </a:r>
          </a:p>
        </p:txBody>
      </p:sp>
      <p:sp>
        <p:nvSpPr>
          <p:cNvPr id="23" name="arr3|fx=4:fade:with:0:0.3"/>
          <p:cNvSpPr/>
          <p:nvPr/>
        </p:nvSpPr>
        <p:spPr>
          <a:xfrm>
            <a:off x="9537191" y="2423160"/>
            <a:ext cx="128016" cy="274320"/>
          </a:xfrm>
          <a:prstGeom prst="chevron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4|fx=5:ascend:after:0:0.45|3d=tile"/>
          <p:cNvSpPr/>
          <p:nvPr/>
        </p:nvSpPr>
        <p:spPr>
          <a:xfrm>
            <a:off x="9692640" y="16916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n4|fx=5:ascend:with:0:0.45|3d=sphere"/>
          <p:cNvSpPr/>
          <p:nvPr/>
        </p:nvSpPr>
        <p:spPr>
          <a:xfrm>
            <a:off x="9857232" y="1847088"/>
            <a:ext cx="402336" cy="402336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6" name="steph4|fx=5:ascend:with:0:0.45"/>
          <p:cNvSpPr txBox="1"/>
          <p:nvPr/>
        </p:nvSpPr>
        <p:spPr>
          <a:xfrm>
            <a:off x="10351008" y="1920240"/>
            <a:ext cx="132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Топ-7 за день</a:t>
            </a:r>
          </a:p>
        </p:txBody>
      </p:sp>
      <p:sp>
        <p:nvSpPr>
          <p:cNvPr id="27" name="stepb4|fx=5:ascend:with:0:0.45"/>
          <p:cNvSpPr txBox="1"/>
          <p:nvPr/>
        </p:nvSpPr>
        <p:spPr>
          <a:xfrm>
            <a:off x="9875519" y="2423160"/>
            <a:ext cx="1783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уходят аналитику с тремя причинами</a:t>
            </a:r>
          </a:p>
        </p:txBody>
      </p:sp>
      <p:sp>
        <p:nvSpPr>
          <p:cNvPr id="28" name="exh|fx=6:fade:click:0:0.4"/>
          <p:cNvSpPr txBox="1"/>
          <p:nvPr/>
        </p:nvSpPr>
        <p:spPr>
          <a:xfrm>
            <a:off x="548640" y="37490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mbria"/>
              </a:rPr>
              <a:t>Пример: какую из двух операций проверить?</a:t>
            </a:r>
          </a:p>
        </p:txBody>
      </p:sp>
      <p:sp>
        <p:nvSpPr>
          <p:cNvPr id="29" name="ex0|fx=6:rise:with:0.15:0.5|3d=tile"/>
          <p:cNvSpPr/>
          <p:nvPr/>
        </p:nvSpPr>
        <p:spPr>
          <a:xfrm>
            <a:off x="548640" y="42062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t0|fx=6:rise:with:0.15:0.5"/>
          <p:cNvSpPr txBox="1"/>
          <p:nvPr/>
        </p:nvSpPr>
        <p:spPr>
          <a:xfrm>
            <a:off x="777240" y="4325112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900 у.е., вероятность 30%</a:t>
            </a:r>
          </a:p>
          <a:p>
            <a:pPr algn="l"/>
            <a:r>
              <a:rPr sz="1400" b="1">
                <a:solidFill>
                  <a:srgbClr val="1F8A7A"/>
                </a:solidFill>
                <a:latin typeface="Calibri"/>
              </a:rPr>
              <a:t>→ проверка в среднем спасает ≈ 251 у.е.</a:t>
            </a:r>
          </a:p>
        </p:txBody>
      </p:sp>
      <p:sp>
        <p:nvSpPr>
          <p:cNvPr id="31" name="ex1|fx=6:rise:with:0.3:0.5|3d=tile"/>
          <p:cNvSpPr/>
          <p:nvPr/>
        </p:nvSpPr>
        <p:spPr>
          <a:xfrm>
            <a:off x="548640" y="521207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xt1|fx=6:rise:with:0.3:0.5"/>
          <p:cNvSpPr txBox="1"/>
          <p:nvPr/>
        </p:nvSpPr>
        <p:spPr>
          <a:xfrm>
            <a:off x="777240" y="5330951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4 у.е., вероятность 90%</a:t>
            </a:r>
          </a:p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→ проверка спасает ≈ 3 у.е.</a:t>
            </a:r>
          </a:p>
        </p:txBody>
      </p:sp>
      <p:sp>
        <p:nvSpPr>
          <p:cNvPr id="33" name="chh|fx=7:fade:click:0:0.4"/>
          <p:cNvSpPr txBox="1"/>
          <p:nvPr/>
        </p:nvSpPr>
        <p:spPr>
          <a:xfrm>
            <a:off x="6309360" y="3749039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mbria"/>
              </a:rPr>
              <a:t>Та же модель, другое правило выбора:</a:t>
            </a:r>
          </a:p>
        </p:txBody>
      </p:sp>
      <p:graphicFrame>
        <p:nvGraphicFramePr>
          <p:cNvPr id="34" name="ch|fx=7:wipe:with:0.1:0.9|dir=left"/>
          <p:cNvGraphicFramePr>
            <a:graphicFrameLocks noGrp="1"/>
          </p:cNvGraphicFramePr>
          <p:nvPr/>
        </p:nvGraphicFramePr>
        <p:xfrm>
          <a:off x="6172200" y="4114800"/>
          <a:ext cx="557784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plus|fx=8:zoom:after:0:0.5"/>
          <p:cNvSpPr txBox="1"/>
          <p:nvPr/>
        </p:nvSpPr>
        <p:spPr>
          <a:xfrm>
            <a:off x="6309360" y="576072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8A7A"/>
                </a:solidFill>
                <a:latin typeface="Cambria"/>
              </a:rPr>
              <a:t>+69 тыс. у.е. (+42%)</a:t>
            </a:r>
            <a:r>
              <a:rPr sz="1500" b="0">
                <a:solidFill>
                  <a:srgbClr val="5B6472"/>
                </a:solidFill>
                <a:latin typeface="Calibri"/>
              </a:rPr>
              <a:t>  без нового признака</a:t>
            </a:r>
          </a:p>
        </p:txBody>
      </p:sp>
      <p:sp>
        <p:nvSpPr>
          <p:cNvPr id="36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phA|3d=sphere"/>
          <p:cNvSpPr/>
          <p:nvPr/>
        </p:nvSpPr>
        <p:spPr>
          <a:xfrm>
            <a:off x="9052560" y="384048"/>
            <a:ext cx="914400" cy="914400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!!sphB|3d=sphere"/>
          <p:cNvSpPr/>
          <p:nvPr/>
        </p:nvSpPr>
        <p:spPr>
          <a:xfrm>
            <a:off x="1010412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!!sphC|3d=sphere"/>
          <p:cNvSpPr/>
          <p:nvPr/>
        </p:nvSpPr>
        <p:spPr>
          <a:xfrm>
            <a:off x="1092708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5" name="!!soltitle"/>
          <p:cNvSpPr txBox="1"/>
          <p:nvPr/>
        </p:nvSpPr>
        <p:spPr>
          <a:xfrm>
            <a:off x="548640" y="384048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Cambria"/>
              </a:rPr>
              <a:t>Решение A: «Так хозяин не платит»</a:t>
            </a:r>
          </a:p>
        </p:txBody>
      </p:sp>
      <p:sp>
        <p:nvSpPr>
          <p:cNvPr id="6" name="!!solsub"/>
          <p:cNvSpPr txBox="1"/>
          <p:nvPr/>
        </p:nvSpPr>
        <p:spPr>
          <a:xfrm>
            <a:off x="548640" y="1042415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Профиль клиента · логистическая регрессия</a:t>
            </a:r>
          </a:p>
        </p:txBody>
      </p:sp>
      <p:sp>
        <p:nvSpPr>
          <p:cNvPr id="7" name="scenbox|fx=1:fade:after:0.3:0.5"/>
          <p:cNvSpPr/>
          <p:nvPr/>
        </p:nvSpPr>
        <p:spPr>
          <a:xfrm>
            <a:off x="548640" y="1645920"/>
            <a:ext cx="6263640" cy="566928"/>
          </a:xfrm>
          <a:prstGeom prst="roundRect">
            <a:avLst>
              <a:gd name="adj" fmla="val 30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cen|fx=1:fade:with:0:0.5"/>
          <p:cNvSpPr txBox="1"/>
          <p:nvPr/>
        </p:nvSpPr>
        <p:spPr>
          <a:xfrm>
            <a:off x="777240" y="1645920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D6452F"/>
                </a:solidFill>
                <a:latin typeface="Calibri"/>
              </a:rPr>
              <a:t>Сценарий. </a:t>
            </a:r>
            <a:r>
              <a:rPr sz="1500" b="0">
                <a:solidFill>
                  <a:srgbClr val="161A22"/>
                </a:solidFill>
                <a:latin typeface="Calibri"/>
              </a:rPr>
              <a:t>Картой пользуется чужой человек — у него другие привычки.</a:t>
            </a:r>
          </a:p>
        </p:txBody>
      </p:sp>
      <p:sp>
        <p:nvSpPr>
          <p:cNvPr id="9" name="in0|fx=2:zoom:after:0:0.35|3d=sphere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it0|fx=2:fade:with:0.1:0.4"/>
          <p:cNvSpPr txBox="1"/>
          <p:nvPr/>
        </p:nvSpPr>
        <p:spPr>
          <a:xfrm>
            <a:off x="1024128" y="2468880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Сравниваем операцию с прошлым этой карты: редкая категория, непривычное время, сумма больше обычной.</a:t>
            </a:r>
          </a:p>
        </p:txBody>
      </p:sp>
      <p:sp>
        <p:nvSpPr>
          <p:cNvPr id="11" name="in1|fx=3:zoom:after:0:0.35|3d=sphere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it1|fx=3:fade:with:0.1:0.4"/>
          <p:cNvSpPr txBox="1"/>
          <p:nvPr/>
        </p:nvSpPr>
        <p:spPr>
          <a:xfrm>
            <a:off x="1024128" y="3182112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«Неожиданность» считаем в битах и складываем. У новой карты профиль — как у «среднего клиента».</a:t>
            </a:r>
          </a:p>
        </p:txBody>
      </p:sp>
      <p:sp>
        <p:nvSpPr>
          <p:cNvPr id="13" name="in2|fx=4:zoom:after:0:0.35|3d=sphere"/>
          <p:cNvSpPr/>
          <p:nvPr/>
        </p:nvSpPr>
        <p:spPr>
          <a:xfrm>
            <a:off x="548640" y="3913631"/>
            <a:ext cx="329184" cy="32918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it2|fx=4:fade:with:0.1:0.4"/>
          <p:cNvSpPr txBox="1"/>
          <p:nvPr/>
        </p:nvSpPr>
        <p:spPr>
          <a:xfrm>
            <a:off x="1024128" y="3895344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Простую модель взяли нарочно: проверить, хватит ли её при хороших признаках.</a:t>
            </a:r>
          </a:p>
        </p:txBody>
      </p:sp>
      <p:sp>
        <p:nvSpPr>
          <p:cNvPr id="15" name="cmph|fx=5:fade:after:0:0.3"/>
          <p:cNvSpPr txBox="1"/>
          <p:nvPr/>
        </p:nvSpPr>
        <p:spPr>
          <a:xfrm>
            <a:off x="548640" y="4754880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16" name="cmp|fx=5:wipe:with:0.1:0.8|dir=left"/>
          <p:cNvGraphicFramePr>
            <a:graphicFrameLocks noGrp="1"/>
          </p:cNvGraphicFramePr>
          <p:nvPr/>
        </p:nvGraphicFramePr>
        <p:xfrm>
          <a:off x="411480" y="4983480"/>
          <a:ext cx="640080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wins|fx=6:rise:after:0:0.5|3d=tile"/>
          <p:cNvSpPr/>
          <p:nvPr/>
        </p:nvSpPr>
        <p:spPr>
          <a:xfrm>
            <a:off x="7223760" y="164592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insh|fx=6:rise:with:0:0.5"/>
          <p:cNvSpPr txBox="1"/>
          <p:nvPr/>
        </p:nvSpPr>
        <p:spPr>
          <a:xfrm>
            <a:off x="7498079" y="18105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9" name="wn0|fx=6:rise:with:0.1:0.5"/>
          <p:cNvSpPr txBox="1"/>
          <p:nvPr/>
        </p:nvSpPr>
        <p:spPr>
          <a:xfrm>
            <a:off x="7498079" y="22402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+18,7 тыс.</a:t>
            </a:r>
          </a:p>
        </p:txBody>
      </p:sp>
      <p:sp>
        <p:nvSpPr>
          <p:cNvPr id="20" name="wl0|fx=6:rise:with:0.1:0.5"/>
          <p:cNvSpPr txBox="1"/>
          <p:nvPr/>
        </p:nvSpPr>
        <p:spPr>
          <a:xfrm>
            <a:off x="8961120" y="228600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крупная сумма в непривычное время</a:t>
            </a:r>
          </a:p>
        </p:txBody>
      </p:sp>
      <p:sp>
        <p:nvSpPr>
          <p:cNvPr id="21" name="wn1|fx=6:rise:with:0.2:0.5"/>
          <p:cNvSpPr txBox="1"/>
          <p:nvPr/>
        </p:nvSpPr>
        <p:spPr>
          <a:xfrm>
            <a:off x="7498079" y="28803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+17,2 тыс.</a:t>
            </a:r>
          </a:p>
        </p:txBody>
      </p:sp>
      <p:sp>
        <p:nvSpPr>
          <p:cNvPr id="22" name="wl1|fx=6:rise:with:0.2:0.5"/>
          <p:cNvSpPr txBox="1"/>
          <p:nvPr/>
        </p:nvSpPr>
        <p:spPr>
          <a:xfrm>
            <a:off x="8961120" y="292608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в последние дни тратит крупнее обычного</a:t>
            </a:r>
          </a:p>
        </p:txBody>
      </p:sp>
      <p:sp>
        <p:nvSpPr>
          <p:cNvPr id="23" name="wn2|fx=6:rise:with:0.30000000000000004:0.5"/>
          <p:cNvSpPr txBox="1"/>
          <p:nvPr/>
        </p:nvSpPr>
        <p:spPr>
          <a:xfrm>
            <a:off x="7498079" y="352044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+5,8 тыс.</a:t>
            </a:r>
          </a:p>
        </p:txBody>
      </p:sp>
      <p:sp>
        <p:nvSpPr>
          <p:cNvPr id="24" name="wl2|fx=6:rise:with:0.30000000000000004:0.5"/>
          <p:cNvSpPr txBox="1"/>
          <p:nvPr/>
        </p:nvSpPr>
        <p:spPr>
          <a:xfrm>
            <a:off x="8961120" y="356616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непривычное время суток</a:t>
            </a:r>
          </a:p>
        </p:txBody>
      </p:sp>
      <p:sp>
        <p:nvSpPr>
          <p:cNvPr id="25" name="res|fx=7:rise:after:0:0.5|3d=tile"/>
          <p:cNvSpPr/>
          <p:nvPr/>
        </p:nvSpPr>
        <p:spPr>
          <a:xfrm>
            <a:off x="7223760" y="443484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t|fx=7:rise:with:0:0.5"/>
          <p:cNvSpPr txBox="1"/>
          <p:nvPr/>
        </p:nvSpPr>
        <p:spPr>
          <a:xfrm>
            <a:off x="7498079" y="4590288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8A7A"/>
                </a:solidFill>
                <a:latin typeface="Calibri"/>
              </a:rPr>
              <a:t>Итог: 224 148 у.е.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Лучше всех ловит первую операцию кражи.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Простой модели не хватило: те же признаки на деревьях — 245 302.</a:t>
            </a:r>
          </a:p>
        </p:txBody>
      </p:sp>
      <p:sp>
        <p:nvSpPr>
          <p:cNvPr id="2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phA|3d=sphere"/>
          <p:cNvSpPr/>
          <p:nvPr/>
        </p:nvSpPr>
        <p:spPr>
          <a:xfrm>
            <a:off x="928116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!!sphB|3d=sphere"/>
          <p:cNvSpPr/>
          <p:nvPr/>
        </p:nvSpPr>
        <p:spPr>
          <a:xfrm>
            <a:off x="9875520" y="384048"/>
            <a:ext cx="914400" cy="914400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!!sphC|3d=sphere"/>
          <p:cNvSpPr/>
          <p:nvPr/>
        </p:nvSpPr>
        <p:spPr>
          <a:xfrm>
            <a:off x="1092708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5" name="!!soltitle"/>
          <p:cNvSpPr txBox="1"/>
          <p:nvPr/>
        </p:nvSpPr>
        <p:spPr>
          <a:xfrm>
            <a:off x="548640" y="384048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Cambria"/>
              </a:rPr>
              <a:t>Решение B: «Карту выкачивают»</a:t>
            </a:r>
          </a:p>
        </p:txBody>
      </p:sp>
      <p:sp>
        <p:nvSpPr>
          <p:cNvPr id="6" name="!!solsub"/>
          <p:cNvSpPr txBox="1"/>
          <p:nvPr/>
        </p:nvSpPr>
        <p:spPr>
          <a:xfrm>
            <a:off x="548640" y="1042415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Ритм операций · LightGBM с запретом</a:t>
            </a:r>
          </a:p>
        </p:txBody>
      </p:sp>
      <p:sp>
        <p:nvSpPr>
          <p:cNvPr id="7" name="scenbox|fx=1:fade:after:0.3:0.5"/>
          <p:cNvSpPr/>
          <p:nvPr/>
        </p:nvSpPr>
        <p:spPr>
          <a:xfrm>
            <a:off x="548640" y="1645920"/>
            <a:ext cx="6263640" cy="566928"/>
          </a:xfrm>
          <a:prstGeom prst="roundRect">
            <a:avLst>
              <a:gd name="adj" fmla="val 30000"/>
            </a:avLst>
          </a:prstGeom>
          <a:solidFill>
            <a:srgbClr val="FC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cen|fx=1:fade:with:0:0.5"/>
          <p:cNvSpPr txBox="1"/>
          <p:nvPr/>
        </p:nvSpPr>
        <p:spPr>
          <a:xfrm>
            <a:off x="777240" y="1645920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9A83B"/>
                </a:solidFill>
                <a:latin typeface="Calibri"/>
              </a:rPr>
              <a:t>Сценарий. </a:t>
            </a:r>
            <a:r>
              <a:rPr sz="1500" b="0">
                <a:solidFill>
                  <a:srgbClr val="161A22"/>
                </a:solidFill>
                <a:latin typeface="Calibri"/>
              </a:rPr>
              <a:t>После кражи идёт серия: ~10 операций за двое суток, пауза ≈ 1 час.</a:t>
            </a:r>
          </a:p>
        </p:txBody>
      </p:sp>
      <p:sp>
        <p:nvSpPr>
          <p:cNvPr id="9" name="in0|fx=2:zoom:after:0:0.35|3d=sphere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it0|fx=2:fade:with:0.1:0.4"/>
          <p:cNvSpPr txBox="1"/>
          <p:nvPr/>
        </p:nvSpPr>
        <p:spPr>
          <a:xfrm>
            <a:off x="1024128" y="2468880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Плавная память вместо окна «за 24 часа»: давняя операция весит меньше свежей.</a:t>
            </a:r>
          </a:p>
        </p:txBody>
      </p:sp>
      <p:sp>
        <p:nvSpPr>
          <p:cNvPr id="11" name="in1|fx=3:zoom:after:0:0.35|3d=sphere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it1|fx=3:fade:with:0.1:0.4"/>
          <p:cNvSpPr txBox="1"/>
          <p:nvPr/>
        </p:nvSpPr>
        <p:spPr>
          <a:xfrm>
            <a:off x="1024128" y="3182112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Сравниваем с нормой клиента: «в 3 раза активнее обычного», а не «5 операций в день».</a:t>
            </a:r>
          </a:p>
        </p:txBody>
      </p:sp>
      <p:sp>
        <p:nvSpPr>
          <p:cNvPr id="13" name="in2|fx=4:zoom:after:0:0.35|3d=sphere"/>
          <p:cNvSpPr/>
          <p:nvPr/>
        </p:nvSpPr>
        <p:spPr>
          <a:xfrm>
            <a:off x="548640" y="3913631"/>
            <a:ext cx="329184" cy="32918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it2|fx=4:fade:with:0.1:0.4"/>
          <p:cNvSpPr txBox="1"/>
          <p:nvPr/>
        </p:nvSpPr>
        <p:spPr>
          <a:xfrm>
            <a:off x="1024128" y="3895344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Режем поток на «сессии атаки». Модели запрещено снижать риск при росте активности.</a:t>
            </a:r>
          </a:p>
        </p:txBody>
      </p:sp>
      <p:sp>
        <p:nvSpPr>
          <p:cNvPr id="15" name="cmph|fx=5:fade:after:0:0.3"/>
          <p:cNvSpPr txBox="1"/>
          <p:nvPr/>
        </p:nvSpPr>
        <p:spPr>
          <a:xfrm>
            <a:off x="548640" y="4754880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16" name="cmp|fx=5:wipe:with:0.1:0.8|dir=left"/>
          <p:cNvGraphicFramePr>
            <a:graphicFrameLocks noGrp="1"/>
          </p:cNvGraphicFramePr>
          <p:nvPr/>
        </p:nvGraphicFramePr>
        <p:xfrm>
          <a:off x="411480" y="4983480"/>
          <a:ext cx="640080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wins|fx=6:rise:after:0:0.5|3d=tile"/>
          <p:cNvSpPr/>
          <p:nvPr/>
        </p:nvSpPr>
        <p:spPr>
          <a:xfrm>
            <a:off x="7223760" y="164592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insh|fx=6:rise:with:0:0.5"/>
          <p:cNvSpPr txBox="1"/>
          <p:nvPr/>
        </p:nvSpPr>
        <p:spPr>
          <a:xfrm>
            <a:off x="7498079" y="18105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9" name="wn0|fx=6:rise:with:0.1:0.5"/>
          <p:cNvSpPr txBox="1"/>
          <p:nvPr/>
        </p:nvSpPr>
        <p:spPr>
          <a:xfrm>
            <a:off x="7498079" y="22402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+10,9 тыс.</a:t>
            </a:r>
          </a:p>
        </p:txBody>
      </p:sp>
      <p:sp>
        <p:nvSpPr>
          <p:cNvPr id="20" name="wl0|fx=6:rise:with:0.1:0.5"/>
          <p:cNvSpPr txBox="1"/>
          <p:nvPr/>
        </p:nvSpPr>
        <p:spPr>
          <a:xfrm>
            <a:off x="8961120" y="228600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сколько денег списано за последние сутки</a:t>
            </a:r>
          </a:p>
        </p:txBody>
      </p:sp>
      <p:sp>
        <p:nvSpPr>
          <p:cNvPr id="21" name="wn1|fx=6:rise:with:0.2:0.5"/>
          <p:cNvSpPr txBox="1"/>
          <p:nvPr/>
        </p:nvSpPr>
        <p:spPr>
          <a:xfrm>
            <a:off x="7498079" y="28803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+4,3 тыс.</a:t>
            </a:r>
          </a:p>
        </p:txBody>
      </p:sp>
      <p:sp>
        <p:nvSpPr>
          <p:cNvPr id="22" name="wl1|fx=6:rise:with:0.2:0.5"/>
          <p:cNvSpPr txBox="1"/>
          <p:nvPr/>
        </p:nvSpPr>
        <p:spPr>
          <a:xfrm>
            <a:off x="8961120" y="292608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пауза после прошлой операции</a:t>
            </a:r>
          </a:p>
        </p:txBody>
      </p:sp>
      <p:sp>
        <p:nvSpPr>
          <p:cNvPr id="23" name="wn2|fx=6:rise:with:0.30000000000000004:0.5"/>
          <p:cNvSpPr txBox="1"/>
          <p:nvPr/>
        </p:nvSpPr>
        <p:spPr>
          <a:xfrm>
            <a:off x="7498079" y="352044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+2,4 тыс.</a:t>
            </a:r>
          </a:p>
        </p:txBody>
      </p:sp>
      <p:sp>
        <p:nvSpPr>
          <p:cNvPr id="24" name="wl2|fx=6:rise:with:0.30000000000000004:0.5"/>
          <p:cNvSpPr txBox="1"/>
          <p:nvPr/>
        </p:nvSpPr>
        <p:spPr>
          <a:xfrm>
            <a:off x="8961120" y="356616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сумма растёт внутри серии</a:t>
            </a:r>
          </a:p>
        </p:txBody>
      </p:sp>
      <p:sp>
        <p:nvSpPr>
          <p:cNvPr id="25" name="res|fx=7:rise:after:0:0.5|3d=tile"/>
          <p:cNvSpPr/>
          <p:nvPr/>
        </p:nvSpPr>
        <p:spPr>
          <a:xfrm>
            <a:off x="7223760" y="443484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t|fx=7:rise:with:0:0.5"/>
          <p:cNvSpPr txBox="1"/>
          <p:nvPr/>
        </p:nvSpPr>
        <p:spPr>
          <a:xfrm>
            <a:off x="7498079" y="4590288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8A7A"/>
                </a:solidFill>
                <a:latin typeface="Calibri"/>
              </a:rPr>
              <a:t>Итог: 251 417 у.е. — 98,4% потолка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Лучше всех ловит продолжение серии.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Запрет ничего не стоил по деньгам, а модель стала предсказуемее.</a:t>
            </a:r>
          </a:p>
        </p:txBody>
      </p:sp>
      <p:sp>
        <p:nvSpPr>
          <p:cNvPr id="2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phA|3d=sphere"/>
          <p:cNvSpPr/>
          <p:nvPr/>
        </p:nvSpPr>
        <p:spPr>
          <a:xfrm>
            <a:off x="928116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!!sphB|3d=sphere"/>
          <p:cNvSpPr/>
          <p:nvPr/>
        </p:nvSpPr>
        <p:spPr>
          <a:xfrm>
            <a:off x="10104120" y="612648"/>
            <a:ext cx="457200" cy="457200"/>
          </a:xfrm>
          <a:prstGeom prst="ellipse">
            <a:avLst/>
          </a:prstGeom>
          <a:solidFill>
            <a:srgbClr val="B8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4" name="!!sphC|3d=sphere"/>
          <p:cNvSpPr/>
          <p:nvPr/>
        </p:nvSpPr>
        <p:spPr>
          <a:xfrm>
            <a:off x="10698480" y="384048"/>
            <a:ext cx="914400" cy="914400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5" name="!!soltitle"/>
          <p:cNvSpPr txBox="1"/>
          <p:nvPr/>
        </p:nvSpPr>
        <p:spPr>
          <a:xfrm>
            <a:off x="548640" y="384048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1A22"/>
                </a:solidFill>
                <a:latin typeface="Cambria"/>
              </a:rPr>
              <a:t>Решение C: «Что выгоднее проверить»</a:t>
            </a:r>
          </a:p>
        </p:txBody>
      </p:sp>
      <p:sp>
        <p:nvSpPr>
          <p:cNvPr id="6" name="!!solsub"/>
          <p:cNvSpPr txBox="1"/>
          <p:nvPr/>
        </p:nvSpPr>
        <p:spPr>
          <a:xfrm>
            <a:off x="548640" y="1042415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Деньги · LightGBM, который «учится деньгам»</a:t>
            </a:r>
          </a:p>
        </p:txBody>
      </p:sp>
      <p:sp>
        <p:nvSpPr>
          <p:cNvPr id="7" name="scenbox|fx=1:fade:after:0.3:0.5"/>
          <p:cNvSpPr/>
          <p:nvPr/>
        </p:nvSpPr>
        <p:spPr>
          <a:xfrm>
            <a:off x="548640" y="1645920"/>
            <a:ext cx="6263640" cy="56692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cen|fx=1:fade:with:0:0.5"/>
          <p:cNvSpPr txBox="1"/>
          <p:nvPr/>
        </p:nvSpPr>
        <p:spPr>
          <a:xfrm>
            <a:off x="777240" y="1645920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F8A7A"/>
                </a:solidFill>
                <a:latin typeface="Calibri"/>
              </a:rPr>
              <a:t>Сценарий. </a:t>
            </a:r>
            <a:r>
              <a:rPr sz="1500" b="0">
                <a:solidFill>
                  <a:srgbClr val="161A22"/>
                </a:solidFill>
                <a:latin typeface="Calibri"/>
              </a:rPr>
              <a:t>Решение принимается по деньгам — при жёстком лимите аналитиков.</a:t>
            </a:r>
          </a:p>
        </p:txBody>
      </p:sp>
      <p:sp>
        <p:nvSpPr>
          <p:cNvPr id="9" name="in0|fx=2:zoom:after:0:0.35|3d=sphere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it0|fx=2:fade:with:0.1:0.4"/>
          <p:cNvSpPr txBox="1"/>
          <p:nvPr/>
        </p:nvSpPr>
        <p:spPr>
          <a:xfrm>
            <a:off x="1024128" y="2468880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Выбор по пользе проверки в у.е. (слайд 3) — самый большой эффект проекта.</a:t>
            </a:r>
          </a:p>
        </p:txBody>
      </p:sp>
      <p:sp>
        <p:nvSpPr>
          <p:cNvPr id="11" name="in1|fx=3:zoom:after:0:0.35|3d=sphere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it1|fx=3:fade:with:0.1:0.4"/>
          <p:cNvSpPr txBox="1"/>
          <p:nvPr/>
        </p:nvSpPr>
        <p:spPr>
          <a:xfrm>
            <a:off x="1024128" y="3182112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Модель «учится деньгам»: пропущенный дорогой фрод при обучении весит больше дешёвого.</a:t>
            </a:r>
          </a:p>
        </p:txBody>
      </p:sp>
      <p:sp>
        <p:nvSpPr>
          <p:cNvPr id="13" name="in2|fx=4:zoom:after:0:0.35|3d=sphere"/>
          <p:cNvSpPr/>
          <p:nvPr/>
        </p:nvSpPr>
        <p:spPr>
          <a:xfrm>
            <a:off x="548640" y="3913631"/>
            <a:ext cx="329184" cy="32918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it2|fx=4:fade:with:0.1:0.4"/>
          <p:cNvSpPr txBox="1"/>
          <p:nvPr/>
        </p:nvSpPr>
        <p:spPr>
          <a:xfrm>
            <a:off x="1024128" y="3895344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A22"/>
                </a:solidFill>
                <a:latin typeface="Calibri"/>
              </a:rPr>
              <a:t>Риск категорий — только по меткам старше 30 дней: банк узнаёт о краже не сразу.</a:t>
            </a:r>
          </a:p>
        </p:txBody>
      </p:sp>
      <p:sp>
        <p:nvSpPr>
          <p:cNvPr id="15" name="cmph|fx=5:fade:after:0:0.3"/>
          <p:cNvSpPr txBox="1"/>
          <p:nvPr/>
        </p:nvSpPr>
        <p:spPr>
          <a:xfrm>
            <a:off x="548640" y="4754880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16" name="cmp|fx=5:wipe:with:0.1:0.8|dir=left"/>
          <p:cNvGraphicFramePr>
            <a:graphicFrameLocks noGrp="1"/>
          </p:cNvGraphicFramePr>
          <p:nvPr/>
        </p:nvGraphicFramePr>
        <p:xfrm>
          <a:off x="411480" y="4983480"/>
          <a:ext cx="640080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wins|fx=6:rise:after:0:0.5|3d=tile"/>
          <p:cNvSpPr/>
          <p:nvPr/>
        </p:nvSpPr>
        <p:spPr>
          <a:xfrm>
            <a:off x="7223760" y="1645920"/>
            <a:ext cx="4434840" cy="2606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insh|fx=6:rise:with:0:0.5"/>
          <p:cNvSpPr txBox="1"/>
          <p:nvPr/>
        </p:nvSpPr>
        <p:spPr>
          <a:xfrm>
            <a:off x="7498079" y="18105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9" name="wn0|fx=6:rise:with:0.1:0.5"/>
          <p:cNvSpPr txBox="1"/>
          <p:nvPr/>
        </p:nvSpPr>
        <p:spPr>
          <a:xfrm>
            <a:off x="7498079" y="22402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+69,4 тыс.</a:t>
            </a:r>
          </a:p>
        </p:txBody>
      </p:sp>
      <p:sp>
        <p:nvSpPr>
          <p:cNvPr id="20" name="wl0|fx=6:rise:with:0.1:0.5"/>
          <p:cNvSpPr txBox="1"/>
          <p:nvPr/>
        </p:nvSpPr>
        <p:spPr>
          <a:xfrm>
            <a:off x="8961120" y="228600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выбор по деньгам, а не по вероятности</a:t>
            </a:r>
          </a:p>
        </p:txBody>
      </p:sp>
      <p:sp>
        <p:nvSpPr>
          <p:cNvPr id="21" name="wn1|fx=6:rise:with:0.2:0.5"/>
          <p:cNvSpPr txBox="1"/>
          <p:nvPr/>
        </p:nvSpPr>
        <p:spPr>
          <a:xfrm>
            <a:off x="7498079" y="28803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+3,2 тыс.</a:t>
            </a:r>
          </a:p>
        </p:txBody>
      </p:sp>
      <p:sp>
        <p:nvSpPr>
          <p:cNvPr id="22" name="wl1|fx=6:rise:with:0.2:0.5"/>
          <p:cNvSpPr txBox="1"/>
          <p:nvPr/>
        </p:nvSpPr>
        <p:spPr>
          <a:xfrm>
            <a:off x="8961120" y="292608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обучение с весами по деньгам</a:t>
            </a:r>
          </a:p>
        </p:txBody>
      </p:sp>
      <p:sp>
        <p:nvSpPr>
          <p:cNvPr id="23" name="wn2|fx=6:rise:with:0.30000000000000004:0.5"/>
          <p:cNvSpPr txBox="1"/>
          <p:nvPr/>
        </p:nvSpPr>
        <p:spPr>
          <a:xfrm>
            <a:off x="7498079" y="352044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F8A7A"/>
                </a:solidFill>
                <a:latin typeface="Cambria"/>
              </a:rPr>
              <a:t>≈ 0</a:t>
            </a:r>
          </a:p>
        </p:txBody>
      </p:sp>
      <p:sp>
        <p:nvSpPr>
          <p:cNvPr id="24" name="wl2|fx=6:rise:with:0.30000000000000004:0.5"/>
          <p:cNvSpPr txBox="1"/>
          <p:nvPr/>
        </p:nvSpPr>
        <p:spPr>
          <a:xfrm>
            <a:off x="8961120" y="356616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цена реализма: задержка меток 30 дней</a:t>
            </a:r>
          </a:p>
        </p:txBody>
      </p:sp>
      <p:sp>
        <p:nvSpPr>
          <p:cNvPr id="25" name="res|fx=7:rise:after:0:0.5|3d=tile"/>
          <p:cNvSpPr/>
          <p:nvPr/>
        </p:nvSpPr>
        <p:spPr>
          <a:xfrm>
            <a:off x="7223760" y="443484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t|fx=7:rise:with:0:0.5"/>
          <p:cNvSpPr txBox="1"/>
          <p:nvPr/>
        </p:nvSpPr>
        <p:spPr>
          <a:xfrm>
            <a:off x="7498079" y="4590288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F8A7A"/>
                </a:solidFill>
                <a:latin typeface="Calibri"/>
              </a:rPr>
              <a:t>Итог: 239 249 у.е.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Риск среды деревьям не нужен, простой модели дал +9,2 тыс.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61A22"/>
                </a:solidFill>
                <a:latin typeface="Calibri"/>
              </a:rPr>
              <a:t>Без меток (Isolation Forest) — 167 тыс.: необычное ≠ мошенническое.</a:t>
            </a:r>
          </a:p>
        </p:txBody>
      </p:sp>
      <p:sp>
        <p:nvSpPr>
          <p:cNvPr id="27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|fx=0:fade:with:0:0.6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Турнир: работу делают признаки, а не модель</a:t>
            </a:r>
          </a:p>
        </p:txBody>
      </p:sp>
      <p:sp>
        <p:nvSpPr>
          <p:cNvPr id="3" name="sub|fx=0:fade:with:0.1:0.6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Поменяли модели местами. Экономия за 2 месяца проверки, тыс. у.е. Чем зеленее — тем больше денег</a:t>
            </a:r>
          </a:p>
        </p:txBody>
      </p:sp>
      <p:graphicFrame>
        <p:nvGraphicFramePr>
          <p:cNvPr id="4" name="table|fx=1:fade:after:0.1:0.7"/>
          <p:cNvGraphicFramePr>
            <a:graphicFrameLocks noGrp="1"/>
          </p:cNvGraphicFramePr>
          <p:nvPr/>
        </p:nvGraphicFramePr>
        <p:xfrm>
          <a:off x="548640" y="178308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143000"/>
                <a:gridCol w="1325880"/>
                <a:gridCol w="146304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Признаки \ модель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LightGBM с запретом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LightGBM «учит деньгам»</a:t>
                      </a:r>
                    </a:p>
                  </a:txBody>
                  <a:tcPr marL="73152" marR="73152" anchor="ctr">
                    <a:solidFill>
                      <a:srgbClr val="14171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161A22"/>
                          </a:solidFill>
                          <a:latin typeface="Calibri"/>
                        </a:rPr>
                        <a:t>Сырые поля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173,6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235,4</a:t>
                      </a:r>
                    </a:p>
                  </a:txBody>
                  <a:tcPr marL="73152" marR="73152" anchor="ctr">
                    <a:solidFill>
                      <a:srgbClr val="62AC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235,4</a:t>
                      </a:r>
                    </a:p>
                  </a:txBody>
                  <a:tcPr marL="73152" marR="73152" anchor="ctr">
                    <a:solidFill>
                      <a:srgbClr val="62AC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238,6</a:t>
                      </a:r>
                    </a:p>
                  </a:txBody>
                  <a:tcPr marL="73152" marR="73152" anchor="ctr">
                    <a:solidFill>
                      <a:srgbClr val="57A69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161A22"/>
                          </a:solidFill>
                          <a:latin typeface="Calibri"/>
                        </a:rPr>
                        <a:t>+ A профиль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224,1</a:t>
                      </a:r>
                    </a:p>
                  </a:txBody>
                  <a:tcPr marL="73152" marR="73152" anchor="ctr">
                    <a:solidFill>
                      <a:srgbClr val="88B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245,3</a:t>
                      </a:r>
                    </a:p>
                  </a:txBody>
                  <a:tcPr marL="73152" marR="73152" anchor="ctr">
                    <a:solidFill>
                      <a:srgbClr val="3E99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245,3</a:t>
                      </a:r>
                    </a:p>
                  </a:txBody>
                  <a:tcPr marL="73152" marR="73152" anchor="ctr">
                    <a:solidFill>
                      <a:srgbClr val="3E99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247,5</a:t>
                      </a:r>
                    </a:p>
                  </a:txBody>
                  <a:tcPr marL="73152" marR="73152" anchor="ctr">
                    <a:solidFill>
                      <a:srgbClr val="359587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161A22"/>
                          </a:solidFill>
                          <a:latin typeface="Calibri"/>
                        </a:rPr>
                        <a:t>+ B ритм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202,7</a:t>
                      </a:r>
                    </a:p>
                  </a:txBody>
                  <a:tcPr marL="73152" marR="73152" anchor="ctr">
                    <a:solidFill>
                      <a:srgbClr val="C3DD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249,6</a:t>
                      </a:r>
                    </a:p>
                  </a:txBody>
                  <a:tcPr marL="73152" marR="73152" anchor="ctr">
                    <a:solidFill>
                      <a:srgbClr val="2D91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251,4</a:t>
                      </a:r>
                    </a:p>
                  </a:txBody>
                  <a:tcPr marL="73152" marR="73152" anchor="ctr">
                    <a:solidFill>
                      <a:srgbClr val="268D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252,0</a:t>
                      </a:r>
                    </a:p>
                  </a:txBody>
                  <a:tcPr marL="73152" marR="73152" anchor="ctr">
                    <a:solidFill>
                      <a:srgbClr val="238C7C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161A22"/>
                          </a:solidFill>
                          <a:latin typeface="Calibri"/>
                        </a:rPr>
                        <a:t>+ C среда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182,8</a:t>
                      </a:r>
                    </a:p>
                  </a:txBody>
                  <a:tcPr marL="73152" marR="73152" anchor="ctr">
                    <a:solidFill>
                      <a:srgbClr val="E8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234,4</a:t>
                      </a:r>
                    </a:p>
                  </a:txBody>
                  <a:tcPr marL="73152" marR="73152" anchor="ctr">
                    <a:solidFill>
                      <a:srgbClr val="66AE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234,4</a:t>
                      </a:r>
                    </a:p>
                  </a:txBody>
                  <a:tcPr marL="73152" marR="73152" anchor="ctr">
                    <a:solidFill>
                      <a:srgbClr val="66AEA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239,2</a:t>
                      </a:r>
                    </a:p>
                  </a:txBody>
                  <a:tcPr marL="73152" marR="73152" anchor="ctr">
                    <a:solidFill>
                      <a:srgbClr val="55A59A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161A22"/>
                          </a:solidFill>
                          <a:latin typeface="Calibri"/>
                        </a:rPr>
                        <a:t>+ A + 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227,1</a:t>
                      </a:r>
                    </a:p>
                  </a:txBody>
                  <a:tcPr marL="73152" marR="73152" anchor="ctr">
                    <a:solidFill>
                      <a:srgbClr val="7EBA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249,0</a:t>
                      </a:r>
                    </a:p>
                  </a:txBody>
                  <a:tcPr marL="73152" marR="73152" anchor="ctr">
                    <a:solidFill>
                      <a:srgbClr val="2F928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250,2</a:t>
                      </a:r>
                    </a:p>
                  </a:txBody>
                  <a:tcPr marL="73152" marR="73152" anchor="ctr">
                    <a:solidFill>
                      <a:srgbClr val="2A90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252,3</a:t>
                      </a:r>
                    </a:p>
                  </a:txBody>
                  <a:tcPr marL="73152" marR="73152" anchor="ctr">
                    <a:solidFill>
                      <a:srgbClr val="228B7C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161A22"/>
                          </a:solidFill>
                          <a:latin typeface="Calibri"/>
                        </a:rPr>
                        <a:t>+ A + B + сумма из 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61A22"/>
                          </a:solidFill>
                          <a:latin typeface="Calibri"/>
                        </a:rPr>
                        <a:t>226,1</a:t>
                      </a:r>
                    </a:p>
                  </a:txBody>
                  <a:tcPr marL="73152" marR="73152" anchor="ctr">
                    <a:solidFill>
                      <a:srgbClr val="82BC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250,7</a:t>
                      </a:r>
                    </a:p>
                  </a:txBody>
                  <a:tcPr marL="73152" marR="73152" anchor="ctr">
                    <a:solidFill>
                      <a:srgbClr val="288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250,5</a:t>
                      </a:r>
                    </a:p>
                  </a:txBody>
                  <a:tcPr marL="73152" marR="73152" anchor="ctr">
                    <a:solidFill>
                      <a:srgbClr val="298F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252,5</a:t>
                      </a:r>
                    </a:p>
                  </a:txBody>
                  <a:tcPr marL="73152" marR="73152" anchor="ctr">
                    <a:solidFill>
                      <a:srgbClr val="218B7B"/>
                    </a:solidFill>
                  </a:tcPr>
                </a:tc>
              </a:tr>
            </a:tbl>
          </a:graphicData>
        </a:graphic>
      </p:graphicFrame>
      <p:sp>
        <p:nvSpPr>
          <p:cNvPr id="5" name="finalring|fx=6:zoom:click:0:0.5"/>
          <p:cNvSpPr/>
          <p:nvPr/>
        </p:nvSpPr>
        <p:spPr>
          <a:xfrm>
            <a:off x="5989320" y="4794068"/>
            <a:ext cx="1554480" cy="600891"/>
          </a:xfrm>
          <a:prstGeom prst="roundRect">
            <a:avLst>
              <a:gd name="adj" fmla="val 15000"/>
            </a:avLst>
          </a:prstGeom>
          <a:noFill/>
          <a:ln w="50800">
            <a:solidFill>
              <a:srgbClr val="E9A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note|fx=2:fade:after:0:0.4"/>
          <p:cNvSpPr txBox="1"/>
          <p:nvPr/>
        </p:nvSpPr>
        <p:spPr>
          <a:xfrm>
            <a:off x="548640" y="54864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Потолок (идеальная модель) — 255,5. Финал — 252,5 = 98,8% потолка. Между вариантами LightGBM на одних признаках — до 3,3 тыс., это шум.</a:t>
            </a:r>
          </a:p>
        </p:txBody>
      </p:sp>
      <p:sp>
        <p:nvSpPr>
          <p:cNvPr id="7" name="panel|fx=3:fade:after:0:0.4|3d=tile"/>
          <p:cNvSpPr/>
          <p:nvPr/>
        </p:nvSpPr>
        <p:spPr>
          <a:xfrm>
            <a:off x="7818120" y="1783080"/>
            <a:ext cx="3840480" cy="4480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h|fx=3:fade:with:0:0.4"/>
          <p:cNvSpPr txBox="1"/>
          <p:nvPr/>
        </p:nvSpPr>
        <p:spPr>
          <a:xfrm>
            <a:off x="8092440" y="19385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1A22"/>
                </a:solidFill>
                <a:latin typeface="Cambria"/>
              </a:rPr>
              <a:t>Что видно</a:t>
            </a:r>
          </a:p>
        </p:txBody>
      </p:sp>
      <p:sp>
        <p:nvSpPr>
          <p:cNvPr id="9" name="pts|fx=4:fade:click:0:0.5"/>
          <p:cNvSpPr txBox="1"/>
          <p:nvPr/>
        </p:nvSpPr>
        <p:spPr>
          <a:xfrm>
            <a:off x="8092440" y="242316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161A22"/>
                </a:solidFill>
                <a:latin typeface="Calibri"/>
              </a:rPr>
              <a:t>По строкам: </a:t>
            </a:r>
            <a:r>
              <a:rPr sz="1350" b="0">
                <a:solidFill>
                  <a:srgbClr val="161A22"/>
                </a:solidFill>
                <a:latin typeface="Calibri"/>
              </a:rPr>
              <a:t>признаки A+B дают +13,6…14,8 тыс. на любом дереве.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161A22"/>
                </a:solidFill>
                <a:latin typeface="Calibri"/>
              </a:rPr>
              <a:t>По столбцам: </a:t>
            </a:r>
            <a:r>
              <a:rPr sz="1350" b="0">
                <a:solidFill>
                  <a:srgbClr val="161A22"/>
                </a:solidFill>
                <a:latin typeface="Calibri"/>
              </a:rPr>
              <a:t>деревья между собой — в пределах шума.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161A22"/>
                </a:solidFill>
                <a:latin typeface="Calibri"/>
              </a:rPr>
              <a:t>Простая модель </a:t>
            </a:r>
            <a:r>
              <a:rPr sz="1350" b="0">
                <a:solidFill>
                  <a:srgbClr val="161A22"/>
                </a:solidFill>
                <a:latin typeface="Calibri"/>
              </a:rPr>
              <a:t>отстаёт на 17–62 тыс.: не видит, что фрод дорогой в одних категориях и дешёвый в других.</a:t>
            </a:r>
          </a:p>
        </p:txBody>
      </p:sp>
      <p:sp>
        <p:nvSpPr>
          <p:cNvPr id="10" name="why|fx=5:fade:click:0:0.5"/>
          <p:cNvSpPr txBox="1"/>
          <p:nvPr/>
        </p:nvSpPr>
        <p:spPr>
          <a:xfrm>
            <a:off x="8092440" y="4572000"/>
            <a:ext cx="3383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8A7A"/>
                </a:solidFill>
                <a:latin typeface="Calibri"/>
              </a:rPr>
              <a:t>Финал — A и B вместе: </a:t>
            </a:r>
            <a:r>
              <a:rPr sz="1350" b="0">
                <a:solidFill>
                  <a:srgbClr val="161A22"/>
                </a:solidFill>
                <a:latin typeface="Calibri"/>
              </a:rPr>
              <a:t>A лучше ловит первую кражу, B — продолжение серии. Вместе — оба сценария и меньше всего честных остановок: 27 против 76 у базы.</a:t>
            </a:r>
          </a:p>
        </p:txBody>
      </p:sp>
      <p:sp>
        <p:nvSpPr>
          <p:cNvPr id="11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|fx=0:fade:with:0:0.6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Экономика: 323 тысячи за два месяца</a:t>
            </a:r>
          </a:p>
        </p:txBody>
      </p:sp>
      <p:sp>
        <p:nvSpPr>
          <p:cNvPr id="3" name="sub|fx=0:fade:with:0.1:0.6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Отложенные 2 месяца (22.04–21.06.2020) — их не трогали до конца. Одна монета = 20 тыс. у.е.</a:t>
            </a:r>
          </a:p>
        </p:txBody>
      </p:sp>
      <p:grpSp>
        <p:nvGrpSpPr>
          <p:cNvPr id="4" name="stack0|fx=1:wipe:after:0.05:0.7"/>
          <p:cNvGrpSpPr/>
          <p:nvPr/>
        </p:nvGrpSpPr>
        <p:grpSpPr>
          <a:xfrm>
            <a:off x="685800" y="4206240"/>
            <a:ext cx="914400" cy="1325880"/>
            <a:chOff x="685800" y="4206240"/>
            <a:chExt cx="914400" cy="1325880"/>
          </a:xfrm>
        </p:grpSpPr>
        <p:sp>
          <p:nvSpPr>
            <p:cNvPr id="5" name="coin0_0|3d=coin_grey"/>
            <p:cNvSpPr/>
            <p:nvPr/>
          </p:nvSpPr>
          <p:spPr>
            <a:xfrm>
              <a:off x="685800" y="46177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coin0_1|3d=coin_grey"/>
            <p:cNvSpPr/>
            <p:nvPr/>
          </p:nvSpPr>
          <p:spPr>
            <a:xfrm>
              <a:off x="685800" y="448055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coin0_2|3d=coin_grey"/>
            <p:cNvSpPr/>
            <p:nvPr/>
          </p:nvSpPr>
          <p:spPr>
            <a:xfrm>
              <a:off x="685800" y="43434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oin0_3|3d=coin_grey"/>
            <p:cNvSpPr/>
            <p:nvPr/>
          </p:nvSpPr>
          <p:spPr>
            <a:xfrm>
              <a:off x="685800" y="420624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sv0|fx=1:fade:after:0:0.3"/>
          <p:cNvSpPr txBox="1"/>
          <p:nvPr/>
        </p:nvSpPr>
        <p:spPr>
          <a:xfrm>
            <a:off x="502920" y="402335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76 358</a:t>
            </a:r>
          </a:p>
        </p:txBody>
      </p:sp>
      <p:sp>
        <p:nvSpPr>
          <p:cNvPr id="10" name="sl0|fx=1:fade:with:0:0.3"/>
          <p:cNvSpPr txBox="1"/>
          <p:nvPr/>
        </p:nvSpPr>
        <p:spPr>
          <a:xfrm>
            <a:off x="484632" y="5394959"/>
            <a:ext cx="1316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Правило «самые дорогие»</a:t>
            </a:r>
          </a:p>
        </p:txBody>
      </p:sp>
      <p:grpSp>
        <p:nvGrpSpPr>
          <p:cNvPr id="11" name="stack1|fx=2:wipe:after:0.05:0.7"/>
          <p:cNvGrpSpPr/>
          <p:nvPr/>
        </p:nvGrpSpPr>
        <p:grpSpPr>
          <a:xfrm>
            <a:off x="1984248" y="3246120"/>
            <a:ext cx="914400" cy="2286000"/>
            <a:chOff x="1984248" y="3246120"/>
            <a:chExt cx="914400" cy="2286000"/>
          </a:xfrm>
        </p:grpSpPr>
        <p:sp>
          <p:nvSpPr>
            <p:cNvPr id="12" name="coin1_0|3d=coin_grey"/>
            <p:cNvSpPr/>
            <p:nvPr/>
          </p:nvSpPr>
          <p:spPr>
            <a:xfrm>
              <a:off x="1984248" y="46177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oin1_1|3d=coin_grey"/>
            <p:cNvSpPr/>
            <p:nvPr/>
          </p:nvSpPr>
          <p:spPr>
            <a:xfrm>
              <a:off x="1984248" y="448055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oin1_2|3d=coin_grey"/>
            <p:cNvSpPr/>
            <p:nvPr/>
          </p:nvSpPr>
          <p:spPr>
            <a:xfrm>
              <a:off x="1984248" y="43434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oin1_3|3d=coin_grey"/>
            <p:cNvSpPr/>
            <p:nvPr/>
          </p:nvSpPr>
          <p:spPr>
            <a:xfrm>
              <a:off x="1984248" y="420624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oin1_4|3d=coin_grey"/>
            <p:cNvSpPr/>
            <p:nvPr/>
          </p:nvSpPr>
          <p:spPr>
            <a:xfrm>
              <a:off x="1984248" y="40690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oin1_5|3d=coin_grey"/>
            <p:cNvSpPr/>
            <p:nvPr/>
          </p:nvSpPr>
          <p:spPr>
            <a:xfrm>
              <a:off x="1984248" y="39319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oin1_6|3d=coin_grey"/>
            <p:cNvSpPr/>
            <p:nvPr/>
          </p:nvSpPr>
          <p:spPr>
            <a:xfrm>
              <a:off x="1984248" y="379476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coin1_7|3d=coin_grey"/>
            <p:cNvSpPr/>
            <p:nvPr/>
          </p:nvSpPr>
          <p:spPr>
            <a:xfrm>
              <a:off x="1984248" y="36576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oin1_8|3d=coin_grey"/>
            <p:cNvSpPr/>
            <p:nvPr/>
          </p:nvSpPr>
          <p:spPr>
            <a:xfrm>
              <a:off x="1984248" y="352043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oin1_9|3d=coin_grey"/>
            <p:cNvSpPr/>
            <p:nvPr/>
          </p:nvSpPr>
          <p:spPr>
            <a:xfrm>
              <a:off x="1984248" y="33832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oin1_10|3d=coin_grey"/>
            <p:cNvSpPr/>
            <p:nvPr/>
          </p:nvSpPr>
          <p:spPr>
            <a:xfrm>
              <a:off x="1984248" y="32461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sv1|fx=2:fade:after:0:0.3"/>
          <p:cNvSpPr txBox="1"/>
          <p:nvPr/>
        </p:nvSpPr>
        <p:spPr>
          <a:xfrm>
            <a:off x="1801368" y="30632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220 219</a:t>
            </a:r>
          </a:p>
        </p:txBody>
      </p:sp>
      <p:sp>
        <p:nvSpPr>
          <p:cNvPr id="24" name="sl1|fx=2:fade:with:0:0.3"/>
          <p:cNvSpPr txBox="1"/>
          <p:nvPr/>
        </p:nvSpPr>
        <p:spPr>
          <a:xfrm>
            <a:off x="1783080" y="5394959"/>
            <a:ext cx="1316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База, по вероятности</a:t>
            </a:r>
          </a:p>
        </p:txBody>
      </p:sp>
      <p:grpSp>
        <p:nvGrpSpPr>
          <p:cNvPr id="25" name="stack2|fx=3:wipe:after:0.05:0.7"/>
          <p:cNvGrpSpPr/>
          <p:nvPr/>
        </p:nvGrpSpPr>
        <p:grpSpPr>
          <a:xfrm>
            <a:off x="3282696" y="2697479"/>
            <a:ext cx="914400" cy="2834641"/>
            <a:chOff x="3282696" y="2697479"/>
            <a:chExt cx="914400" cy="2834641"/>
          </a:xfrm>
        </p:grpSpPr>
        <p:sp>
          <p:nvSpPr>
            <p:cNvPr id="26" name="coin2_0|3d=coin_grey"/>
            <p:cNvSpPr/>
            <p:nvPr/>
          </p:nvSpPr>
          <p:spPr>
            <a:xfrm>
              <a:off x="3282696" y="46177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coin2_1|3d=coin_grey"/>
            <p:cNvSpPr/>
            <p:nvPr/>
          </p:nvSpPr>
          <p:spPr>
            <a:xfrm>
              <a:off x="3282696" y="448055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oin2_2|3d=coin_grey"/>
            <p:cNvSpPr/>
            <p:nvPr/>
          </p:nvSpPr>
          <p:spPr>
            <a:xfrm>
              <a:off x="3282696" y="43434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oin2_3|3d=coin_grey"/>
            <p:cNvSpPr/>
            <p:nvPr/>
          </p:nvSpPr>
          <p:spPr>
            <a:xfrm>
              <a:off x="3282696" y="420624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oin2_4|3d=coin_grey"/>
            <p:cNvSpPr/>
            <p:nvPr/>
          </p:nvSpPr>
          <p:spPr>
            <a:xfrm>
              <a:off x="3282696" y="40690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oin2_5|3d=coin_grey"/>
            <p:cNvSpPr/>
            <p:nvPr/>
          </p:nvSpPr>
          <p:spPr>
            <a:xfrm>
              <a:off x="3282696" y="39319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oin2_6|3d=coin_grey"/>
            <p:cNvSpPr/>
            <p:nvPr/>
          </p:nvSpPr>
          <p:spPr>
            <a:xfrm>
              <a:off x="3282696" y="379476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oin2_7|3d=coin_grey"/>
            <p:cNvSpPr/>
            <p:nvPr/>
          </p:nvSpPr>
          <p:spPr>
            <a:xfrm>
              <a:off x="3282696" y="36576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oin2_8|3d=coin_grey"/>
            <p:cNvSpPr/>
            <p:nvPr/>
          </p:nvSpPr>
          <p:spPr>
            <a:xfrm>
              <a:off x="3282696" y="352043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coin2_9|3d=coin_grey"/>
            <p:cNvSpPr/>
            <p:nvPr/>
          </p:nvSpPr>
          <p:spPr>
            <a:xfrm>
              <a:off x="3282696" y="338328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oin2_10|3d=coin_grey"/>
            <p:cNvSpPr/>
            <p:nvPr/>
          </p:nvSpPr>
          <p:spPr>
            <a:xfrm>
              <a:off x="3282696" y="324612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oin2_11|3d=coin_grey"/>
            <p:cNvSpPr/>
            <p:nvPr/>
          </p:nvSpPr>
          <p:spPr>
            <a:xfrm>
              <a:off x="3282696" y="310896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oin2_12|3d=coin_grey"/>
            <p:cNvSpPr/>
            <p:nvPr/>
          </p:nvSpPr>
          <p:spPr>
            <a:xfrm>
              <a:off x="3282696" y="2971800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oin2_13|3d=coin_grey"/>
            <p:cNvSpPr/>
            <p:nvPr/>
          </p:nvSpPr>
          <p:spPr>
            <a:xfrm>
              <a:off x="3282696" y="283463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oin2_14|3d=coin_grey"/>
            <p:cNvSpPr/>
            <p:nvPr/>
          </p:nvSpPr>
          <p:spPr>
            <a:xfrm>
              <a:off x="3282696" y="2697479"/>
              <a:ext cx="914400" cy="914400"/>
            </a:xfrm>
            <a:prstGeom prst="ellipse">
              <a:avLst/>
            </a:prstGeom>
            <a:solidFill>
              <a:srgbClr val="8C96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sv2|fx=3:fade:after:0:0.3"/>
          <p:cNvSpPr txBox="1"/>
          <p:nvPr/>
        </p:nvSpPr>
        <p:spPr>
          <a:xfrm>
            <a:off x="3099815" y="251459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304 083</a:t>
            </a:r>
          </a:p>
        </p:txBody>
      </p:sp>
      <p:sp>
        <p:nvSpPr>
          <p:cNvPr id="42" name="sl2|fx=3:fade:with:0:0.3"/>
          <p:cNvSpPr txBox="1"/>
          <p:nvPr/>
        </p:nvSpPr>
        <p:spPr>
          <a:xfrm>
            <a:off x="3081527" y="5394959"/>
            <a:ext cx="1316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База, по деньгам</a:t>
            </a:r>
          </a:p>
        </p:txBody>
      </p:sp>
      <p:grpSp>
        <p:nvGrpSpPr>
          <p:cNvPr id="43" name="stack3|fx=4:wipe:after:0.05:0.7"/>
          <p:cNvGrpSpPr/>
          <p:nvPr/>
        </p:nvGrpSpPr>
        <p:grpSpPr>
          <a:xfrm>
            <a:off x="4581144" y="2560320"/>
            <a:ext cx="914400" cy="2971800"/>
            <a:chOff x="4581144" y="2560320"/>
            <a:chExt cx="914400" cy="2971800"/>
          </a:xfrm>
        </p:grpSpPr>
        <p:sp>
          <p:nvSpPr>
            <p:cNvPr id="44" name="coin3_0|3d=coin_gold"/>
            <p:cNvSpPr/>
            <p:nvPr/>
          </p:nvSpPr>
          <p:spPr>
            <a:xfrm>
              <a:off x="4581144" y="46177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coin3_1|3d=coin_gold"/>
            <p:cNvSpPr/>
            <p:nvPr/>
          </p:nvSpPr>
          <p:spPr>
            <a:xfrm>
              <a:off x="4581144" y="448055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coin3_2|3d=coin_gold"/>
            <p:cNvSpPr/>
            <p:nvPr/>
          </p:nvSpPr>
          <p:spPr>
            <a:xfrm>
              <a:off x="4581144" y="434340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coin3_3|3d=coin_gold"/>
            <p:cNvSpPr/>
            <p:nvPr/>
          </p:nvSpPr>
          <p:spPr>
            <a:xfrm>
              <a:off x="4581144" y="420624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coin3_4|3d=coin_gold"/>
            <p:cNvSpPr/>
            <p:nvPr/>
          </p:nvSpPr>
          <p:spPr>
            <a:xfrm>
              <a:off x="4581144" y="406908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oin3_5|3d=coin_gold"/>
            <p:cNvSpPr/>
            <p:nvPr/>
          </p:nvSpPr>
          <p:spPr>
            <a:xfrm>
              <a:off x="4581144" y="39319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coin3_6|3d=coin_gold"/>
            <p:cNvSpPr/>
            <p:nvPr/>
          </p:nvSpPr>
          <p:spPr>
            <a:xfrm>
              <a:off x="4581144" y="379476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coin3_7|3d=coin_gold"/>
            <p:cNvSpPr/>
            <p:nvPr/>
          </p:nvSpPr>
          <p:spPr>
            <a:xfrm>
              <a:off x="4581144" y="365760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coin3_8|3d=coin_gold"/>
            <p:cNvSpPr/>
            <p:nvPr/>
          </p:nvSpPr>
          <p:spPr>
            <a:xfrm>
              <a:off x="4581144" y="352043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coin3_9|3d=coin_gold"/>
            <p:cNvSpPr/>
            <p:nvPr/>
          </p:nvSpPr>
          <p:spPr>
            <a:xfrm>
              <a:off x="4581144" y="338328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oin3_10|3d=coin_gold"/>
            <p:cNvSpPr/>
            <p:nvPr/>
          </p:nvSpPr>
          <p:spPr>
            <a:xfrm>
              <a:off x="4581144" y="32461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oin3_11|3d=coin_gold"/>
            <p:cNvSpPr/>
            <p:nvPr/>
          </p:nvSpPr>
          <p:spPr>
            <a:xfrm>
              <a:off x="4581144" y="310896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oin3_12|3d=coin_gold"/>
            <p:cNvSpPr/>
            <p:nvPr/>
          </p:nvSpPr>
          <p:spPr>
            <a:xfrm>
              <a:off x="4581144" y="297180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coin3_13|3d=coin_gold"/>
            <p:cNvSpPr/>
            <p:nvPr/>
          </p:nvSpPr>
          <p:spPr>
            <a:xfrm>
              <a:off x="4581144" y="283463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coin3_14|3d=coin_gold"/>
            <p:cNvSpPr/>
            <p:nvPr/>
          </p:nvSpPr>
          <p:spPr>
            <a:xfrm>
              <a:off x="4581144" y="2697479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oin3_15|3d=coin_gold"/>
            <p:cNvSpPr/>
            <p:nvPr/>
          </p:nvSpPr>
          <p:spPr>
            <a:xfrm>
              <a:off x="4581144" y="2560320"/>
              <a:ext cx="914400" cy="914400"/>
            </a:xfrm>
            <a:prstGeom prst="ellipse">
              <a:avLst/>
            </a:prstGeom>
            <a:solidFill>
              <a:srgbClr val="D9A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sv3|fx=4:fade:after:0:0.3"/>
          <p:cNvSpPr txBox="1"/>
          <p:nvPr/>
        </p:nvSpPr>
        <p:spPr>
          <a:xfrm>
            <a:off x="4398264" y="23774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8A7A"/>
                </a:solidFill>
                <a:latin typeface="Calibri"/>
              </a:rPr>
              <a:t>323 389</a:t>
            </a:r>
          </a:p>
        </p:txBody>
      </p:sp>
      <p:sp>
        <p:nvSpPr>
          <p:cNvPr id="61" name="sl3|fx=4:fade:with:0:0.3"/>
          <p:cNvSpPr txBox="1"/>
          <p:nvPr/>
        </p:nvSpPr>
        <p:spPr>
          <a:xfrm>
            <a:off x="4379976" y="5394959"/>
            <a:ext cx="1316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8A7A"/>
                </a:solidFill>
                <a:latin typeface="Calibri"/>
              </a:rPr>
              <a:t>Наша система</a:t>
            </a:r>
          </a:p>
        </p:txBody>
      </p:sp>
      <p:grpSp>
        <p:nvGrpSpPr>
          <p:cNvPr id="62" name="stack4|fx=5:wipe:after:0.05:0.7"/>
          <p:cNvGrpSpPr/>
          <p:nvPr/>
        </p:nvGrpSpPr>
        <p:grpSpPr>
          <a:xfrm>
            <a:off x="5879592" y="2560320"/>
            <a:ext cx="914400" cy="2971800"/>
            <a:chOff x="5879592" y="2560320"/>
            <a:chExt cx="914400" cy="2971800"/>
          </a:xfrm>
        </p:grpSpPr>
        <p:sp>
          <p:nvSpPr>
            <p:cNvPr id="63" name="coin4_0|3d=coin_ghost"/>
            <p:cNvSpPr/>
            <p:nvPr/>
          </p:nvSpPr>
          <p:spPr>
            <a:xfrm>
              <a:off x="5879592" y="461772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coin4_1|3d=coin_ghost"/>
            <p:cNvSpPr/>
            <p:nvPr/>
          </p:nvSpPr>
          <p:spPr>
            <a:xfrm>
              <a:off x="5879592" y="4480559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coin4_2|3d=coin_ghost"/>
            <p:cNvSpPr/>
            <p:nvPr/>
          </p:nvSpPr>
          <p:spPr>
            <a:xfrm>
              <a:off x="5879592" y="434340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coin4_3|3d=coin_ghost"/>
            <p:cNvSpPr/>
            <p:nvPr/>
          </p:nvSpPr>
          <p:spPr>
            <a:xfrm>
              <a:off x="5879592" y="420624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coin4_4|3d=coin_ghost"/>
            <p:cNvSpPr/>
            <p:nvPr/>
          </p:nvSpPr>
          <p:spPr>
            <a:xfrm>
              <a:off x="5879592" y="406908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oin4_5|3d=coin_ghost"/>
            <p:cNvSpPr/>
            <p:nvPr/>
          </p:nvSpPr>
          <p:spPr>
            <a:xfrm>
              <a:off x="5879592" y="393192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oin4_6|3d=coin_ghost"/>
            <p:cNvSpPr/>
            <p:nvPr/>
          </p:nvSpPr>
          <p:spPr>
            <a:xfrm>
              <a:off x="5879592" y="379476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oin4_7|3d=coin_ghost"/>
            <p:cNvSpPr/>
            <p:nvPr/>
          </p:nvSpPr>
          <p:spPr>
            <a:xfrm>
              <a:off x="5879592" y="365760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coin4_8|3d=coin_ghost"/>
            <p:cNvSpPr/>
            <p:nvPr/>
          </p:nvSpPr>
          <p:spPr>
            <a:xfrm>
              <a:off x="5879592" y="3520439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coin4_9|3d=coin_ghost"/>
            <p:cNvSpPr/>
            <p:nvPr/>
          </p:nvSpPr>
          <p:spPr>
            <a:xfrm>
              <a:off x="5879592" y="338328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coin4_10|3d=coin_ghost"/>
            <p:cNvSpPr/>
            <p:nvPr/>
          </p:nvSpPr>
          <p:spPr>
            <a:xfrm>
              <a:off x="5879592" y="324612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oin4_11|3d=coin_ghost"/>
            <p:cNvSpPr/>
            <p:nvPr/>
          </p:nvSpPr>
          <p:spPr>
            <a:xfrm>
              <a:off x="5879592" y="310896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coin4_12|3d=coin_ghost"/>
            <p:cNvSpPr/>
            <p:nvPr/>
          </p:nvSpPr>
          <p:spPr>
            <a:xfrm>
              <a:off x="5879592" y="297180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oin4_13|3d=coin_ghost"/>
            <p:cNvSpPr/>
            <p:nvPr/>
          </p:nvSpPr>
          <p:spPr>
            <a:xfrm>
              <a:off x="5879592" y="2834639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coin4_14|3d=coin_ghost"/>
            <p:cNvSpPr/>
            <p:nvPr/>
          </p:nvSpPr>
          <p:spPr>
            <a:xfrm>
              <a:off x="5879592" y="2697479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coin4_15|3d=coin_ghost"/>
            <p:cNvSpPr/>
            <p:nvPr/>
          </p:nvSpPr>
          <p:spPr>
            <a:xfrm>
              <a:off x="5879592" y="2560320"/>
              <a:ext cx="914400" cy="914400"/>
            </a:xfrm>
            <a:prstGeom prst="ellipse">
              <a:avLst/>
            </a:prstGeom>
            <a:solidFill>
              <a:srgbClr val="EC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9" name="sv4|fx=5:fade:after:0:0.3"/>
          <p:cNvSpPr txBox="1"/>
          <p:nvPr/>
        </p:nvSpPr>
        <p:spPr>
          <a:xfrm>
            <a:off x="5696712" y="23774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A22"/>
                </a:solidFill>
                <a:latin typeface="Calibri"/>
              </a:rPr>
              <a:t>327 812</a:t>
            </a:r>
          </a:p>
        </p:txBody>
      </p:sp>
      <p:sp>
        <p:nvSpPr>
          <p:cNvPr id="80" name="sl4|fx=5:fade:with:0:0.3"/>
          <p:cNvSpPr txBox="1"/>
          <p:nvPr/>
        </p:nvSpPr>
        <p:spPr>
          <a:xfrm>
            <a:off x="5678424" y="5394959"/>
            <a:ext cx="1316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Calibri"/>
              </a:rPr>
              <a:t>Потолок</a:t>
            </a:r>
          </a:p>
        </p:txBody>
      </p:sp>
      <p:sp>
        <p:nvSpPr>
          <p:cNvPr id="81" name="honest|fx=6:fade:after:0:0.4"/>
          <p:cNvSpPr txBox="1"/>
          <p:nvPr/>
        </p:nvSpPr>
        <p:spPr>
          <a:xfrm>
            <a:off x="548640" y="59893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libri"/>
              </a:rPr>
              <a:t>Честных клиентов остановлено зря: </a:t>
            </a:r>
            <a:r>
              <a:rPr sz="1400" b="0">
                <a:solidFill>
                  <a:srgbClr val="161A22"/>
                </a:solidFill>
                <a:latin typeface="Calibri"/>
              </a:rPr>
              <a:t>правило 347 · база 48 и 72 · </a:t>
            </a:r>
            <a:r>
              <a:rPr sz="1400" b="1">
                <a:solidFill>
                  <a:srgbClr val="1F8A7A"/>
                </a:solidFill>
                <a:latin typeface="Calibri"/>
              </a:rPr>
              <a:t>наша система 30</a:t>
            </a:r>
          </a:p>
        </p:txBody>
      </p:sp>
      <p:sp>
        <p:nvSpPr>
          <p:cNvPr id="82" name="stress|fx=7:rise:click:0:0.5|3d=tile"/>
          <p:cNvSpPr/>
          <p:nvPr/>
        </p:nvSpPr>
        <p:spPr>
          <a:xfrm>
            <a:off x="7543800" y="1737360"/>
            <a:ext cx="4114800" cy="4526280"/>
          </a:xfrm>
          <a:prstGeom prst="roundRect">
            <a:avLst>
              <a:gd name="adj" fmla="val 5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h|fx=7:rise:with:0:0.5"/>
          <p:cNvSpPr txBox="1"/>
          <p:nvPr/>
        </p:nvSpPr>
        <p:spPr>
          <a:xfrm>
            <a:off x="7818120" y="190195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1A22"/>
                </a:solidFill>
                <a:latin typeface="Cambria"/>
              </a:rPr>
              <a:t>Если мошенничества станет втрое больше</a:t>
            </a:r>
          </a:p>
        </p:txBody>
      </p:sp>
      <p:sp>
        <p:nvSpPr>
          <p:cNvPr id="84" name="ssub|fx=7:rise:with:0:0.5"/>
          <p:cNvSpPr txBox="1"/>
          <p:nvPr/>
        </p:nvSpPr>
        <p:spPr>
          <a:xfrm>
            <a:off x="7818120" y="2651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Пропущено мошенничества за 2 месяца, у.е.:</a:t>
            </a:r>
          </a:p>
        </p:txBody>
      </p:sp>
      <p:sp>
        <p:nvSpPr>
          <p:cNvPr id="85" name="sc0|fx=8:fade:after:0:0.35"/>
          <p:cNvSpPr txBox="1"/>
          <p:nvPr/>
        </p:nvSpPr>
        <p:spPr>
          <a:xfrm>
            <a:off x="7818120" y="306324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лимит 0,3%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≈7 проверок в день</a:t>
            </a:r>
          </a:p>
        </p:txBody>
      </p:sp>
      <p:sp>
        <p:nvSpPr>
          <p:cNvPr id="86" name="sm0|fx=8:zoom:with:0:0.35"/>
          <p:cNvSpPr txBox="1"/>
          <p:nvPr/>
        </p:nvSpPr>
        <p:spPr>
          <a:xfrm>
            <a:off x="9509760" y="30632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D6452F"/>
                </a:solidFill>
                <a:latin typeface="Cambria"/>
              </a:rPr>
              <a:t>558 875</a:t>
            </a:r>
          </a:p>
        </p:txBody>
      </p:sp>
      <p:sp>
        <p:nvSpPr>
          <p:cNvPr id="87" name="sc1|fx=9:fade:after:0:0.35"/>
          <p:cNvSpPr txBox="1"/>
          <p:nvPr/>
        </p:nvSpPr>
        <p:spPr>
          <a:xfrm>
            <a:off x="7818120" y="3813048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лимит 0,5%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≈10 в день</a:t>
            </a:r>
          </a:p>
        </p:txBody>
      </p:sp>
      <p:sp>
        <p:nvSpPr>
          <p:cNvPr id="88" name="sm1|fx=9:zoom:with:0:0.35"/>
          <p:cNvSpPr txBox="1"/>
          <p:nvPr/>
        </p:nvSpPr>
        <p:spPr>
          <a:xfrm>
            <a:off x="9509760" y="381304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D6452F"/>
                </a:solidFill>
                <a:latin typeface="Cambria"/>
              </a:rPr>
              <a:t>232 918</a:t>
            </a:r>
          </a:p>
        </p:txBody>
      </p:sp>
      <p:sp>
        <p:nvSpPr>
          <p:cNvPr id="89" name="sc2|fx=10:fade:after:0:0.35"/>
          <p:cNvSpPr txBox="1"/>
          <p:nvPr/>
        </p:nvSpPr>
        <p:spPr>
          <a:xfrm>
            <a:off x="7818120" y="456285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A22"/>
                </a:solidFill>
                <a:latin typeface="Calibri"/>
              </a:rPr>
              <a:t>лимит 1%</a:t>
            </a:r>
          </a:p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≈15 в день</a:t>
            </a:r>
          </a:p>
        </p:txBody>
      </p:sp>
      <p:sp>
        <p:nvSpPr>
          <p:cNvPr id="90" name="sm2|fx=10:zoom:with:0:0.35"/>
          <p:cNvSpPr txBox="1"/>
          <p:nvPr/>
        </p:nvSpPr>
        <p:spPr>
          <a:xfrm>
            <a:off x="9509760" y="456285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D6452F"/>
                </a:solidFill>
                <a:latin typeface="Cambria"/>
              </a:rPr>
              <a:t>25 712</a:t>
            </a:r>
          </a:p>
        </p:txBody>
      </p:sp>
      <p:sp>
        <p:nvSpPr>
          <p:cNvPr id="91" name="snote|fx=11:fade:after:0:0.4"/>
          <p:cNvSpPr txBox="1"/>
          <p:nvPr/>
        </p:nvSpPr>
        <p:spPr>
          <a:xfrm>
            <a:off x="7818120" y="539496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A22"/>
                </a:solidFill>
                <a:latin typeface="Calibri"/>
              </a:rPr>
              <a:t>Больше 15–16 проверок в день почти ничего не добавляют — это ответ на вопрос, сколько аналитиков нужно.</a:t>
            </a:r>
          </a:p>
        </p:txBody>
      </p:sp>
      <p:sp>
        <p:nvSpPr>
          <p:cNvPr id="92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|fx=0:fade:with:0:0.6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A22"/>
                </a:solidFill>
                <a:latin typeface="Cambria"/>
              </a:rPr>
              <a:t>Что видит аналитик: три причины словами</a:t>
            </a:r>
          </a:p>
        </p:txBody>
      </p:sp>
      <p:sp>
        <p:nvSpPr>
          <p:cNvPr id="3" name="sub|fx=0:fade:with:0.1:0.6"/>
          <p:cNvSpPr txBox="1"/>
          <p:nvPr/>
        </p:nvSpPr>
        <p:spPr>
          <a:xfrm>
            <a:off x="548640" y="106984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Calibri"/>
              </a:rPr>
              <a:t>Настоящие операции с отложенных двух месяцев — выход score.py</a:t>
            </a:r>
          </a:p>
        </p:txBody>
      </p:sp>
      <p:sp>
        <p:nvSpPr>
          <p:cNvPr id="4" name="cd0|fx=1:rise:after:0.1:0.6|3d=tile"/>
          <p:cNvSpPr/>
          <p:nvPr/>
        </p:nvSpPr>
        <p:spPr>
          <a:xfrm>
            <a:off x="548640" y="17373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dt0|fx=1:rise:with:0:0.6"/>
          <p:cNvSpPr/>
          <p:nvPr/>
        </p:nvSpPr>
        <p:spPr>
          <a:xfrm>
            <a:off x="777240" y="192024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dtt0|fx=1:rise:with:0:0.6"/>
          <p:cNvSpPr txBox="1"/>
          <p:nvPr/>
        </p:nvSpPr>
        <p:spPr>
          <a:xfrm>
            <a:off x="777240" y="192024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8A7A"/>
                </a:solidFill>
                <a:latin typeface="Calibri"/>
              </a:rPr>
              <a:t>Мошенничество · поймано</a:t>
            </a:r>
          </a:p>
        </p:txBody>
      </p:sp>
      <p:sp>
        <p:nvSpPr>
          <p:cNvPr id="7" name="cdh0|fx=1:rise:with:0:0.6"/>
          <p:cNvSpPr txBox="1"/>
          <p:nvPr/>
        </p:nvSpPr>
        <p:spPr>
          <a:xfrm>
            <a:off x="777240" y="2468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08.06.2020, 23:49 · покупки в магазине</a:t>
            </a:r>
          </a:p>
        </p:txBody>
      </p:sp>
      <p:sp>
        <p:nvSpPr>
          <p:cNvPr id="8" name="cda0|fx=1:rise:with:0:0.6"/>
          <p:cNvSpPr txBox="1"/>
          <p:nvPr/>
        </p:nvSpPr>
        <p:spPr>
          <a:xfrm>
            <a:off x="777240" y="2788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libri"/>
              </a:rPr>
              <a:t>1 215,89 у.е. · вероятность 100%</a:t>
            </a:r>
          </a:p>
        </p:txBody>
      </p:sp>
      <p:sp>
        <p:nvSpPr>
          <p:cNvPr id="9" name="rn00|fx=1:rise:with:0.05:0.6|3d=sphere"/>
          <p:cNvSpPr/>
          <p:nvPr/>
        </p:nvSpPr>
        <p:spPr>
          <a:xfrm>
            <a:off x="777240" y="3401568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rt00|fx=1:rise:with:0.05:0.6"/>
          <p:cNvSpPr txBox="1"/>
          <p:nvPr/>
        </p:nvSpPr>
        <p:spPr>
          <a:xfrm>
            <a:off x="1234440" y="338328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За последние сутки по карте уже списано около 4 870 у.е.</a:t>
            </a:r>
          </a:p>
        </p:txBody>
      </p:sp>
      <p:sp>
        <p:nvSpPr>
          <p:cNvPr id="11" name="rn01|fx=1:rise:with:0.1:0.6|3d=sphere"/>
          <p:cNvSpPr/>
          <p:nvPr/>
        </p:nvSpPr>
        <p:spPr>
          <a:xfrm>
            <a:off x="777240" y="4059936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rt01|fx=1:rise:with:0.1:0.6"/>
          <p:cNvSpPr txBox="1"/>
          <p:nvPr/>
        </p:nvSpPr>
        <p:spPr>
          <a:xfrm>
            <a:off x="1234440" y="404164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дороже 99% покупок в категории «покупки в магазине»</a:t>
            </a:r>
          </a:p>
        </p:txBody>
      </p:sp>
      <p:sp>
        <p:nvSpPr>
          <p:cNvPr id="13" name="rn02|fx=1:rise:with:0.15000000000000002:0.6|3d=sphere"/>
          <p:cNvSpPr/>
          <p:nvPr/>
        </p:nvSpPr>
        <p:spPr>
          <a:xfrm>
            <a:off x="777240" y="4718304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t02|fx=1:rise:with:0.15000000000000002:0.6"/>
          <p:cNvSpPr txBox="1"/>
          <p:nvPr/>
        </p:nvSpPr>
        <p:spPr>
          <a:xfrm>
            <a:off x="1234440" y="4700016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Серия из 5 операций ночью</a:t>
            </a:r>
          </a:p>
        </p:txBody>
      </p:sp>
      <p:sp>
        <p:nvSpPr>
          <p:cNvPr id="15" name="cd1|fx=2:rise:after:0.1:0.6|3d=tile"/>
          <p:cNvSpPr/>
          <p:nvPr/>
        </p:nvSpPr>
        <p:spPr>
          <a:xfrm>
            <a:off x="4297679" y="17373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dt1|fx=2:rise:with:0:0.6"/>
          <p:cNvSpPr/>
          <p:nvPr/>
        </p:nvSpPr>
        <p:spPr>
          <a:xfrm>
            <a:off x="4526279" y="192024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dtt1|fx=2:rise:with:0:0.6"/>
          <p:cNvSpPr txBox="1"/>
          <p:nvPr/>
        </p:nvSpPr>
        <p:spPr>
          <a:xfrm>
            <a:off x="4526279" y="192024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8A7A"/>
                </a:solidFill>
                <a:latin typeface="Calibri"/>
              </a:rPr>
              <a:t>Мошенничество · новая карта</a:t>
            </a:r>
          </a:p>
        </p:txBody>
      </p:sp>
      <p:sp>
        <p:nvSpPr>
          <p:cNvPr id="18" name="cdh1|fx=2:rise:with:0:0.6"/>
          <p:cNvSpPr txBox="1"/>
          <p:nvPr/>
        </p:nvSpPr>
        <p:spPr>
          <a:xfrm>
            <a:off x="4526279" y="2468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07.06.2020, 22:10 · покупки в магазине</a:t>
            </a:r>
          </a:p>
        </p:txBody>
      </p:sp>
      <p:sp>
        <p:nvSpPr>
          <p:cNvPr id="19" name="cda1|fx=2:rise:with:0:0.6"/>
          <p:cNvSpPr txBox="1"/>
          <p:nvPr/>
        </p:nvSpPr>
        <p:spPr>
          <a:xfrm>
            <a:off x="4526279" y="2788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libri"/>
              </a:rPr>
              <a:t>1 324,80 у.е. · вероятность 75%</a:t>
            </a:r>
          </a:p>
        </p:txBody>
      </p:sp>
      <p:sp>
        <p:nvSpPr>
          <p:cNvPr id="20" name="rn10|fx=2:rise:with:0.05:0.6|3d=sphere"/>
          <p:cNvSpPr/>
          <p:nvPr/>
        </p:nvSpPr>
        <p:spPr>
          <a:xfrm>
            <a:off x="4526279" y="3401568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rt10|fx=2:rise:with:0.05:0.6"/>
          <p:cNvSpPr txBox="1"/>
          <p:nvPr/>
        </p:nvSpPr>
        <p:spPr>
          <a:xfrm>
            <a:off x="4983479" y="338328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дороже 99% покупок в категории «покупки в магазине»</a:t>
            </a:r>
          </a:p>
        </p:txBody>
      </p:sp>
      <p:sp>
        <p:nvSpPr>
          <p:cNvPr id="22" name="rn11|fx=2:rise:with:0.1:0.6|3d=sphere"/>
          <p:cNvSpPr/>
          <p:nvPr/>
        </p:nvSpPr>
        <p:spPr>
          <a:xfrm>
            <a:off x="4526279" y="4059936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rt11|fx=2:rise:with:0.1:0.6"/>
          <p:cNvSpPr txBox="1"/>
          <p:nvPr/>
        </p:nvSpPr>
        <p:spPr>
          <a:xfrm>
            <a:off x="4983479" y="404164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Новая карта: это её первая операция</a:t>
            </a:r>
          </a:p>
        </p:txBody>
      </p:sp>
      <p:sp>
        <p:nvSpPr>
          <p:cNvPr id="24" name="rn12|fx=2:rise:with:0.15000000000000002:0.6|3d=sphere"/>
          <p:cNvSpPr/>
          <p:nvPr/>
        </p:nvSpPr>
        <p:spPr>
          <a:xfrm>
            <a:off x="4526279" y="4718304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rt12|fx=2:rise:with:0.15000000000000002:0.6"/>
          <p:cNvSpPr txBox="1"/>
          <p:nvPr/>
        </p:nvSpPr>
        <p:spPr>
          <a:xfrm>
            <a:off x="4983479" y="4700016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Категория «покупки в магазине» — частая цель мошенников</a:t>
            </a:r>
          </a:p>
        </p:txBody>
      </p:sp>
      <p:sp>
        <p:nvSpPr>
          <p:cNvPr id="26" name="cd2|fx=3:rise:after:0.1:0.6|3d=tile"/>
          <p:cNvSpPr/>
          <p:nvPr/>
        </p:nvSpPr>
        <p:spPr>
          <a:xfrm>
            <a:off x="8046719" y="17373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dt2|fx=3:rise:with:0:0.6"/>
          <p:cNvSpPr/>
          <p:nvPr/>
        </p:nvSpPr>
        <p:spPr>
          <a:xfrm>
            <a:off x="8275319" y="192024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dtt2|fx=3:rise:with:0:0.6"/>
          <p:cNvSpPr txBox="1"/>
          <p:nvPr/>
        </p:nvSpPr>
        <p:spPr>
          <a:xfrm>
            <a:off x="8275319" y="192024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D6452F"/>
                </a:solidFill>
                <a:latin typeface="Calibri"/>
              </a:rPr>
              <a:t>Честная покупка · ложная тревога</a:t>
            </a:r>
          </a:p>
        </p:txBody>
      </p:sp>
      <p:sp>
        <p:nvSpPr>
          <p:cNvPr id="29" name="cdh2|fx=3:rise:with:0:0.6"/>
          <p:cNvSpPr txBox="1"/>
          <p:nvPr/>
        </p:nvSpPr>
        <p:spPr>
          <a:xfrm>
            <a:off x="8275319" y="2468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27.04.2020, 23:13 · покупки онлайн</a:t>
            </a:r>
          </a:p>
        </p:txBody>
      </p:sp>
      <p:sp>
        <p:nvSpPr>
          <p:cNvPr id="30" name="cda2|fx=3:rise:with:0:0.6"/>
          <p:cNvSpPr txBox="1"/>
          <p:nvPr/>
        </p:nvSpPr>
        <p:spPr>
          <a:xfrm>
            <a:off x="8275319" y="2788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A22"/>
                </a:solidFill>
                <a:latin typeface="Calibri"/>
              </a:rPr>
              <a:t>3 918,79 у.е. · вероятность 1,9%</a:t>
            </a:r>
          </a:p>
        </p:txBody>
      </p:sp>
      <p:sp>
        <p:nvSpPr>
          <p:cNvPr id="31" name="rn20|fx=3:rise:with:0.05:0.6|3d=sphere"/>
          <p:cNvSpPr/>
          <p:nvPr/>
        </p:nvSpPr>
        <p:spPr>
          <a:xfrm>
            <a:off x="8275319" y="3401568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2" name="rt20|fx=3:rise:with:0.05:0.6"/>
          <p:cNvSpPr txBox="1"/>
          <p:nvPr/>
        </p:nvSpPr>
        <p:spPr>
          <a:xfrm>
            <a:off x="8732519" y="338328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дороже 99% покупок в категории «покупки онлайн»</a:t>
            </a:r>
          </a:p>
        </p:txBody>
      </p:sp>
      <p:sp>
        <p:nvSpPr>
          <p:cNvPr id="33" name="rn21|fx=3:rise:with:0.1:0.6|3d=sphere"/>
          <p:cNvSpPr/>
          <p:nvPr/>
        </p:nvSpPr>
        <p:spPr>
          <a:xfrm>
            <a:off x="8275319" y="4059936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4" name="rt21|fx=3:rise:with:0.1:0.6"/>
          <p:cNvSpPr txBox="1"/>
          <p:nvPr/>
        </p:nvSpPr>
        <p:spPr>
          <a:xfrm>
            <a:off x="8732519" y="404164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Категория «покупки онлайн» — частая цель мошенников</a:t>
            </a:r>
          </a:p>
        </p:txBody>
      </p:sp>
      <p:sp>
        <p:nvSpPr>
          <p:cNvPr id="35" name="rn22|fx=3:rise:with:0.15000000000000002:0.6|3d=sphere"/>
          <p:cNvSpPr/>
          <p:nvPr/>
        </p:nvSpPr>
        <p:spPr>
          <a:xfrm>
            <a:off x="8275319" y="4718304"/>
            <a:ext cx="329184" cy="329184"/>
          </a:xfrm>
          <a:prstGeom prst="ellipse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6" name="rt22|fx=3:rise:with:0.15000000000000002:0.6"/>
          <p:cNvSpPr txBox="1"/>
          <p:nvPr/>
        </p:nvSpPr>
        <p:spPr>
          <a:xfrm>
            <a:off x="8732519" y="4700016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61A22"/>
                </a:solidFill>
                <a:latin typeface="Calibri"/>
              </a:rPr>
              <a:t>Сумма в 453 раза больше обычной для клиента (обычно ≈ 9 у.е.)</a:t>
            </a:r>
          </a:p>
        </p:txBody>
      </p:sp>
      <p:sp>
        <p:nvSpPr>
          <p:cNvPr id="37" name="cnote|fx=4:fade:click:0:0.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A22"/>
                </a:solidFill>
                <a:latin typeface="Calibri"/>
              </a:rPr>
              <a:t>Все 406 отправленных операций получили по три причины. </a:t>
            </a:r>
            <a:r>
              <a:rPr sz="1400" b="0">
                <a:solidFill>
                  <a:srgbClr val="161A22"/>
                </a:solidFill>
                <a:latin typeface="Calibri"/>
              </a:rPr>
              <a:t>Третью карточку система отправила сознательно: вероятность мала, но проверка стоит 3 у.е., а пропуск такой суммы — почти 3 924.</a:t>
            </a:r>
          </a:p>
        </p:txBody>
      </p:sp>
      <p:sp>
        <p:nvSpPr>
          <p:cNvPr id="38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|fx=0:fade:with:0:0.6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Что не сработало — и почему это тоже результат</a:t>
            </a:r>
          </a:p>
        </p:txBody>
      </p:sp>
      <p:sp>
        <p:nvSpPr>
          <p:cNvPr id="3" name="rj0|fx=1:fade:after:0.05:0.35|3d=tile_dark"/>
          <p:cNvSpPr/>
          <p:nvPr/>
        </p:nvSpPr>
        <p:spPr>
          <a:xfrm>
            <a:off x="548640" y="137160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x0|fx=1:zoom:with:0:0.35|3d=sphere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5" name="rh0|fx=1:fade:with:0:0.35"/>
          <p:cNvSpPr txBox="1"/>
          <p:nvPr/>
        </p:nvSpPr>
        <p:spPr>
          <a:xfrm>
            <a:off x="1371600" y="148132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Расстояние до продавца</a:t>
            </a:r>
          </a:p>
        </p:txBody>
      </p:sp>
      <p:sp>
        <p:nvSpPr>
          <p:cNvPr id="6" name="rd0|fx=1:fade:with:0:0.35"/>
          <p:cNvSpPr txBox="1"/>
          <p:nvPr/>
        </p:nvSpPr>
        <p:spPr>
          <a:xfrm>
            <a:off x="1371600" y="181051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Самый популярный признак на Kaggle. У мошенничества и честных медиана одна: 78,2 км</a:t>
            </a:r>
          </a:p>
        </p:txBody>
      </p:sp>
      <p:sp>
        <p:nvSpPr>
          <p:cNvPr id="7" name="rj1|fx=2:fade:after:0.05:0.35|3d=tile_dark"/>
          <p:cNvSpPr/>
          <p:nvPr/>
        </p:nvSpPr>
        <p:spPr>
          <a:xfrm>
            <a:off x="6217920" y="137160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x1|fx=2:zoom:with:0:0.35|3d=sphere"/>
          <p:cNvSpPr/>
          <p:nvPr/>
        </p:nvSpPr>
        <p:spPr>
          <a:xfrm>
            <a:off x="6419088" y="162763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9" name="rh1|fx=2:fade:with:0:0.35"/>
          <p:cNvSpPr txBox="1"/>
          <p:nvPr/>
        </p:nvSpPr>
        <p:spPr>
          <a:xfrm>
            <a:off x="7040880" y="148132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«Проверка мелкой суммой»</a:t>
            </a:r>
          </a:p>
        </p:txBody>
      </p:sp>
      <p:sp>
        <p:nvSpPr>
          <p:cNvPr id="10" name="rd1|fx=2:fade:with:0:0.35"/>
          <p:cNvSpPr txBox="1"/>
          <p:nvPr/>
        </p:nvSpPr>
        <p:spPr>
          <a:xfrm>
            <a:off x="7040880" y="181051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Первая мошенническая операция серии в медиане — 311 у.е. Мелкой проверки нет</a:t>
            </a:r>
          </a:p>
        </p:txBody>
      </p:sp>
      <p:sp>
        <p:nvSpPr>
          <p:cNvPr id="11" name="rj2|fx=3:fade:after:0.05:0.35|3d=tile_dark"/>
          <p:cNvSpPr/>
          <p:nvPr/>
        </p:nvSpPr>
        <p:spPr>
          <a:xfrm>
            <a:off x="548640" y="246888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x2|fx=3:zoom:with:0:0.35|3d=sphere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13" name="rh2|fx=3:fade:with:0:0.35"/>
          <p:cNvSpPr txBox="1"/>
          <p:nvPr/>
        </p:nvSpPr>
        <p:spPr>
          <a:xfrm>
            <a:off x="1371600" y="257860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Первая покупка у продавца</a:t>
            </a:r>
          </a:p>
        </p:txBody>
      </p:sp>
      <p:sp>
        <p:nvSpPr>
          <p:cNvPr id="14" name="rd2|fx=3:fade:with:0:0.35"/>
          <p:cNvSpPr txBox="1"/>
          <p:nvPr/>
        </p:nvSpPr>
        <p:spPr>
          <a:xfrm>
            <a:off x="1371600" y="290779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У честных клиентов это 37% всех операций — сигнала нет</a:t>
            </a:r>
          </a:p>
        </p:txBody>
      </p:sp>
      <p:sp>
        <p:nvSpPr>
          <p:cNvPr id="15" name="rj3|fx=4:fade:after:0.05:0.35|3d=tile_dark"/>
          <p:cNvSpPr/>
          <p:nvPr/>
        </p:nvSpPr>
        <p:spPr>
          <a:xfrm>
            <a:off x="6217920" y="246888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x3|fx=4:zoom:with:0:0.35|3d=sphere"/>
          <p:cNvSpPr/>
          <p:nvPr/>
        </p:nvSpPr>
        <p:spPr>
          <a:xfrm>
            <a:off x="6419088" y="2724912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17" name="rh3|fx=4:fade:with:0:0.35"/>
          <p:cNvSpPr txBox="1"/>
          <p:nvPr/>
        </p:nvSpPr>
        <p:spPr>
          <a:xfrm>
            <a:off x="7040880" y="257860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Окно «операций за 24 часа»</a:t>
            </a:r>
          </a:p>
        </p:txBody>
      </p:sp>
      <p:sp>
        <p:nvSpPr>
          <p:cNvPr id="18" name="rd3|fx=4:fade:with:0:0.35"/>
          <p:cNvSpPr txBox="1"/>
          <p:nvPr/>
        </p:nvSpPr>
        <p:spPr>
          <a:xfrm>
            <a:off x="7040880" y="290779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Поверх плавной памяти ничего не добавило</a:t>
            </a:r>
          </a:p>
        </p:txBody>
      </p:sp>
      <p:sp>
        <p:nvSpPr>
          <p:cNvPr id="19" name="rj4|fx=5:fade:after:0.05:0.35|3d=tile_dark"/>
          <p:cNvSpPr/>
          <p:nvPr/>
        </p:nvSpPr>
        <p:spPr>
          <a:xfrm>
            <a:off x="548640" y="356616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x4|fx=5:zoom:with:0:0.35|3d=sphere"/>
          <p:cNvSpPr/>
          <p:nvPr/>
        </p:nvSpPr>
        <p:spPr>
          <a:xfrm>
            <a:off x="749808" y="3822191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21" name="rh4|fx=5:fade:with:0:0.35"/>
          <p:cNvSpPr txBox="1"/>
          <p:nvPr/>
        </p:nvSpPr>
        <p:spPr>
          <a:xfrm>
            <a:off x="1371600" y="3675887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Риск категории и продавца</a:t>
            </a:r>
          </a:p>
        </p:txBody>
      </p:sp>
      <p:sp>
        <p:nvSpPr>
          <p:cNvPr id="22" name="rd4|fx=5:fade:with:0:0.35"/>
          <p:cNvSpPr txBox="1"/>
          <p:nvPr/>
        </p:nvSpPr>
        <p:spPr>
          <a:xfrm>
            <a:off x="1371600" y="40050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Деревьям не нужен: модель и так видит категорию и час</a:t>
            </a:r>
          </a:p>
        </p:txBody>
      </p:sp>
      <p:sp>
        <p:nvSpPr>
          <p:cNvPr id="23" name="rj5|fx=6:fade:after:0.05:0.35|3d=tile_dark"/>
          <p:cNvSpPr/>
          <p:nvPr/>
        </p:nvSpPr>
        <p:spPr>
          <a:xfrm>
            <a:off x="6217920" y="3566160"/>
            <a:ext cx="5440680" cy="932688"/>
          </a:xfrm>
          <a:prstGeom prst="roundRect">
            <a:avLst>
              <a:gd name="adj" fmla="val 10000"/>
            </a:avLst>
          </a:prstGeom>
          <a:solidFill>
            <a:srgbClr val="1F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x5|fx=6:zoom:with:0:0.35|3d=sphere"/>
          <p:cNvSpPr/>
          <p:nvPr/>
        </p:nvSpPr>
        <p:spPr>
          <a:xfrm>
            <a:off x="6419088" y="3822191"/>
            <a:ext cx="420624" cy="420624"/>
          </a:xfrm>
          <a:prstGeom prst="ellipse">
            <a:avLst/>
          </a:prstGeom>
          <a:solidFill>
            <a:srgbClr val="D6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25" name="rh5|fx=6:fade:with:0:0.35"/>
          <p:cNvSpPr txBox="1"/>
          <p:nvPr/>
        </p:nvSpPr>
        <p:spPr>
          <a:xfrm>
            <a:off x="7040880" y="3675887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8B7D"/>
                </a:solidFill>
                <a:latin typeface="Calibri"/>
              </a:rPr>
              <a:t>Обучение без меток</a:t>
            </a:r>
          </a:p>
        </p:txBody>
      </p:sp>
      <p:sp>
        <p:nvSpPr>
          <p:cNvPr id="26" name="rd5|fx=6:fade:with:0:0.35"/>
          <p:cNvSpPr txBox="1"/>
          <p:nvPr/>
        </p:nvSpPr>
        <p:spPr>
          <a:xfrm>
            <a:off x="7040880" y="40050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AEB6C4"/>
                </a:solidFill>
                <a:latin typeface="Calibri"/>
              </a:rPr>
              <a:t>167 тыс. против 235: необычное ≠ мошенническое</a:t>
            </a:r>
          </a:p>
        </p:txBody>
      </p:sp>
      <p:sp>
        <p:nvSpPr>
          <p:cNvPr id="27" name="how|fx=7:fade:after:0:0.4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AEB6C4"/>
                </a:solidFill>
                <a:latin typeface="Calibri"/>
              </a:rPr>
              <a:t>Как понимали, что дело в идее, а не в проверке: одна линейка для всех, интервалы по дням, тест на подглядывание в будущее ловит заведомые утечки.</a:t>
            </a:r>
          </a:p>
        </p:txBody>
      </p:sp>
      <p:sp>
        <p:nvSpPr>
          <p:cNvPr id="28" name="final|fx=8:zoom:click:0:0.6|3d=tile_dark"/>
          <p:cNvSpPr/>
          <p:nvPr/>
        </p:nvSpPr>
        <p:spPr>
          <a:xfrm>
            <a:off x="548640" y="5303520"/>
            <a:ext cx="11109960" cy="960120"/>
          </a:xfrm>
          <a:prstGeom prst="roundRect">
            <a:avLst>
              <a:gd name="adj" fmla="val 15000"/>
            </a:avLst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inalt|fx=8:zoom:with:0:0.6"/>
          <p:cNvSpPr txBox="1"/>
          <p:nvPr/>
        </p:nvSpPr>
        <p:spPr>
          <a:xfrm>
            <a:off x="868680" y="5303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Итог:  </a:t>
            </a:r>
            <a:r>
              <a:rPr sz="1700" b="0">
                <a:solidFill>
                  <a:srgbClr val="FFFFFF"/>
                </a:solidFill>
                <a:latin typeface="Calibri"/>
              </a:rPr>
              <a:t>выбор по деньгам + привычки клиента (A) + ритм операций (B) = 98,7% от возможного, 30 зря остановленных клиентов, 550 тысяч операций за 32 секунды.</a:t>
            </a:r>
          </a:p>
        </p:txBody>
      </p:sp>
      <p:sp>
        <p:nvSpPr>
          <p:cNvPr id="30" name="who"/>
          <p:cNvSpPr txBox="1"/>
          <p:nvPr/>
        </p:nvSpPr>
        <p:spPr>
          <a:xfrm>
            <a:off x="9966960" y="6419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97A3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