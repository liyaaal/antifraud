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у.е.</c:v>
                </c:pt>
              </c:strCache>
            </c:strRef>
          </c:tx>
          <c:dPt>
            <c:idx val="0"/>
            <c:spPr>
              <a:solidFill>
                <a:srgbClr val="B8BFCA"/>
              </a:solidFill>
            </c:spPr>
          </c:dPt>
          <c:dPt>
            <c:idx val="1"/>
            <c:spPr>
              <a:solidFill>
                <a:srgbClr val="1F8A7A"/>
              </a:solidFill>
            </c:spPr>
          </c:dPt>
          <c:cat>
            <c:strRef>
              <c:f>Sheet1!$A$2:$A$3</c:f>
              <c:strCache>
                <c:ptCount val="2"/>
                <c:pt idx="0">
                  <c:v>Проверять самые вероятные</c:v>
                </c:pt>
                <c:pt idx="1">
                  <c:v>Проверять самые выгодные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166067</c:v>
                </c:pt>
                <c:pt idx="1">
                  <c:v>235437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400" b="1">
                  <a:solidFill>
                    <a:srgbClr val="1B1F2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1B1F2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900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у.е.</c:v>
                </c:pt>
              </c:strCache>
            </c:strRef>
          </c:tx>
          <c:dPt>
            <c:idx val="0"/>
            <c:spPr>
              <a:solidFill>
                <a:srgbClr val="B8BFCA"/>
              </a:solidFill>
            </c:spPr>
          </c:dPt>
          <c:dPt>
            <c:idx val="1"/>
            <c:spPr>
              <a:solidFill>
                <a:srgbClr val="D64533"/>
              </a:solidFill>
            </c:spPr>
          </c:dPt>
          <c:cat>
            <c:strRef>
              <c:f>Sheet1!$A$2:$A$3</c:f>
              <c:strCache>
                <c:ptCount val="2"/>
                <c:pt idx="0">
                  <c:v>Та же модель без признаков A</c:v>
                </c:pt>
                <c:pt idx="1">
                  <c:v>Решение 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173562</c:v>
                </c:pt>
                <c:pt idx="1">
                  <c:v>224148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200" b="1">
                  <a:solidFill>
                    <a:srgbClr val="1B1F2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B1F2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0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у.е.</c:v>
                </c:pt>
              </c:strCache>
            </c:strRef>
          </c:tx>
          <c:dPt>
            <c:idx val="0"/>
            <c:spPr>
              <a:solidFill>
                <a:srgbClr val="B8BFCA"/>
              </a:solidFill>
            </c:spPr>
          </c:dPt>
          <c:dPt>
            <c:idx val="1"/>
            <c:spPr>
              <a:solidFill>
                <a:srgbClr val="E9A83B"/>
              </a:solidFill>
            </c:spPr>
          </c:dPt>
          <c:cat>
            <c:strRef>
              <c:f>Sheet1!$A$2:$A$3</c:f>
              <c:strCache>
                <c:ptCount val="2"/>
                <c:pt idx="0">
                  <c:v>Та же модель без признаков B</c:v>
                </c:pt>
                <c:pt idx="1">
                  <c:v>Решение 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235437</c:v>
                </c:pt>
                <c:pt idx="1">
                  <c:v>251417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200" b="1">
                  <a:solidFill>
                    <a:srgbClr val="1B1F2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B1F2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0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у.е.</c:v>
                </c:pt>
              </c:strCache>
            </c:strRef>
          </c:tx>
          <c:dPt>
            <c:idx val="0"/>
            <c:spPr>
              <a:solidFill>
                <a:srgbClr val="B8BFCA"/>
              </a:solidFill>
            </c:spPr>
          </c:dPt>
          <c:dPt>
            <c:idx val="1"/>
            <c:spPr>
              <a:solidFill>
                <a:srgbClr val="1F8A7A"/>
              </a:solidFill>
            </c:spPr>
          </c:dPt>
          <c:cat>
            <c:strRef>
              <c:f>Sheet1!$A$2:$A$3</c:f>
              <c:strCache>
                <c:ptCount val="2"/>
                <c:pt idx="0">
                  <c:v>База, выбор по вероятности</c:v>
                </c:pt>
                <c:pt idx="1">
                  <c:v>Решение 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166067</c:v>
                </c:pt>
                <c:pt idx="1">
                  <c:v>239249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200" b="1">
                  <a:solidFill>
                    <a:srgbClr val="1B1F2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B1F2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0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у.е.</c:v>
                </c:pt>
              </c:strCache>
            </c:strRef>
          </c:tx>
          <c:dPt>
            <c:idx val="0"/>
            <c:spPr>
              <a:solidFill>
                <a:srgbClr val="B8BFCA"/>
              </a:solidFill>
            </c:spPr>
          </c:dPt>
          <c:dPt>
            <c:idx val="1"/>
            <c:spPr>
              <a:solidFill>
                <a:srgbClr val="B8BFCA"/>
              </a:solidFill>
            </c:spPr>
          </c:dPt>
          <c:dPt>
            <c:idx val="2"/>
            <c:spPr>
              <a:solidFill>
                <a:srgbClr val="B8BFCA"/>
              </a:solidFill>
            </c:spPr>
          </c:dPt>
          <c:dPt>
            <c:idx val="3"/>
            <c:spPr>
              <a:solidFill>
                <a:srgbClr val="1F8A7A"/>
              </a:solidFill>
            </c:spPr>
          </c:dPt>
          <c:dPt>
            <c:idx val="4"/>
            <c:spPr>
              <a:solidFill>
                <a:srgbClr val="9FD4CB"/>
              </a:solidFill>
            </c:spPr>
          </c:dPt>
          <c:cat>
            <c:strRef>
              <c:f>Sheet1!$A$2:$A$6</c:f>
              <c:strCache>
                <c:ptCount val="5"/>
                <c:pt idx="0">
                  <c:v>Правило «проверять самые дорогие»</c:v>
                </c:pt>
                <c:pt idx="1">
                  <c:v>Базовая модель, по вероятности</c:v>
                </c:pt>
                <c:pt idx="2">
                  <c:v>Базовая модель, по деньгам</c:v>
                </c:pt>
                <c:pt idx="3">
                  <c:v>Наша система</c:v>
                </c:pt>
                <c:pt idx="4">
                  <c:v>Потолок (идеальная модель)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76358</c:v>
                </c:pt>
                <c:pt idx="1">
                  <c:v>220219</c:v>
                </c:pt>
                <c:pt idx="2">
                  <c:v>304083</c:v>
                </c:pt>
                <c:pt idx="3">
                  <c:v>323389</c:v>
                </c:pt>
                <c:pt idx="4">
                  <c:v>327812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300" b="1">
                  <a:solidFill>
                    <a:srgbClr val="1B1F2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1B1F2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00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Здравствуйте. Мы — команда из трёх человек. Задача: банк получает поток операций по картам, а аналитиков мало. Нужно каждый день выбирать, какие операции им показать.</a:t>
            </a:r>
          </a:p>
          <a:p/>
          <a:p>
            <a:r>
              <a:t>Сразу главный результат: на двух месяцах, которые мы до конца не открывали, система сэкономила 323 389 условных единиц. Это 98,7% от того, что вообще можно было спасти при таком числе аналитиков. И она зря остановила всего 30 честных клиентов.</a:t>
            </a:r>
          </a:p>
          <a:p/>
          <a:p>
            <a:r>
              <a:t>У каждой из нас было своё решение: A смотрела на привычки клиента, B — на ритм операций, C — на деньги. Дальше расскажем, как мы их сравнили и собрали лучшее.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Первое, что мы увидели в данных. Мошенничества примерно 14 операций в день. А аналитики, по условию, успевают проверить только 0,3% операций — это примерно 7 в день.</a:t>
            </a:r>
          </a:p>
          <a:p/>
          <a:p>
            <a:r>
              <a:t>Значит, даже если бы у нас была волшебная модель, которая всё знает заранее, половину мошенничества всё равно никто не проверит. Мы посчитали: идеальная модель спасла бы только 62% денег. Это наш потолок — больше при таком штате не спасти.</a:t>
            </a:r>
          </a:p>
          <a:p/>
          <a:p>
            <a:r>
              <a:t>Отсюда поменялся сам вопрос. Не «какая вероятность, что это мошенничество», а «какие семь операций сегодня выгоднее всего проверить». Это решение и определило всю нашу работу.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самое важное открытие проекта. Сначала мы отправляли аналитикам операции с самой высокой вероятностью мошенничества. И заметили странное: признак, который лучше распознаёт мошенничество, уменьшил экономию на 43 тысячи.</a:t>
            </a:r>
          </a:p>
          <a:p/>
          <a:p>
            <a:r>
              <a:t>Причина простая. Модель стала уверенно находить мелкое мошенничество по 4–10 у.е. и тратить на него проверки. А дорогое, но менее очевидное, пропускала.</a:t>
            </a:r>
          </a:p>
          <a:p/>
          <a:p>
            <a:r>
              <a:t>Мы поменяли правило: для каждой операции считаем, сколько денег в среднем спасёт проверка. Покупка на 900 у.е. с вероятностью 30% — это около 251 у.е. пользы. Покупка на 4 у.е. с вероятностью 90% — около 3 у.е. Проверяем первую.</a:t>
            </a:r>
          </a:p>
          <a:p/>
          <a:p>
            <a:r>
              <a:t>Та же самая модель, ничего нового — и плюс 69 тысяч, плюс 42%. На отложенных данных результат повторился.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Моё решение — про привычки. Если картой пользуется чужой человек, он покупает не то, не тогда и не на такие суммы, как хозяин. Я для каждой операции считала, насколько она неожиданна именно для этой карты: как редко клиент покупает в этой категории, в это время суток, на такую сумму.</a:t>
            </a:r>
          </a:p>
          <a:p/>
          <a:p>
            <a:r>
              <a:t>Главная особенность: у новой карты нет истории, и обычно тут получается пустое значение. У меня профиль новой карты равен профилю «среднего клиента» и постепенно становится своим. Поэтому модель работает с первой же операции.</a:t>
            </a:r>
          </a:p>
          <a:p/>
          <a:p>
            <a:r>
              <a:t>Лучше всего сработали: «крупная сумма в непривычное время» и «последние дни клиент тратит крупнее обычного». Я специально взяла простую модель — логистическую регрессию, чтобы проверить, хватит ли её. Не хватило: те же признаки на деревьях дают на 21 тысячу больше. Это честный отрицательный результат.</a:t>
            </a:r>
          </a:p>
          <a:p/>
          <a:p>
            <a:r>
              <a:t>Зато мои признаки лучше всех ловят самую первую мошенническую операцию, когда серии ещё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Моё решение — про ритм. В данных мошенничество идёт сериями: примерно десять операций за двое суток, пауза между ними около часа. Я смотрела не на то, что покупают, а на то, как часто и сколько списывают.</a:t>
            </a:r>
          </a:p>
          <a:p/>
          <a:p>
            <a:r>
              <a:t>Обычно считают «сколько операций за 24 часа». Но тогда операция 23 часа назад считается, а 25 часов назад — уже нет. У меня память плавная: чем старше операция, тем меньше она весит. И я сравниваю активность с обычной для этого клиента: пять операций в день — норма для одного и тревога для другого.</a:t>
            </a:r>
          </a:p>
          <a:p/>
          <a:p>
            <a:r>
              <a:t>Самый сильный признак: сколько денег уже списано с карты за последние сутки — плюс 10,9 тысячи. Ещё я запретила модели снижать риск, когда активность растёт. По деньгам это ничего не стоило, зато модель ведёт себя предсказуемо.</a:t>
            </a:r>
          </a:p>
          <a:p/>
          <a:p>
            <a:r>
              <a:t>Мое решение лучше всех ловит продолжение серии и даёт 98,4% от потолка.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Моё решение — про деньги. Я считала, что важна не вероятность мошенничества, а сколько денег спасёт проверка. Правило выбора по деньгам, которое вы видели на прошлом слайде, — это моя часть, и это самый большой эффект: плюс 69 тысяч.</a:t>
            </a:r>
          </a:p>
          <a:p/>
          <a:p>
            <a:r>
              <a:t>Ещё я учила модель «думать деньгами»: при обучении пропущенный дорогой фрод весит больше, чем дешёвый. Это дало небольшой, но стабильный плюс.</a:t>
            </a:r>
          </a:p>
          <a:p/>
          <a:p>
            <a:r>
              <a:t>Мои признаки — риск категорий и продавцов по прошлым случаям мошенничества. Важная деталь: в банке о мошенничестве узнают не сразу, а после жалобы клиента. Поэтому я использовала только метки старше 30 дней. Оказалось, что реализм ничего не стоит. А вариант «метки того же дня» наш тест поймал как подглядывание в будущее.</a:t>
            </a:r>
          </a:p>
          <a:p/>
          <a:p>
            <a:r>
              <a:t>Честно: деревьям эти признаки не помогли, потому что модель и так видит категорию и час. Зато линейной модели они дали плюс 9 тысяч. И мы проверили модель без меток — она сильно хуже: необычное не значит мошенническое.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Как мы выбирали лучшее из трёх решений. Мы не просто сравнили три итоговых числа, а поменяли модели местами: каждый набор признаков прогнали на простой модели и на трёх вариантах деревьев.</a:t>
            </a:r>
          </a:p>
          <a:p/>
          <a:p>
            <a:r>
              <a:t>Смотрите по строкам: добавили признаки A и B — экономия выросла примерно на 14 тысяч, на любой модели-дереве. Смотрите по столбцам: деревья между собой отличаются максимум на 3 тысячи — это случайный разброс. Значит, результат делают признаки и правило выбора, а не конкретная модель. Простая модель отстаёт везде: она не понимает, что мошенничество в одних категориях дорогое, а в других дешёвое.</a:t>
            </a:r>
          </a:p>
          <a:p/>
          <a:p>
            <a:r>
              <a:t>Почему финал — это A и B вместе, а не лучшее число? Лучшие варианты отличаются на сотни у.е. — это шум. Поэтому мы разобрали, кто что ловит. A лучше ловит первую операцию кражи, B — продолжение серии. Вместе ловят оба сценария и реже всех останавливают честных клиентов: 27 за два месяца против 76 у базовой модели.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Теперь деньги — на двух месяцах, которые мы открыли один раз, в самом конце, уже после выбора финала. Без системы банк потерял бы 513 тысяч.</a:t>
            </a:r>
          </a:p>
          <a:p/>
          <a:p>
            <a:r>
              <a:t>Простое правило «проверять самые дорогие операции» спасает 76 тысяч и зря останавливает 347 честных клиентов. Базовая модель — 220 тысяч, а если выбирать по деньгам — 304. Наша система — 323 тысячи, почти потолок в 328. И всего 30 честных клиентов остановлено за два месяца. Из того, что мы отправляем аналитикам, 93% — действительно мошенничество.</a:t>
            </a:r>
          </a:p>
          <a:p/>
          <a:p>
            <a:r>
              <a:t>Что будет, если мошенничества станет втрое больше? При нынешнем штате банк будет пропускать 559 тысяч за два месяца. Если аналитиков будет достаточно на 10 проверок в день — 233 тысячи. На 15 проверок — всего 26 тысяч. Дальше почти ничего не меняется. Так мы можем подсказать заказчику, сколько людей нанимать.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Заказчик хотел, чтобы решение можно было объяснить. Вот что видит аналитик — это настоящие операции, их выдал наш скрипт.</a:t>
            </a:r>
          </a:p>
          <a:p/>
          <a:p>
            <a:r>
              <a:t>Первая: за сутки с карты уже списали почти 5 тысяч, сумма дороже 99% покупок в этой категории, это пятая операция подряд ночью. Аналитику сразу понятно, что происходит.</a:t>
            </a:r>
          </a:p>
          <a:p/>
          <a:p>
            <a:r>
              <a:t>Вторая — новая карта, это её первая операция. Истории нет, но модель всё равно её поймала: сумма необычная для категории в целом.</a:t>
            </a:r>
          </a:p>
          <a:p/>
          <a:p>
            <a:r>
              <a:t>Третья — честный клиент, ложная тревога. Вероятность мошенничества всего 2%, но сумма почти 4 тысячи. Проверка стоит 3 у.е., пропуск — почти 4 тысячи, поэтому проверить выгодно. Это осознанное решение, а не ошибка.</a:t>
            </a:r>
          </a:p>
          <a:p/>
          <a:p>
            <a:r>
              <a:t>Причины мы пишем обычными словами, без терминов, и показываем только верные для этой операции: «ночная» — только если она правда ночью.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Напоследок — что не сработало. Это важная часть работы.</a:t>
            </a:r>
          </a:p>
          <a:p/>
          <a:p>
            <a:r>
              <a:t>Самый популярный признак в таких задачах — расстояние от дома до магазина. У нас он бесполезен: у мошенничества и у честных покупок медиана одна и та же, 78 километров. Похоже, генератор данных ставит магазин просто рядом с домом.</a:t>
            </a:r>
          </a:p>
          <a:p/>
          <a:p>
            <a:r>
              <a:t>Мы ожидали, что мошенники сначала проверяют карту мелкой суммой. Не подтвердилось: первая мошенническая операция в среднем стоит 311 у.е. «Первая покупка у продавца» — у честных клиентов это каждая третья операция. Обычное окно «операций за сутки» ничего не добавило к нашей плавной памяти. Модель без меток сильно хуже — необычное не значит мошенническое.</a:t>
            </a:r>
          </a:p>
          <a:p/>
          <a:p>
            <a:r>
              <a:t>Откуда мы знаем, что проблема в идее, а не в проверке: у всех признаков одна и та же линейка, интервалы по дням, и тест на подглядывание в будущее, который мы сами проверили на заведомых утечках.</a:t>
            </a:r>
          </a:p>
          <a:p/>
          <a:p>
            <a:r>
              <a:t>Итог: выбор по деньгам плюс привычки клиента плюс ритм операций — 98,7% от возможного, 30 зря остановленных клиентов, и система обрабатывает 550 тысяч операций за полминуты. Спасибо,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EB6C4"/>
                </a:solidFill>
                <a:latin typeface="Calibri"/>
              </a:rPr>
              <a:t>ПРОЕКТ «АНТИФРОД» · КОМАНДА ИЗ ТРЁХ УЧАСТНИЦ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67665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Семь проверок в день, которые спасают больше всего денег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8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EB6C4"/>
                </a:solidFill>
                <a:latin typeface="Calibri"/>
              </a:rPr>
              <a:t>Система выбирает, какие операции по картам показать аналитикам, и объясняет каждое решение тремя причинами.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4754880"/>
            <a:ext cx="420624" cy="420624"/>
          </a:xfrm>
          <a:prstGeom prst="ellipse">
            <a:avLst/>
          </a:prstGeom>
          <a:solidFill>
            <a:srgbClr val="D64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4809744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профиль клиента: «так хозяин не платит»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5321808"/>
            <a:ext cx="420624" cy="420624"/>
          </a:xfrm>
          <a:prstGeom prst="ellipse">
            <a:avLst/>
          </a:prstGeom>
          <a:solidFill>
            <a:srgbClr val="E9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5376672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ритм операций: «карту выкачивают»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5888736"/>
            <a:ext cx="420624" cy="420624"/>
          </a:xfrm>
          <a:prstGeom prst="ellipse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59436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деньги: «что выгоднее проверить сегодня»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188720"/>
            <a:ext cx="3520440" cy="4480560"/>
          </a:xfrm>
          <a:prstGeom prst="roundRect">
            <a:avLst>
              <a:gd name="adj" fmla="val 5000"/>
            </a:avLst>
          </a:prstGeom>
          <a:solidFill>
            <a:srgbClr val="26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4630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EB6C4"/>
                </a:solidFill>
                <a:latin typeface="Calibri"/>
              </a:rPr>
              <a:t>за 2 месяца проверки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82880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5FD0BC"/>
                </a:solidFill>
                <a:latin typeface="Cambria"/>
              </a:rPr>
              <a:t>323 389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060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у.е. сэкономлено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24612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98,7%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8404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EB6C4"/>
                </a:solidFill>
                <a:latin typeface="Calibri"/>
              </a:rPr>
              <a:t>от того, что вообще можно спасти при таком штате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57200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513892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EB6C4"/>
                </a:solidFill>
                <a:latin typeface="Calibri"/>
              </a:rPr>
              <a:t>честных клиентов зря остановлено (у базовой модели — 72)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4008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8BFCA"/>
                </a:solidFill>
                <a:latin typeface="Calibri"/>
              </a:rPr>
              <a:t>говорит: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1F2A"/>
                </a:solidFill>
                <a:latin typeface="Cambria"/>
              </a:rPr>
              <a:t>Аналитики не успеют проверить всё мошенничество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Даже идеальная модель упирается в штат, а не в точность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5B6472"/>
                </a:solidFill>
                <a:latin typeface="Calibri"/>
              </a:rPr>
              <a:t>Один средний день: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331720"/>
            <a:ext cx="512064" cy="512064"/>
          </a:xfrm>
          <a:prstGeom prst="ellipse">
            <a:avLst/>
          </a:prstGeom>
          <a:solidFill>
            <a:srgbClr val="D64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07007" y="2331720"/>
            <a:ext cx="512064" cy="512064"/>
          </a:xfrm>
          <a:prstGeom prst="ellipse">
            <a:avLst/>
          </a:prstGeom>
          <a:solidFill>
            <a:srgbClr val="D64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65376" y="2331720"/>
            <a:ext cx="512064" cy="512064"/>
          </a:xfrm>
          <a:prstGeom prst="ellipse">
            <a:avLst/>
          </a:prstGeom>
          <a:solidFill>
            <a:srgbClr val="D64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23744" y="2331720"/>
            <a:ext cx="512064" cy="512064"/>
          </a:xfrm>
          <a:prstGeom prst="ellipse">
            <a:avLst/>
          </a:prstGeom>
          <a:solidFill>
            <a:srgbClr val="D64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182112" y="2331720"/>
            <a:ext cx="512064" cy="512064"/>
          </a:xfrm>
          <a:prstGeom prst="ellipse">
            <a:avLst/>
          </a:prstGeom>
          <a:solidFill>
            <a:srgbClr val="D64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40479" y="2331720"/>
            <a:ext cx="512064" cy="512064"/>
          </a:xfrm>
          <a:prstGeom prst="ellipse">
            <a:avLst/>
          </a:prstGeom>
          <a:solidFill>
            <a:srgbClr val="D64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98848" y="2331720"/>
            <a:ext cx="512064" cy="512064"/>
          </a:xfrm>
          <a:prstGeom prst="ellipse">
            <a:avLst/>
          </a:prstGeom>
          <a:solidFill>
            <a:srgbClr val="D64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8640" y="2990087"/>
            <a:ext cx="512064" cy="512064"/>
          </a:xfrm>
          <a:prstGeom prst="ellipse">
            <a:avLst/>
          </a:prstGeom>
          <a:solidFill>
            <a:srgbClr val="FBE4E0"/>
          </a:solidFill>
          <a:ln w="15875">
            <a:solidFill>
              <a:srgbClr val="D64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07007" y="2990087"/>
            <a:ext cx="512064" cy="512064"/>
          </a:xfrm>
          <a:prstGeom prst="ellipse">
            <a:avLst/>
          </a:prstGeom>
          <a:solidFill>
            <a:srgbClr val="FBE4E0"/>
          </a:solidFill>
          <a:ln w="15875">
            <a:solidFill>
              <a:srgbClr val="D64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65376" y="2990087"/>
            <a:ext cx="512064" cy="512064"/>
          </a:xfrm>
          <a:prstGeom prst="ellipse">
            <a:avLst/>
          </a:prstGeom>
          <a:solidFill>
            <a:srgbClr val="FBE4E0"/>
          </a:solidFill>
          <a:ln w="15875">
            <a:solidFill>
              <a:srgbClr val="D64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23744" y="2990087"/>
            <a:ext cx="512064" cy="512064"/>
          </a:xfrm>
          <a:prstGeom prst="ellipse">
            <a:avLst/>
          </a:prstGeom>
          <a:solidFill>
            <a:srgbClr val="FBE4E0"/>
          </a:solidFill>
          <a:ln w="15875">
            <a:solidFill>
              <a:srgbClr val="D64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82112" y="2990087"/>
            <a:ext cx="512064" cy="512064"/>
          </a:xfrm>
          <a:prstGeom prst="ellipse">
            <a:avLst/>
          </a:prstGeom>
          <a:solidFill>
            <a:srgbClr val="FBE4E0"/>
          </a:solidFill>
          <a:ln w="15875">
            <a:solidFill>
              <a:srgbClr val="D64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40479" y="2990087"/>
            <a:ext cx="512064" cy="512064"/>
          </a:xfrm>
          <a:prstGeom prst="ellipse">
            <a:avLst/>
          </a:prstGeom>
          <a:solidFill>
            <a:srgbClr val="FBE4E0"/>
          </a:solidFill>
          <a:ln w="15875">
            <a:solidFill>
              <a:srgbClr val="D64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98848" y="2990087"/>
            <a:ext cx="512064" cy="512064"/>
          </a:xfrm>
          <a:prstGeom prst="ellipse">
            <a:avLst/>
          </a:prstGeom>
          <a:solidFill>
            <a:srgbClr val="FBE4E0"/>
          </a:solidFill>
          <a:ln w="15875">
            <a:solidFill>
              <a:srgbClr val="D645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49039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D64533"/>
                </a:solidFill>
                <a:latin typeface="Cambria"/>
              </a:rPr>
              <a:t>≈14</a:t>
            </a:r>
            <a:r>
              <a:rPr sz="1600" b="0" i="0">
                <a:solidFill>
                  <a:srgbClr val="1B1F2A"/>
                </a:solidFill>
                <a:latin typeface="Calibri"/>
              </a:rPr>
              <a:t> мошеннических операций в день (0,58% потока)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3484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8A7A"/>
                </a:solidFill>
                <a:latin typeface="Cambria"/>
              </a:rPr>
              <a:t>≈7</a:t>
            </a:r>
            <a:r>
              <a:rPr sz="1600" b="0" i="0">
                <a:solidFill>
                  <a:srgbClr val="1B1F2A"/>
                </a:solidFill>
                <a:latin typeface="Calibri"/>
              </a:rPr>
              <a:t> проверок в день — лимит 0,3% операций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828800"/>
            <a:ext cx="5303520" cy="420624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1031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1F2A"/>
                </a:solidFill>
                <a:latin typeface="Cambria"/>
              </a:rPr>
              <a:t>Что это значит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697480"/>
            <a:ext cx="46634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B1F2A"/>
                </a:solidFill>
                <a:latin typeface="Calibri"/>
              </a:rPr>
              <a:t>Больше половины мошенничества в любом случае останется непроверенным.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B1F2A"/>
                </a:solidFill>
                <a:latin typeface="Calibri"/>
              </a:rPr>
              <a:t>Идеальная модель, которая заранее знает правду, спасла бы только </a:t>
            </a:r>
            <a:r>
              <a:rPr sz="1600" b="1" i="0">
                <a:solidFill>
                  <a:srgbClr val="1F8A7A"/>
                </a:solidFill>
                <a:latin typeface="Calibri"/>
              </a:rPr>
              <a:t>62% денег</a:t>
            </a:r>
            <a:r>
              <a:rPr sz="1600" b="0" i="0">
                <a:solidFill>
                  <a:srgbClr val="1B1F2A"/>
                </a:solidFill>
                <a:latin typeface="Calibri"/>
              </a:rPr>
              <a:t> (255 485 из 414 356 у.е. на двух месяцах проверки). Это наш «потолок».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B1F2A"/>
                </a:solidFill>
                <a:latin typeface="Calibri"/>
              </a:rPr>
              <a:t>Поэтому главный вопрос не «насколько вероятно мошенничество», а </a:t>
            </a:r>
            <a:r>
              <a:rPr sz="1600" b="1" i="0">
                <a:solidFill>
                  <a:srgbClr val="1B1F2A"/>
                </a:solidFill>
                <a:latin typeface="Calibri"/>
              </a:rPr>
              <a:t>«проверка каких семи операций сегодня спасёт больше всего денег».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4008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8BFCA"/>
                </a:solidFill>
                <a:latin typeface="Calibri"/>
              </a:rPr>
              <a:t>говорит: 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1F2A"/>
                </a:solidFill>
                <a:latin typeface="Cambria"/>
              </a:rPr>
              <a:t>По деньгам, а не по вероятности: +69 тысяч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Два месяца проверки (21.02–21.04.2020), базовая модель на сырых полях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828800"/>
          <a:ext cx="603504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60520"/>
            <a:ext cx="5852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8A7A"/>
                </a:solidFill>
                <a:latin typeface="Cambria"/>
              </a:rPr>
              <a:t>+42% экономии</a:t>
            </a:r>
            <a:r>
              <a:rPr sz="1600" b="0" i="0">
                <a:solidFill>
                  <a:srgbClr val="1B1F2A"/>
                </a:solidFill>
                <a:latin typeface="Calibri"/>
              </a:rPr>
              <a:t>  без единого нового признака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На отложенных двух месяцах то же самое: 220 219 → 304 083 у.е.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28800"/>
            <a:ext cx="4754880" cy="420624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20574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1F2A"/>
                </a:solidFill>
                <a:latin typeface="Cambria"/>
              </a:rPr>
              <a:t>Как выбираем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2606040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1F2A"/>
                </a:solidFill>
                <a:latin typeface="Calibri"/>
              </a:rPr>
              <a:t>Для каждой операции считаем, сколько денег в среднем спасёт её проверка, и каждый день берём самые выгодные — пока хватает аналитиков.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3794760"/>
            <a:ext cx="41148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3913632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Calibri"/>
              </a:rPr>
              <a:t>900 у.е., вероятность 30%</a:t>
            </a:r>
          </a:p>
          <a:p>
            <a:pPr algn="l"/>
            <a:r>
              <a:rPr sz="1400" b="1" i="0">
                <a:solidFill>
                  <a:srgbClr val="1F8A7A"/>
                </a:solidFill>
                <a:latin typeface="Calibri"/>
              </a:rPr>
              <a:t>→ проверка в среднем спасает ≈ 251 у.е.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4892040"/>
            <a:ext cx="41148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5010912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Calibri"/>
              </a:rPr>
              <a:t>4 у.е., вероятность 90%</a:t>
            </a:r>
          </a:p>
          <a:p>
            <a:pPr algn="l"/>
            <a:r>
              <a:rPr sz="1400" b="1" i="0">
                <a:solidFill>
                  <a:srgbClr val="5B6472"/>
                </a:solidFill>
                <a:latin typeface="Calibri"/>
              </a:rPr>
              <a:t>→ проверка спасает ≈ 3 у.е.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008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8BFCA"/>
                </a:solidFill>
                <a:latin typeface="Calibri"/>
              </a:rPr>
              <a:t>говорит: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D64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1F2A"/>
                </a:solidFill>
                <a:latin typeface="Cambria"/>
              </a:rPr>
              <a:t>Решение A: «Так хозяин карты не платит»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02412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Профиль клиента · логистическая регрессия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6309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64533"/>
                </a:solidFill>
                <a:latin typeface="Calibri"/>
              </a:rPr>
              <a:t>Сценарий. </a:t>
            </a:r>
            <a:r>
              <a:rPr sz="1600" b="0" i="0">
                <a:solidFill>
                  <a:srgbClr val="1B1F2A"/>
                </a:solidFill>
                <a:latin typeface="Calibri"/>
              </a:rPr>
              <a:t>Картой пользуется чужой человек — у него другие привычки.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1F2A"/>
                </a:solidFill>
                <a:latin typeface="Cambria"/>
              </a:rPr>
              <a:t>Идея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63093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B1F2A"/>
                </a:solidFill>
                <a:latin typeface="Calibri"/>
              </a:rPr>
              <a:t>Сравниваем операцию с прошлым именно этой карты: редкая категория, непривычное время, сумма больше обычной.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B1F2A"/>
                </a:solidFill>
                <a:latin typeface="Calibri"/>
              </a:rPr>
              <a:t>«Неожиданность» считаем в битах и складываем. У новой карты профиль = «средний клиент», поэтому модель работает с первой операции.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B1F2A"/>
                </a:solidFill>
                <a:latin typeface="Calibri"/>
              </a:rPr>
              <a:t>Простую модель взяли специально: проверить, хватит ли её, если признаки хорошие.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8348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472"/>
                </a:solidFill>
                <a:latin typeface="Calibri"/>
              </a:rPr>
              <a:t>Экономия на двух месяцах проверки, у.е.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5212080"/>
          <a:ext cx="6400800" cy="1097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223760" y="1691640"/>
            <a:ext cx="4434840" cy="251460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874519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6472"/>
                </a:solidFill>
                <a:latin typeface="Calibri"/>
              </a:rPr>
              <a:t>Что сработало (вклад в у.е.)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2860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8A7A"/>
                </a:solidFill>
                <a:latin typeface="Cambria"/>
              </a:rPr>
              <a:t>+18,7 тыс.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3317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Calibri"/>
              </a:rPr>
              <a:t>крупная сумма в непривычное время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907792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8A7A"/>
                </a:solidFill>
                <a:latin typeface="Cambria"/>
              </a:rPr>
              <a:t>+17,2 тыс.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953512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Calibri"/>
              </a:rPr>
              <a:t>клиент в последние дни тратит крупнее обычного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529584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8A7A"/>
                </a:solidFill>
                <a:latin typeface="Cambria"/>
              </a:rPr>
              <a:t>+5,8 тыс.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575304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Calibri"/>
              </a:rPr>
              <a:t>непривычное время суток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4389120"/>
            <a:ext cx="4434840" cy="1783080"/>
          </a:xfrm>
          <a:prstGeom prst="roundRect">
            <a:avLst>
              <a:gd name="adj" fmla="val 6000"/>
            </a:avLst>
          </a:prstGeom>
          <a:solidFill>
            <a:srgbClr val="DD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4553712"/>
            <a:ext cx="39319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F8A7A"/>
                </a:solidFill>
                <a:latin typeface="Calibri"/>
              </a:rPr>
              <a:t>Итог: 224 148 у.е.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B1F2A"/>
                </a:solidFill>
                <a:latin typeface="Calibri"/>
              </a:rPr>
              <a:t>Лучше всех ловит первую операцию кражи — когда вор ещё не «разогнался».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B1F2A"/>
                </a:solidFill>
                <a:latin typeface="Calibri"/>
              </a:rPr>
              <a:t>Гипотеза «простой модели хватит» не подтвердилась: те же признаки на деревьях — 245 302.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4008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8BFCA"/>
                </a:solidFill>
                <a:latin typeface="Calibri"/>
              </a:rPr>
              <a:t>говорит: 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E9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1F2A"/>
                </a:solidFill>
                <a:latin typeface="Cambria"/>
              </a:rPr>
              <a:t>Решение B: «Карту выкачивают»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02412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Ритм операций · LightGBM с ограничениями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6309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9A83B"/>
                </a:solidFill>
                <a:latin typeface="Calibri"/>
              </a:rPr>
              <a:t>Сценарий. </a:t>
            </a:r>
            <a:r>
              <a:rPr sz="1600" b="0" i="0">
                <a:solidFill>
                  <a:srgbClr val="1B1F2A"/>
                </a:solidFill>
                <a:latin typeface="Calibri"/>
              </a:rPr>
              <a:t>После кражи идёт серия: ~10 операций за двое суток, пауза между ними в медиане ≈ 1 час.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1F2A"/>
                </a:solidFill>
                <a:latin typeface="Cambria"/>
              </a:rPr>
              <a:t>Идея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63093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B1F2A"/>
                </a:solidFill>
                <a:latin typeface="Calibri"/>
              </a:rPr>
              <a:t>Вместо окна «за 24 часа» — плавная память: давняя операция весит меньше свежей, без обрыва на границе окна.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B1F2A"/>
                </a:solidFill>
                <a:latin typeface="Calibri"/>
              </a:rPr>
              <a:t>Сравниваем активность со своей нормой клиента: «в 3 раза активнее обычного», а не «5 операций в день».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B1F2A"/>
                </a:solidFill>
                <a:latin typeface="Calibri"/>
              </a:rPr>
              <a:t>Режем поток на «сессии атаки» и смотрим, как в серии растут суммы. Модели запрещено снижать риск, когда активность растёт.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8348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472"/>
                </a:solidFill>
                <a:latin typeface="Calibri"/>
              </a:rPr>
              <a:t>Экономия на двух месяцах проверки, у.е.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5212080"/>
          <a:ext cx="6400800" cy="1097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223760" y="1691640"/>
            <a:ext cx="4434840" cy="251460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874519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6472"/>
                </a:solidFill>
                <a:latin typeface="Calibri"/>
              </a:rPr>
              <a:t>Что сработало (вклад в у.е.)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2860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8A7A"/>
                </a:solidFill>
                <a:latin typeface="Cambria"/>
              </a:rPr>
              <a:t>+10,9 тыс.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3317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Calibri"/>
              </a:rPr>
              <a:t>сколько денег списано за последние сутки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907792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8A7A"/>
                </a:solidFill>
                <a:latin typeface="Cambria"/>
              </a:rPr>
              <a:t>+4,3 тыс.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953512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Calibri"/>
              </a:rPr>
              <a:t>пауза после предыдущей операции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529584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8A7A"/>
                </a:solidFill>
                <a:latin typeface="Cambria"/>
              </a:rPr>
              <a:t>+2,4 тыс.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575304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Calibri"/>
              </a:rPr>
              <a:t>сумма растёт внутри серии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4389120"/>
            <a:ext cx="4434840" cy="1783080"/>
          </a:xfrm>
          <a:prstGeom prst="roundRect">
            <a:avLst>
              <a:gd name="adj" fmla="val 6000"/>
            </a:avLst>
          </a:prstGeom>
          <a:solidFill>
            <a:srgbClr val="DD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4553712"/>
            <a:ext cx="39319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F8A7A"/>
                </a:solidFill>
                <a:latin typeface="Calibri"/>
              </a:rPr>
              <a:t>Итог: 251 417 у.е. — 98,4% потолка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B1F2A"/>
                </a:solidFill>
                <a:latin typeface="Calibri"/>
              </a:rPr>
              <a:t>Лучше всех ловит продолжение серии.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B1F2A"/>
                </a:solidFill>
                <a:latin typeface="Calibri"/>
              </a:rPr>
              <a:t>Запрет «снижать риск при росте активности» ничего не стоил по деньгам — а модель предсказуемее.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4008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8BFCA"/>
                </a:solidFill>
                <a:latin typeface="Calibri"/>
              </a:rPr>
              <a:t>говорит: 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41148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B1F2A"/>
                </a:solidFill>
                <a:latin typeface="Cambria"/>
              </a:rPr>
              <a:t>Решение C: «Что выгоднее проверить сегодня»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02412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Деньги · LightGBM, который «учится деньгам»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6309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8A7A"/>
                </a:solidFill>
                <a:latin typeface="Calibri"/>
              </a:rPr>
              <a:t>Сценарий. </a:t>
            </a:r>
            <a:r>
              <a:rPr sz="1600" b="0" i="0">
                <a:solidFill>
                  <a:srgbClr val="1B1F2A"/>
                </a:solidFill>
                <a:latin typeface="Calibri"/>
              </a:rPr>
              <a:t>Решение принимается не по вероятности, а по деньгам — при жёстком лимите аналитиков.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1F2A"/>
                </a:solidFill>
                <a:latin typeface="Cambria"/>
              </a:rPr>
              <a:t>Идея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63093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B1F2A"/>
                </a:solidFill>
                <a:latin typeface="Calibri"/>
              </a:rPr>
              <a:t>Выбор по ожидаемым потерям (прошлый слайд) — это решение C, самый большой эффект проекта.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B1F2A"/>
                </a:solidFill>
                <a:latin typeface="Calibri"/>
              </a:rPr>
              <a:t>Модель «учится деньгам»: пропущенный дорогой фрод при обучении весит больше дешёвого.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B1F2A"/>
                </a:solidFill>
                <a:latin typeface="Calibri"/>
              </a:rPr>
              <a:t>Риск категорий считаем только по меткам, которые банк знает: о мошенничестве узнают с опозданием, мы брали задержку 30 дней.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8348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472"/>
                </a:solidFill>
                <a:latin typeface="Calibri"/>
              </a:rPr>
              <a:t>Экономия на двух месяцах проверки, у.е.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5212080"/>
          <a:ext cx="6400800" cy="1097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223760" y="1691640"/>
            <a:ext cx="4434840" cy="251460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874519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6472"/>
                </a:solidFill>
                <a:latin typeface="Calibri"/>
              </a:rPr>
              <a:t>Что сработало (вклад в у.е.)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28600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8A7A"/>
                </a:solidFill>
                <a:latin typeface="Cambria"/>
              </a:rPr>
              <a:t>+69,4 тыс.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3317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Calibri"/>
              </a:rPr>
              <a:t>выбор по деньгам вместо вероятности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907792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8A7A"/>
                </a:solidFill>
                <a:latin typeface="Cambria"/>
              </a:rPr>
              <a:t>+3,2 тыс.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953512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Calibri"/>
              </a:rPr>
              <a:t>обучение с весами по деньгам (на грани шума)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529584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8A7A"/>
                </a:solidFill>
                <a:latin typeface="Cambria"/>
              </a:rPr>
              <a:t>≈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575304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Calibri"/>
              </a:rPr>
              <a:t>цена реализма: задержка меток 30 дней против 1 дня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4389120"/>
            <a:ext cx="4434840" cy="1783080"/>
          </a:xfrm>
          <a:prstGeom prst="roundRect">
            <a:avLst>
              <a:gd name="adj" fmla="val 6000"/>
            </a:avLst>
          </a:prstGeom>
          <a:solidFill>
            <a:srgbClr val="DD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4553712"/>
            <a:ext cx="39319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F8A7A"/>
                </a:solidFill>
                <a:latin typeface="Calibri"/>
              </a:rPr>
              <a:t>Итог: 239 249 у.е.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B1F2A"/>
                </a:solidFill>
                <a:latin typeface="Calibri"/>
              </a:rPr>
              <a:t>Признаки «риск среды» деревьям не нужны — модель и так видит категорию и час; линейной модели они дали +9,2 тыс.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B1F2A"/>
                </a:solidFill>
                <a:latin typeface="Calibri"/>
              </a:rPr>
              <a:t>Обучение без меток (Isolation Forest): 167 тыс. — «необычное» не значит «мошенническое».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4008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8BFCA"/>
                </a:solidFill>
                <a:latin typeface="Calibri"/>
              </a:rPr>
              <a:t>говорит: 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1F2A"/>
                </a:solidFill>
                <a:latin typeface="Cambria"/>
              </a:rPr>
              <a:t>Турнир: работу делают признаки, а не 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Поменяли модели местами. Экономия на двух месяцах проверки, тыс. у.е.; все варианты выбирают операции по деньгам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05840"/>
                <a:gridCol w="1143000"/>
                <a:gridCol w="1325880"/>
                <a:gridCol w="1463040"/>
              </a:tblGrid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Признаки \ модель</a:t>
                      </a:r>
                    </a:p>
                  </a:txBody>
                  <a:tcPr marL="73152" marR="73152" anchor="ctr">
                    <a:solidFill>
                      <a:srgbClr val="1B1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LogReg</a:t>
                      </a:r>
                    </a:p>
                  </a:txBody>
                  <a:tcPr marL="73152" marR="73152" anchor="ctr">
                    <a:solidFill>
                      <a:srgbClr val="1B1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 marL="73152" marR="73152" anchor="ctr">
                    <a:solidFill>
                      <a:srgbClr val="1B1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LightGBM с запретом</a:t>
                      </a:r>
                    </a:p>
                  </a:txBody>
                  <a:tcPr marL="73152" marR="73152" anchor="ctr">
                    <a:solidFill>
                      <a:srgbClr val="1B1F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LightGBM «учит деньгам»</a:t>
                      </a:r>
                    </a:p>
                  </a:txBody>
                  <a:tcPr marL="73152" marR="73152" anchor="ctr">
                    <a:solidFill>
                      <a:srgbClr val="1B1F2A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1F2A"/>
                          </a:solidFill>
                          <a:latin typeface="Calibri"/>
                        </a:rPr>
                        <a:t>Сырые поля</a:t>
                      </a:r>
                    </a:p>
                  </a:txBody>
                  <a:tcPr marL="73152" marR="73152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1F2A"/>
                          </a:solidFill>
                          <a:latin typeface="Calibri"/>
                        </a:rPr>
                        <a:t>173,6</a:t>
                      </a:r>
                    </a:p>
                  </a:txBody>
                  <a:tcPr marL="73152" marR="73152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1F2A"/>
                          </a:solidFill>
                          <a:latin typeface="Calibri"/>
                        </a:rPr>
                        <a:t>235,4</a:t>
                      </a:r>
                    </a:p>
                  </a:txBody>
                  <a:tcPr marL="73152" marR="73152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1F2A"/>
                          </a:solidFill>
                          <a:latin typeface="Calibri"/>
                        </a:rPr>
                        <a:t>235,4</a:t>
                      </a:r>
                    </a:p>
                  </a:txBody>
                  <a:tcPr marL="73152" marR="73152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1F2A"/>
                          </a:solidFill>
                          <a:latin typeface="Calibri"/>
                        </a:rPr>
                        <a:t>238,6</a:t>
                      </a:r>
                    </a:p>
                  </a:txBody>
                  <a:tcPr marL="73152" marR="73152" anchor="ctr">
                    <a:solidFill>
                      <a:srgbClr val="F1F3F6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1F2A"/>
                          </a:solidFill>
                          <a:latin typeface="Calibri"/>
                        </a:rPr>
                        <a:t>+ A профиль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1F2A"/>
                          </a:solidFill>
                          <a:latin typeface="Calibri"/>
                        </a:rPr>
                        <a:t>224,1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1F2A"/>
                          </a:solidFill>
                          <a:latin typeface="Calibri"/>
                        </a:rPr>
                        <a:t>245,3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1F2A"/>
                          </a:solidFill>
                          <a:latin typeface="Calibri"/>
                        </a:rPr>
                        <a:t>245,3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1F2A"/>
                          </a:solidFill>
                          <a:latin typeface="Calibri"/>
                        </a:rPr>
                        <a:t>247,5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1F2A"/>
                          </a:solidFill>
                          <a:latin typeface="Calibri"/>
                        </a:rPr>
                        <a:t>+ B ритм</a:t>
                      </a:r>
                    </a:p>
                  </a:txBody>
                  <a:tcPr marL="73152" marR="73152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1F2A"/>
                          </a:solidFill>
                          <a:latin typeface="Calibri"/>
                        </a:rPr>
                        <a:t>202,7</a:t>
                      </a:r>
                    </a:p>
                  </a:txBody>
                  <a:tcPr marL="73152" marR="73152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1F2A"/>
                          </a:solidFill>
                          <a:latin typeface="Calibri"/>
                        </a:rPr>
                        <a:t>249,6</a:t>
                      </a:r>
                    </a:p>
                  </a:txBody>
                  <a:tcPr marL="73152" marR="73152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1F2A"/>
                          </a:solidFill>
                          <a:latin typeface="Calibri"/>
                        </a:rPr>
                        <a:t>251,4</a:t>
                      </a:r>
                    </a:p>
                  </a:txBody>
                  <a:tcPr marL="73152" marR="73152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1F2A"/>
                          </a:solidFill>
                          <a:latin typeface="Calibri"/>
                        </a:rPr>
                        <a:t>252,0</a:t>
                      </a:r>
                    </a:p>
                  </a:txBody>
                  <a:tcPr marL="73152" marR="73152" anchor="ctr">
                    <a:solidFill>
                      <a:srgbClr val="F1F3F6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1F2A"/>
                          </a:solidFill>
                          <a:latin typeface="Calibri"/>
                        </a:rPr>
                        <a:t>+ C среда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1F2A"/>
                          </a:solidFill>
                          <a:latin typeface="Calibri"/>
                        </a:rPr>
                        <a:t>182,8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1F2A"/>
                          </a:solidFill>
                          <a:latin typeface="Calibri"/>
                        </a:rPr>
                        <a:t>234,4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1F2A"/>
                          </a:solidFill>
                          <a:latin typeface="Calibri"/>
                        </a:rPr>
                        <a:t>234,4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1F2A"/>
                          </a:solidFill>
                          <a:latin typeface="Calibri"/>
                        </a:rPr>
                        <a:t>239,2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1F2A"/>
                          </a:solidFill>
                          <a:latin typeface="Calibri"/>
                        </a:rPr>
                        <a:t>+ A + B</a:t>
                      </a:r>
                    </a:p>
                  </a:txBody>
                  <a:tcPr marL="73152" marR="73152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1F2A"/>
                          </a:solidFill>
                          <a:latin typeface="Calibri"/>
                        </a:rPr>
                        <a:t>227,1</a:t>
                      </a:r>
                    </a:p>
                  </a:txBody>
                  <a:tcPr marL="73152" marR="73152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1F2A"/>
                          </a:solidFill>
                          <a:latin typeface="Calibri"/>
                        </a:rPr>
                        <a:t>249,0</a:t>
                      </a:r>
                    </a:p>
                  </a:txBody>
                  <a:tcPr marL="73152" marR="73152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1F2A"/>
                          </a:solidFill>
                          <a:latin typeface="Calibri"/>
                        </a:rPr>
                        <a:t>250,2</a:t>
                      </a:r>
                    </a:p>
                  </a:txBody>
                  <a:tcPr marL="73152" marR="73152" anchor="ctr">
                    <a:solidFill>
                      <a:srgbClr val="F1F3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1F2A"/>
                          </a:solidFill>
                          <a:latin typeface="Calibri"/>
                        </a:rPr>
                        <a:t>252,3</a:t>
                      </a:r>
                    </a:p>
                  </a:txBody>
                  <a:tcPr marL="73152" marR="73152" anchor="ctr">
                    <a:solidFill>
                      <a:srgbClr val="F1F3F6"/>
                    </a:solidFill>
                  </a:tcPr>
                </a:tc>
              </a:tr>
              <a:tr h="50945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1F2A"/>
                          </a:solidFill>
                          <a:latin typeface="Calibri"/>
                        </a:rPr>
                        <a:t>+ A + B + сумма из 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1F2A"/>
                          </a:solidFill>
                          <a:latin typeface="Calibri"/>
                        </a:rPr>
                        <a:t>226,1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1F2A"/>
                          </a:solidFill>
                          <a:latin typeface="Calibri"/>
                        </a:rPr>
                        <a:t>250,7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B1F2A"/>
                          </a:solidFill>
                          <a:latin typeface="Calibri"/>
                        </a:rPr>
                        <a:t>250,5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252,5</a:t>
                      </a:r>
                    </a:p>
                  </a:txBody>
                  <a:tcPr marL="73152" marR="73152" anchor="ctr">
                    <a:solidFill>
                      <a:srgbClr val="1F8A7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8640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Потолок (идеальная модель) — 255,5. Выделен финал: 252,5 = 98,8% потолка. Разница между вариантами LightGBM на одних признаках — до 3,3 тыс., это шум.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783080"/>
            <a:ext cx="3840480" cy="448056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1965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1F2A"/>
                </a:solidFill>
                <a:latin typeface="Cambria"/>
              </a:rPr>
              <a:t>Что видно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468880"/>
            <a:ext cx="338328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1B1F2A"/>
                </a:solidFill>
                <a:latin typeface="Calibri"/>
              </a:rPr>
              <a:t>Признаки A+B: </a:t>
            </a:r>
            <a:r>
              <a:rPr sz="1400" b="0" i="0">
                <a:solidFill>
                  <a:srgbClr val="1B1F2A"/>
                </a:solidFill>
                <a:latin typeface="Calibri"/>
              </a:rPr>
              <a:t>+13,6…14,8 тыс. на любом варианте LightGBM.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1B1F2A"/>
                </a:solidFill>
                <a:latin typeface="Calibri"/>
              </a:rPr>
              <a:t>Модели-«деревья» между собой: </a:t>
            </a:r>
            <a:r>
              <a:rPr sz="1400" b="0" i="0">
                <a:solidFill>
                  <a:srgbClr val="1B1F2A"/>
                </a:solidFill>
                <a:latin typeface="Calibri"/>
              </a:rPr>
              <a:t>разница в пределах шума.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1B1F2A"/>
                </a:solidFill>
                <a:latin typeface="Calibri"/>
              </a:rPr>
              <a:t>Простая модель: </a:t>
            </a:r>
            <a:r>
              <a:rPr sz="1400" b="0" i="0">
                <a:solidFill>
                  <a:srgbClr val="1B1F2A"/>
                </a:solidFill>
                <a:latin typeface="Calibri"/>
              </a:rPr>
              <a:t>отстаёт на 17–62 тыс. — не видит, что фрод дорогой в одних категориях и дешёвый в других.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1F8A7A"/>
                </a:solidFill>
                <a:latin typeface="Calibri"/>
              </a:rPr>
              <a:t>Почему финал — A+B вместе: </a:t>
            </a:r>
            <a:r>
              <a:rPr sz="1400" b="0" i="0">
                <a:solidFill>
                  <a:srgbClr val="1B1F2A"/>
                </a:solidFill>
                <a:latin typeface="Calibri"/>
              </a:rPr>
              <a:t>A лучше ловит первую кражу, B — продолжение серии. Вместе — оба сценария и меньше всего честных остановок: 27 против 76 у базы и 35 у 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008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8BFCA"/>
                </a:solidFill>
                <a:latin typeface="Calibri"/>
              </a:rPr>
              <a:t>говорит: 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1F2A"/>
                </a:solidFill>
                <a:latin typeface="Cambria"/>
              </a:rPr>
              <a:t>Экономика: 323 тысячи за два месяца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Отложенные два месяца (22.04–21.06.2020): их не использовали ни для одного решения. Потери без системы — 513 229 у.е.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737360"/>
          <a:ext cx="658368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166360"/>
            <a:ext cx="6400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1F2A"/>
                </a:solidFill>
                <a:latin typeface="Calibri"/>
              </a:rPr>
              <a:t>Зря остановлено честных клиентов: </a:t>
            </a:r>
            <a:r>
              <a:rPr sz="1400" b="0" i="0">
                <a:solidFill>
                  <a:srgbClr val="1B1F2A"/>
                </a:solidFill>
                <a:latin typeface="Calibri"/>
              </a:rPr>
              <a:t>правило 347 · база 48 и 72 · </a:t>
            </a:r>
            <a:r>
              <a:rPr sz="1400" b="1" i="0">
                <a:solidFill>
                  <a:srgbClr val="1F8A7A"/>
                </a:solidFill>
                <a:latin typeface="Calibri"/>
              </a:rPr>
              <a:t>наша система 30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Поймано 376 мошеннических операций; из отправленных аналитикам 93% — действительно мошенничество.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737360"/>
            <a:ext cx="4343400" cy="4617720"/>
          </a:xfrm>
          <a:prstGeom prst="roundRect">
            <a:avLst>
              <a:gd name="adj" fmla="val 6000"/>
            </a:avLst>
          </a:prstGeom>
          <a:solidFill>
            <a:srgbClr val="FB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92024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1F2A"/>
                </a:solidFill>
                <a:latin typeface="Cambria"/>
              </a:rPr>
              <a:t>Если мошенничества станет втрое больше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6974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472"/>
                </a:solidFill>
                <a:latin typeface="Calibri"/>
              </a:rPr>
              <a:t>Пропущено мошенничества за 2 месяца: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310896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Calibri"/>
              </a:rPr>
              <a:t>лимит 0,3%</a:t>
            </a:r>
          </a:p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≈7 проверок в день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310896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 i="0">
                <a:solidFill>
                  <a:srgbClr val="D64533"/>
                </a:solidFill>
                <a:latin typeface="Cambria"/>
              </a:rPr>
              <a:t>558 875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8862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Calibri"/>
              </a:rPr>
              <a:t>лимит 0,5%</a:t>
            </a:r>
          </a:p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≈10 в день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38862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 i="0">
                <a:solidFill>
                  <a:srgbClr val="D64533"/>
                </a:solidFill>
                <a:latin typeface="Cambria"/>
              </a:rPr>
              <a:t>232 918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466344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Calibri"/>
              </a:rPr>
              <a:t>лимит 1%</a:t>
            </a:r>
          </a:p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≈15 в день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466344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 i="0">
                <a:solidFill>
                  <a:srgbClr val="D64533"/>
                </a:solidFill>
                <a:latin typeface="Cambria"/>
              </a:rPr>
              <a:t>25 712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548640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Calibri"/>
              </a:rPr>
              <a:t>Больше 15–16 проверок в день почти ничего не добавляют — это ответ на вопрос, сколько аналитиков нужно.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4008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8BFCA"/>
                </a:solidFill>
                <a:latin typeface="Calibri"/>
              </a:rPr>
              <a:t>говорит: 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1F2A"/>
                </a:solidFill>
                <a:latin typeface="Cambria"/>
              </a:rPr>
              <a:t>Что видит аналитик: три причины словами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472"/>
                </a:solidFill>
                <a:latin typeface="Calibri"/>
              </a:rPr>
              <a:t>Реальные операции с отложенных двух месяцев, выход score.py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20440" cy="36118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3063240" cy="384048"/>
          </a:xfrm>
          <a:prstGeom prst="roundRect">
            <a:avLst>
              <a:gd name="adj" fmla="val 30000"/>
            </a:avLst>
          </a:prstGeom>
          <a:solidFill>
            <a:srgbClr val="DD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8A7A"/>
                </a:solidFill>
                <a:latin typeface="Calibri"/>
              </a:rPr>
              <a:t>Мошенничество · поймано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472"/>
                </a:solidFill>
                <a:latin typeface="Calibri"/>
              </a:rPr>
              <a:t>08.06.2020, 23:49 · покупки в магазине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1F2A"/>
                </a:solidFill>
                <a:latin typeface="Calibri"/>
              </a:rPr>
              <a:t>1 215,89 у.е. · вероятность 100%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566160"/>
            <a:ext cx="329184" cy="329184"/>
          </a:xfrm>
          <a:prstGeom prst="ellipse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47872"/>
            <a:ext cx="2697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B1F2A"/>
                </a:solidFill>
                <a:latin typeface="Calibri"/>
              </a:rPr>
              <a:t>За последние сутки по карте уже списано около 4 870 у.е.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142232"/>
            <a:ext cx="329184" cy="329184"/>
          </a:xfrm>
          <a:prstGeom prst="ellipse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23944"/>
            <a:ext cx="2697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B1F2A"/>
                </a:solidFill>
                <a:latin typeface="Calibri"/>
              </a:rPr>
              <a:t>Сумма дороже 99% покупок в категории «покупки в магазине»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718304"/>
            <a:ext cx="329184" cy="329184"/>
          </a:xfrm>
          <a:prstGeom prst="ellipse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700016"/>
            <a:ext cx="2697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B1F2A"/>
                </a:solidFill>
                <a:latin typeface="Calibri"/>
              </a:rPr>
              <a:t>Серия из 5 операций ночью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783080"/>
            <a:ext cx="3520440" cy="36118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26279" y="1965960"/>
            <a:ext cx="3063240" cy="384048"/>
          </a:xfrm>
          <a:prstGeom prst="roundRect">
            <a:avLst>
              <a:gd name="adj" fmla="val 30000"/>
            </a:avLst>
          </a:prstGeom>
          <a:solidFill>
            <a:srgbClr val="DD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79" y="1965960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8A7A"/>
                </a:solidFill>
                <a:latin typeface="Calibri"/>
              </a:rPr>
              <a:t>Мошенничество · новая карта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25146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472"/>
                </a:solidFill>
                <a:latin typeface="Calibri"/>
              </a:rPr>
              <a:t>07.06.2020, 22:10 · покупки в магазине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83464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1F2A"/>
                </a:solidFill>
                <a:latin typeface="Calibri"/>
              </a:rPr>
              <a:t>1 324,80 у.е. · вероятность 75%</a:t>
            </a:r>
          </a:p>
        </p:txBody>
      </p:sp>
      <p:sp>
        <p:nvSpPr>
          <p:cNvPr id="20" name="Oval 19"/>
          <p:cNvSpPr/>
          <p:nvPr/>
        </p:nvSpPr>
        <p:spPr>
          <a:xfrm>
            <a:off x="4526279" y="3566160"/>
            <a:ext cx="329184" cy="329184"/>
          </a:xfrm>
          <a:prstGeom prst="ellipse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79" y="3547872"/>
            <a:ext cx="2697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B1F2A"/>
                </a:solidFill>
                <a:latin typeface="Calibri"/>
              </a:rPr>
              <a:t>Сумма дороже 99% покупок в категории «покупки в магазине»</a:t>
            </a:r>
          </a:p>
        </p:txBody>
      </p:sp>
      <p:sp>
        <p:nvSpPr>
          <p:cNvPr id="22" name="Oval 21"/>
          <p:cNvSpPr/>
          <p:nvPr/>
        </p:nvSpPr>
        <p:spPr>
          <a:xfrm>
            <a:off x="4526279" y="4142232"/>
            <a:ext cx="329184" cy="329184"/>
          </a:xfrm>
          <a:prstGeom prst="ellipse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79" y="4123944"/>
            <a:ext cx="2697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B1F2A"/>
                </a:solidFill>
                <a:latin typeface="Calibri"/>
              </a:rPr>
              <a:t>Новая карта: это её первая операция</a:t>
            </a:r>
          </a:p>
        </p:txBody>
      </p:sp>
      <p:sp>
        <p:nvSpPr>
          <p:cNvPr id="24" name="Oval 23"/>
          <p:cNvSpPr/>
          <p:nvPr/>
        </p:nvSpPr>
        <p:spPr>
          <a:xfrm>
            <a:off x="4526279" y="4718304"/>
            <a:ext cx="329184" cy="329184"/>
          </a:xfrm>
          <a:prstGeom prst="ellipse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79" y="4700016"/>
            <a:ext cx="2697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B1F2A"/>
                </a:solidFill>
                <a:latin typeface="Calibri"/>
              </a:rPr>
              <a:t>Категория «покупки в магазине» — частая цель мошенников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1783080"/>
            <a:ext cx="3520440" cy="36118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75319" y="1965960"/>
            <a:ext cx="3063240" cy="384048"/>
          </a:xfrm>
          <a:prstGeom prst="roundRect">
            <a:avLst>
              <a:gd name="adj" fmla="val 30000"/>
            </a:avLst>
          </a:prstGeom>
          <a:solidFill>
            <a:srgbClr val="FB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1965960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D64533"/>
                </a:solidFill>
                <a:latin typeface="Calibri"/>
              </a:rPr>
              <a:t>Честная покупка · ложная тревога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25146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472"/>
                </a:solidFill>
                <a:latin typeface="Calibri"/>
              </a:rPr>
              <a:t>27.04.2020, 23:13 · покупки онлайн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283464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1F2A"/>
                </a:solidFill>
                <a:latin typeface="Calibri"/>
              </a:rPr>
              <a:t>3 918,79 у.е. · вероятность 1,9%</a:t>
            </a:r>
          </a:p>
        </p:txBody>
      </p:sp>
      <p:sp>
        <p:nvSpPr>
          <p:cNvPr id="31" name="Oval 30"/>
          <p:cNvSpPr/>
          <p:nvPr/>
        </p:nvSpPr>
        <p:spPr>
          <a:xfrm>
            <a:off x="8275319" y="3566160"/>
            <a:ext cx="329184" cy="329184"/>
          </a:xfrm>
          <a:prstGeom prst="ellipse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19" y="3547872"/>
            <a:ext cx="2697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B1F2A"/>
                </a:solidFill>
                <a:latin typeface="Calibri"/>
              </a:rPr>
              <a:t>Сумма дороже 99% покупок в категории «покупки онлайн»</a:t>
            </a:r>
          </a:p>
        </p:txBody>
      </p:sp>
      <p:sp>
        <p:nvSpPr>
          <p:cNvPr id="33" name="Oval 32"/>
          <p:cNvSpPr/>
          <p:nvPr/>
        </p:nvSpPr>
        <p:spPr>
          <a:xfrm>
            <a:off x="8275319" y="4142232"/>
            <a:ext cx="329184" cy="329184"/>
          </a:xfrm>
          <a:prstGeom prst="ellipse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19" y="4123944"/>
            <a:ext cx="2697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B1F2A"/>
                </a:solidFill>
                <a:latin typeface="Calibri"/>
              </a:rPr>
              <a:t>Категория «покупки онлайн» — частая цель мошенников</a:t>
            </a:r>
          </a:p>
        </p:txBody>
      </p:sp>
      <p:sp>
        <p:nvSpPr>
          <p:cNvPr id="35" name="Oval 34"/>
          <p:cNvSpPr/>
          <p:nvPr/>
        </p:nvSpPr>
        <p:spPr>
          <a:xfrm>
            <a:off x="8275319" y="4718304"/>
            <a:ext cx="329184" cy="329184"/>
          </a:xfrm>
          <a:prstGeom prst="ellipse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19" y="4700016"/>
            <a:ext cx="2697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B1F2A"/>
                </a:solidFill>
                <a:latin typeface="Calibri"/>
              </a:rPr>
              <a:t>Сумма в 453 раза больше обычной для клиента (обычно ≈ 9 у.е.)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Calibri"/>
              </a:rPr>
              <a:t>Все 406 отправленных операций получили по три причины. </a:t>
            </a:r>
            <a:r>
              <a:rPr sz="1400" b="0" i="0">
                <a:solidFill>
                  <a:srgbClr val="1B1F2A"/>
                </a:solidFill>
                <a:latin typeface="Calibri"/>
              </a:rPr>
              <a:t>Третью карточку система отправила сознательно: вероятность мала, но проверка стоит 3 у.е., а пропуск такой суммы — почти 3 924.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64008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8BFCA"/>
                </a:solidFill>
                <a:latin typeface="Calibri"/>
              </a:rPr>
              <a:t>говорит: 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Что не сработало — и почему это тоже результат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5440680" cy="987552"/>
          </a:xfrm>
          <a:prstGeom prst="roundRect">
            <a:avLst>
              <a:gd name="adj" fmla="val 6000"/>
            </a:avLst>
          </a:prstGeom>
          <a:solidFill>
            <a:srgbClr val="26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3619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8B7D"/>
                </a:solidFill>
                <a:latin typeface="Calibri"/>
              </a:rPr>
              <a:t>Расстояние до продавца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EB6C4"/>
                </a:solidFill>
                <a:latin typeface="Calibri"/>
              </a:rPr>
              <a:t>Самый популярный признак на Kaggle. У мошенничества и честных покупок медиана одинаковая: 78,2 км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440680" cy="987552"/>
          </a:xfrm>
          <a:prstGeom prst="roundRect">
            <a:avLst>
              <a:gd name="adj" fmla="val 6000"/>
            </a:avLst>
          </a:prstGeom>
          <a:solidFill>
            <a:srgbClr val="26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3619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8B7D"/>
                </a:solidFill>
                <a:latin typeface="Calibri"/>
              </a:rPr>
              <a:t>«Проверка карты мелкой суммой»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74519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EB6C4"/>
                </a:solidFill>
                <a:latin typeface="Calibri"/>
              </a:rPr>
              <a:t>Первая мошенническая операция серии в медиане стоит 311 у.е. — мелкой проверки нет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5440680" cy="987552"/>
          </a:xfrm>
          <a:prstGeom prst="roundRect">
            <a:avLst>
              <a:gd name="adj" fmla="val 6000"/>
            </a:avLst>
          </a:prstGeom>
          <a:solidFill>
            <a:srgbClr val="26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79191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8B7D"/>
                </a:solidFill>
                <a:latin typeface="Calibri"/>
              </a:rPr>
              <a:t>Первая покупка у продавца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1752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EB6C4"/>
                </a:solidFill>
                <a:latin typeface="Calibri"/>
              </a:rPr>
              <a:t>У честных клиентов это 37% всех операций — сигнала нет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60320"/>
            <a:ext cx="5440680" cy="987552"/>
          </a:xfrm>
          <a:prstGeom prst="roundRect">
            <a:avLst>
              <a:gd name="adj" fmla="val 6000"/>
            </a:avLst>
          </a:prstGeom>
          <a:solidFill>
            <a:srgbClr val="26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679191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8B7D"/>
                </a:solidFill>
                <a:latin typeface="Calibri"/>
              </a:rPr>
              <a:t>Окно «операций за 24 часа»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01752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EB6C4"/>
                </a:solidFill>
                <a:latin typeface="Calibri"/>
              </a:rPr>
              <a:t>Поверх плавной памяти ничего не добавило (−1,7 тыс., шум)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5440680" cy="987552"/>
          </a:xfrm>
          <a:prstGeom prst="roundRect">
            <a:avLst>
              <a:gd name="adj" fmla="val 6000"/>
            </a:avLst>
          </a:prstGeom>
          <a:solidFill>
            <a:srgbClr val="26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22191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8B7D"/>
                </a:solidFill>
                <a:latin typeface="Calibri"/>
              </a:rPr>
              <a:t>Риск категории и продавца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EB6C4"/>
                </a:solidFill>
                <a:latin typeface="Calibri"/>
              </a:rPr>
              <a:t>Деревьям не нужен: модель и так видит категорию и час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03320"/>
            <a:ext cx="5440680" cy="987552"/>
          </a:xfrm>
          <a:prstGeom prst="roundRect">
            <a:avLst>
              <a:gd name="adj" fmla="val 6000"/>
            </a:avLst>
          </a:prstGeom>
          <a:solidFill>
            <a:srgbClr val="26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822191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8B7D"/>
                </a:solidFill>
                <a:latin typeface="Calibri"/>
              </a:rPr>
              <a:t>Обучение без меток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16052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EB6C4"/>
                </a:solidFill>
                <a:latin typeface="Calibri"/>
              </a:rPr>
              <a:t>167 тыс. против 235: необычное ≠ мошенническое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Как понимали, что дело в идее, а не в проверке: одна линейка для всех, интервалы по дням, тест на подглядывание в будущее ловит заведомые утечки.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5FD0BC"/>
                </a:solidFill>
                <a:latin typeface="Calibri"/>
              </a:rPr>
              <a:t>Итог: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выбирать по деньгам + привычки клиента (A) + ритм операций (B) = 98,7% от возможного, 30 зря остановленных клиентов, 550 тысяч операций за 32 секунды.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4008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8BFCA"/>
                </a:solidFill>
                <a:latin typeface="Calibri"/>
              </a:rPr>
              <a:t>говорит: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